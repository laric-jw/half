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4" r:id="rId5"/>
    <p:sldId id="265" r:id="rId6"/>
    <p:sldId id="260" r:id="rId7"/>
    <p:sldId id="261" r:id="rId8"/>
    <p:sldId id="266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70"/>
    <p:restoredTop sz="96286"/>
  </p:normalViewPr>
  <p:slideViewPr>
    <p:cSldViewPr snapToGrid="0">
      <p:cViewPr varScale="1">
        <p:scale>
          <a:sx n="124" d="100"/>
          <a:sy n="124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B0AD3-C1F7-094C-99FD-A4B5EC97D0AA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1F848-74AB-5042-B54A-0CF68BC94C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85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had collected a dataset of gaged lakes/reservoirs that is essentially a subset of the gaged lakes present on </a:t>
            </a:r>
            <a:r>
              <a:rPr lang="en-US" dirty="0" err="1"/>
              <a:t>github</a:t>
            </a:r>
            <a:r>
              <a:rPr lang="en-US" dirty="0"/>
              <a:t>.</a:t>
            </a:r>
          </a:p>
          <a:p>
            <a:r>
              <a:rPr lang="en-US" dirty="0"/>
              <a:t>This approach prioritizes relative WSE change over datum (also can be analyzed using dataset)</a:t>
            </a:r>
          </a:p>
          <a:p>
            <a:r>
              <a:rPr lang="en-US" dirty="0"/>
              <a:t>11.12 days per observation for all data including outliers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62F2D-A79F-D442-97AC-A945B9DECB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01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1F848-74AB-5042-B54A-0CF68BC94C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66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B can be identified by </a:t>
            </a:r>
            <a:r>
              <a:rPr lang="en-US" dirty="0" err="1"/>
              <a:t>xovr_cal_q</a:t>
            </a:r>
            <a:r>
              <a:rPr lang="en-US" dirty="0"/>
              <a:t> == 2, but roughly 50% with that flag consists of valid observations</a:t>
            </a:r>
          </a:p>
          <a:p>
            <a:r>
              <a:rPr lang="en-US" dirty="0"/>
              <a:t>Example A is not fixed by phase unwrapping (</a:t>
            </a:r>
            <a:r>
              <a:rPr lang="en-US" dirty="0" err="1"/>
              <a:t>adusting</a:t>
            </a:r>
            <a:r>
              <a:rPr lang="en-US" dirty="0"/>
              <a:t> WSE by multiplying 2pi times phase sensitivity)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62F2D-A79F-D442-97AC-A945B9DECB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08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FC1DD-6C2D-9F35-0FA7-3EA82F341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4EA22-899F-91D8-CCA7-AD478A176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F73F8-4917-CCF1-2844-160008E68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5CD0B-695B-C848-B029-E77F905A7968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D7368-5547-80E1-2D30-927AE39B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59F50-3B59-4D30-4FCE-5A07C9547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E9853-09D9-714E-AE59-D9243C65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73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A2C4-8951-5272-11EE-67E46F9F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F255D-A7E2-3C35-8472-10A963653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7F8EB-782D-7F85-8088-0A326BF5E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5CD0B-695B-C848-B029-E77F905A7968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12D33-7475-46B0-BA44-2D0E2B5D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1F125-3DF7-CCCF-3E96-06D97153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E9853-09D9-714E-AE59-D9243C65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86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E3BF7-A10D-794B-A3DD-634B50AF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8993F-390E-EA97-B700-2AECA10DE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1E69F-5D7B-3CBC-51F1-BED51122A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5CD0B-695B-C848-B029-E77F905A7968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0EACE-1152-ADE3-6E2A-26A4878D0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72926-DB01-9B12-4A19-162D72BF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E9853-09D9-714E-AE59-D9243C65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2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8086-D813-7BCF-540F-8347062CC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56649-C682-299B-8CFC-DDAD0579B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86577-B6BC-BFE0-0C66-AF8862AFE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B9563-B4FC-C4D9-A541-3B2639F39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5CD0B-695B-C848-B029-E77F905A7968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47B46-008A-CABA-209F-6AC7E2A27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20431-C60C-CD0A-8EAB-0A762025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E9853-09D9-714E-AE59-D9243C65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93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FF23-E854-6CD8-13E3-1B7F6CEB3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7D3EB-AF2C-BFDE-541E-2EA3096BF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6586B-9754-36F3-09A9-C3816610F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06207-620B-2886-590C-FD26170B53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B497FD-9FB5-B030-82AF-3E6795680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A20CD7-8F6B-93F5-3009-B4AB197BA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5CD0B-695B-C848-B029-E77F905A7968}" type="datetimeFigureOut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9EFE70-9FB6-4565-9D5D-F09D59552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FF401C-DDE7-1220-E2D0-B88C23B1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E9853-09D9-714E-AE59-D9243C65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0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05A8-0FB3-33C2-FB5C-DC45C81BA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F204C-E792-7CF2-5A68-EAA8E5910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5CD0B-695B-C848-B029-E77F905A7968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F5690E-9754-CFFD-BF97-12A731807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F87CC-C2CA-CF86-06ED-9A8C692D4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E9853-09D9-714E-AE59-D9243C65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45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F1963D-4649-264B-63B1-A05E76CA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5CD0B-695B-C848-B029-E77F905A7968}" type="datetimeFigureOut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EF1BCF-3137-2892-DA88-17235FF7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815DE-EADA-7678-38BE-114252F5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E9853-09D9-714E-AE59-D9243C65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0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FE4B-294D-7327-651C-B6E4D288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FDFDE-5F4B-8CFE-FDB7-8A30342EE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EC214-E618-3961-D6C0-FD3AF0809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21035-EA49-167D-A45D-9879CF357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5CD0B-695B-C848-B029-E77F905A7968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99294-2DF1-B1E3-BFBB-DC2AFA16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7447E-D925-68D1-A5F8-AFA5F85F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E9853-09D9-714E-AE59-D9243C65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54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47BAD-DBCD-65F2-07A7-CE5AEC8F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563071-AFCA-AACA-4A83-0358A0A8C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B29D3-DFB5-6DB6-55A1-B6C2EC815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A95F8-B4A8-C874-AA12-8FE992AAD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5CD0B-695B-C848-B029-E77F905A7968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AC826-F460-31E1-C2B1-A34E6768B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1080C-4EDF-5F83-E936-DCF5728E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E9853-09D9-714E-AE59-D9243C65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48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42A4-1B7D-D9BA-EFDD-E50991CD3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5B610-AF8C-43AD-3F27-87311A246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D0149-2A4B-2AE7-F88E-B3CAA1D6E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5CD0B-695B-C848-B029-E77F905A7968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41603-E0B3-5B84-27B3-42C84BAAE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7B523-6C2F-375D-6BBD-FEA885D2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E9853-09D9-714E-AE59-D9243C65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81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72489E-DD0E-1B4D-EFB1-D92301E1F5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E42B6-5BBC-5B5D-9886-9B7BD99BA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B095A-2037-E2EA-BA5D-57E748BF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5CD0B-695B-C848-B029-E77F905A7968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BACD6-D101-1B77-970D-37A4AAA1E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71129-043C-D85A-D708-5EF918C9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E9853-09D9-714E-AE59-D9243C65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42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5AFBD-34EB-2FFF-2665-3D368EC0B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3DE40-4E0D-6F9B-D2EB-75A62AE00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09E01-BB3E-9B96-2EA4-4DB33A99BB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5CD0B-695B-C848-B029-E77F905A7968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DA5BF-1553-D7AE-D84A-B5093A688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35FCD-DE6D-1700-CFB2-2D25DEE40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E9853-09D9-714E-AE59-D9243C65F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ED67-6257-696E-CC5A-C4DC4E756B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LakeSP</a:t>
            </a:r>
            <a:r>
              <a:rPr lang="en-US" dirty="0"/>
              <a:t> filtering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CF4C7-A4E4-7C8E-495E-9325748545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8/5/2025</a:t>
            </a:r>
          </a:p>
          <a:p>
            <a:r>
              <a:rPr lang="en-US" dirty="0"/>
              <a:t>Eric Levenson</a:t>
            </a:r>
          </a:p>
        </p:txBody>
      </p:sp>
    </p:spTree>
    <p:extLst>
      <p:ext uri="{BB962C8B-B14F-4D97-AF65-F5344CB8AC3E}">
        <p14:creationId xmlns:p14="http://schemas.microsoft.com/office/powerpoint/2010/main" val="985129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4163D-590F-4C53-3094-EDB327913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65" y="-353562"/>
            <a:ext cx="10515600" cy="1325563"/>
          </a:xfrm>
        </p:spPr>
        <p:txBody>
          <a:bodyPr/>
          <a:lstStyle/>
          <a:p>
            <a:r>
              <a:rPr lang="en-US" b="1" dirty="0">
                <a:latin typeface="Gill Sans SemiBold" panose="020B0502020104020203" pitchFamily="34" charset="-79"/>
                <a:cs typeface="Gill Sans SemiBold" panose="020B0502020104020203" pitchFamily="34" charset="-79"/>
              </a:rPr>
              <a:t>Benchmark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BABA8-D462-C604-E532-CC9B9F7DF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65" y="672124"/>
            <a:ext cx="11816255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Gill Sans" panose="020B0502020104020203" pitchFamily="34" charset="-79"/>
                <a:cs typeface="Gill Sans" panose="020B0502020104020203" pitchFamily="34" charset="-79"/>
              </a:rPr>
              <a:t>10,005 coincident SWOT and in situ gage WSE measurements across 200 lakes/reservoirs</a:t>
            </a:r>
          </a:p>
          <a:p>
            <a:r>
              <a:rPr lang="en-US" sz="2400" dirty="0">
                <a:latin typeface="Gill Sans" panose="020B0502020104020203" pitchFamily="34" charset="-79"/>
                <a:cs typeface="Gill Sans" panose="020B0502020104020203" pitchFamily="34" charset="-79"/>
              </a:rPr>
              <a:t>Bias corrected SWOT WSE elevations to track gage observations</a:t>
            </a:r>
          </a:p>
          <a:p>
            <a:r>
              <a:rPr lang="en-US" sz="2400" dirty="0">
                <a:latin typeface="Gill Sans" panose="020B0502020104020203" pitchFamily="34" charset="-79"/>
                <a:cs typeface="Gill Sans" panose="020B0502020104020203" pitchFamily="34" charset="-79"/>
              </a:rPr>
              <a:t>Each observation classified as ‘valid’ or ‘invalid’ based on WSE error threshold.</a:t>
            </a:r>
            <a:endParaRPr lang="en-US" sz="1800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marL="457200" lvl="1" indent="0">
              <a:buNone/>
            </a:pPr>
            <a:endParaRPr lang="en-US" sz="1800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marL="457200" lvl="1" indent="0">
              <a:buNone/>
            </a:pPr>
            <a:endParaRPr lang="en-US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marL="457200" lvl="1" indent="0">
              <a:buNone/>
            </a:pPr>
            <a:r>
              <a:rPr lang="en-US" dirty="0">
                <a:latin typeface="Gill Sans" panose="020B0502020104020203" pitchFamily="34" charset="-79"/>
                <a:cs typeface="Gill Sans" panose="020B0502020104020203" pitchFamily="34" charset="-79"/>
              </a:rPr>
              <a:t>10 cm error threshold:</a:t>
            </a:r>
          </a:p>
          <a:p>
            <a:pPr lvl="1"/>
            <a:r>
              <a:rPr lang="en-US" sz="1800" dirty="0">
                <a:latin typeface="Gill Sans" panose="020B0502020104020203" pitchFamily="34" charset="-79"/>
                <a:cs typeface="Gill Sans" panose="020B0502020104020203" pitchFamily="34" charset="-79"/>
              </a:rPr>
              <a:t>58.3% valid observations</a:t>
            </a:r>
          </a:p>
          <a:p>
            <a:pPr lvl="1"/>
            <a:r>
              <a:rPr lang="en-US" sz="1800" dirty="0">
                <a:latin typeface="Gill Sans" panose="020B0502020104020203" pitchFamily="34" charset="-79"/>
                <a:cs typeface="Gill Sans" panose="020B0502020104020203" pitchFamily="34" charset="-79"/>
              </a:rPr>
              <a:t>19.1 days/observation</a:t>
            </a:r>
          </a:p>
          <a:p>
            <a:pPr marL="457200" lvl="1" indent="0">
              <a:buNone/>
            </a:pPr>
            <a:endParaRPr lang="en-US" sz="1800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pPr marL="457200" lvl="1" indent="0">
              <a:buNone/>
            </a:pPr>
            <a:r>
              <a:rPr lang="en-US" dirty="0">
                <a:latin typeface="Gill Sans" panose="020B0502020104020203" pitchFamily="34" charset="-79"/>
                <a:cs typeface="Gill Sans" panose="020B0502020104020203" pitchFamily="34" charset="-79"/>
              </a:rPr>
              <a:t>50 cm error threshold:</a:t>
            </a:r>
          </a:p>
          <a:p>
            <a:pPr lvl="1"/>
            <a:r>
              <a:rPr lang="en-US" sz="1800" dirty="0">
                <a:latin typeface="Gill Sans" panose="020B0502020104020203" pitchFamily="34" charset="-79"/>
                <a:cs typeface="Gill Sans" panose="020B0502020104020203" pitchFamily="34" charset="-79"/>
              </a:rPr>
              <a:t>82.8% valid observations</a:t>
            </a:r>
          </a:p>
          <a:p>
            <a:pPr lvl="1"/>
            <a:r>
              <a:rPr lang="en-US" sz="1800" dirty="0">
                <a:latin typeface="Gill Sans" panose="020B0502020104020203" pitchFamily="34" charset="-79"/>
                <a:cs typeface="Gill Sans" panose="020B0502020104020203" pitchFamily="34" charset="-79"/>
              </a:rPr>
              <a:t>13.6 days/observation</a:t>
            </a:r>
            <a:endParaRPr lang="en-US" dirty="0"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CC12E7-88EE-A0BC-27D4-78C3DF3C9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944" y="1945137"/>
            <a:ext cx="6172201" cy="4924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17E166-308F-95D9-A3D5-4C42901DEDA4}"/>
              </a:ext>
            </a:extLst>
          </p:cNvPr>
          <p:cNvSpPr txBox="1"/>
          <p:nvPr/>
        </p:nvSpPr>
        <p:spPr>
          <a:xfrm>
            <a:off x="7643648" y="5944048"/>
            <a:ext cx="3552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Reservoir: Clear Lake, CA</a:t>
            </a:r>
          </a:p>
        </p:txBody>
      </p:sp>
    </p:spTree>
    <p:extLst>
      <p:ext uri="{BB962C8B-B14F-4D97-AF65-F5344CB8AC3E}">
        <p14:creationId xmlns:p14="http://schemas.microsoft.com/office/powerpoint/2010/main" val="2940121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6139-FABA-2805-C5C1-85876692F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73" y="-230476"/>
            <a:ext cx="10515600" cy="1325563"/>
          </a:xfrm>
        </p:spPr>
        <p:txBody>
          <a:bodyPr/>
          <a:lstStyle/>
          <a:p>
            <a:r>
              <a:rPr lang="en-US" dirty="0">
                <a:latin typeface="Gill Sans" panose="020B0502020104020203" pitchFamily="34" charset="-79"/>
                <a:cs typeface="Gill Sans" panose="020B0502020104020203" pitchFamily="34" charset="-79"/>
              </a:rPr>
              <a:t>SWOT Quality Flag (</a:t>
            </a:r>
            <a:r>
              <a:rPr lang="en-US" dirty="0" err="1">
                <a:latin typeface="Gill Sans" panose="020B0502020104020203" pitchFamily="34" charset="-79"/>
                <a:cs typeface="Gill Sans" panose="020B0502020104020203" pitchFamily="34" charset="-79"/>
              </a:rPr>
              <a:t>quality_f</a:t>
            </a:r>
            <a:r>
              <a:rPr lang="en-US" dirty="0">
                <a:latin typeface="Gill Sans" panose="020B0502020104020203" pitchFamily="34" charset="-79"/>
                <a:cs typeface="Gill Sans" panose="020B0502020104020203" pitchFamily="34" charset="-79"/>
              </a:rPr>
              <a:t>) Performance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94E906DE-3DC3-A6D8-EF7E-0B04032F05FB}"/>
              </a:ext>
            </a:extLst>
          </p:cNvPr>
          <p:cNvGraphicFramePr>
            <a:graphicFrameLocks/>
          </p:cNvGraphicFramePr>
          <p:nvPr/>
        </p:nvGraphicFramePr>
        <p:xfrm>
          <a:off x="210612" y="1499385"/>
          <a:ext cx="11815454" cy="26974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10938">
                  <a:extLst>
                    <a:ext uri="{9D8B030D-6E8A-4147-A177-3AD203B41FA5}">
                      <a16:colId xmlns:a16="http://schemas.microsoft.com/office/drawing/2014/main" val="1315666246"/>
                    </a:ext>
                  </a:extLst>
                </a:gridCol>
                <a:gridCol w="1467686">
                  <a:extLst>
                    <a:ext uri="{9D8B030D-6E8A-4147-A177-3AD203B41FA5}">
                      <a16:colId xmlns:a16="http://schemas.microsoft.com/office/drawing/2014/main" val="4110847704"/>
                    </a:ext>
                  </a:extLst>
                </a:gridCol>
                <a:gridCol w="1707366">
                  <a:extLst>
                    <a:ext uri="{9D8B030D-6E8A-4147-A177-3AD203B41FA5}">
                      <a16:colId xmlns:a16="http://schemas.microsoft.com/office/drawing/2014/main" val="4293495439"/>
                    </a:ext>
                  </a:extLst>
                </a:gridCol>
                <a:gridCol w="1707366">
                  <a:extLst>
                    <a:ext uri="{9D8B030D-6E8A-4147-A177-3AD203B41FA5}">
                      <a16:colId xmlns:a16="http://schemas.microsoft.com/office/drawing/2014/main" val="3777743540"/>
                    </a:ext>
                  </a:extLst>
                </a:gridCol>
                <a:gridCol w="1707366">
                  <a:extLst>
                    <a:ext uri="{9D8B030D-6E8A-4147-A177-3AD203B41FA5}">
                      <a16:colId xmlns:a16="http://schemas.microsoft.com/office/drawing/2014/main" val="2394721775"/>
                    </a:ext>
                  </a:extLst>
                </a:gridCol>
                <a:gridCol w="1707366">
                  <a:extLst>
                    <a:ext uri="{9D8B030D-6E8A-4147-A177-3AD203B41FA5}">
                      <a16:colId xmlns:a16="http://schemas.microsoft.com/office/drawing/2014/main" val="4019858503"/>
                    </a:ext>
                  </a:extLst>
                </a:gridCol>
                <a:gridCol w="1707366">
                  <a:extLst>
                    <a:ext uri="{9D8B030D-6E8A-4147-A177-3AD203B41FA5}">
                      <a16:colId xmlns:a16="http://schemas.microsoft.com/office/drawing/2014/main" val="1744158160"/>
                    </a:ext>
                  </a:extLst>
                </a:gridCol>
              </a:tblGrid>
              <a:tr h="291214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quality_f</a:t>
                      </a:r>
                      <a:r>
                        <a:rPr lang="en-US" b="1" dirty="0"/>
                        <a:t>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% of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Precision (10cm)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Precision (50cm)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Recall (10 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Recall (50 cm)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74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51.5 %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220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47.3 %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74.8 %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45.8 %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33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70. 8%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1.8 %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93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Good + Suspect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82.3 %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97.3 %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898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58.3 %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60669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8E6BA21-9B2E-72C8-AA73-DC1B734A9A3F}"/>
              </a:ext>
            </a:extLst>
          </p:cNvPr>
          <p:cNvSpPr txBox="1"/>
          <p:nvPr/>
        </p:nvSpPr>
        <p:spPr>
          <a:xfrm>
            <a:off x="210612" y="5957704"/>
            <a:ext cx="11604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Gill Sans SemiBold" panose="020B0502020104020203" pitchFamily="34" charset="-79"/>
                <a:cs typeface="Gill Sans SemiBold" panose="020B0502020104020203" pitchFamily="34" charset="-79"/>
              </a:rPr>
              <a:t>Key takeaway: </a:t>
            </a:r>
            <a:r>
              <a:rPr lang="en-US" sz="2000" dirty="0" err="1">
                <a:latin typeface="Gill Sans" panose="020B0502020104020203" pitchFamily="34" charset="-79"/>
                <a:cs typeface="Gill Sans" panose="020B0502020104020203" pitchFamily="34" charset="-79"/>
              </a:rPr>
              <a:t>quality_f</a:t>
            </a:r>
            <a:r>
              <a:rPr lang="en-US" sz="2000" dirty="0">
                <a:latin typeface="Gill Sans" panose="020B0502020104020203" pitchFamily="34" charset="-79"/>
                <a:cs typeface="Gill Sans" panose="020B0502020104020203" pitchFamily="34" charset="-79"/>
              </a:rPr>
              <a:t>=0 removes 43-50 % of all valid observations, and includes10-30% invalid observations.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A90870-64D5-07D2-43BD-33095D37038B}"/>
              </a:ext>
            </a:extLst>
          </p:cNvPr>
          <p:cNvSpPr txBox="1"/>
          <p:nvPr/>
        </p:nvSpPr>
        <p:spPr>
          <a:xfrm>
            <a:off x="210612" y="4291018"/>
            <a:ext cx="10918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*Measuring ability to identify valid observations (e.g., </a:t>
            </a:r>
            <a:r>
              <a:rPr lang="en-US" sz="14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quality_f</a:t>
            </a:r>
            <a:r>
              <a:rPr lang="en-US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=0 recall of 52.3% means roughly half of valid observations have the ‘good’ flag).</a:t>
            </a:r>
          </a:p>
        </p:txBody>
      </p:sp>
    </p:spTree>
    <p:extLst>
      <p:ext uri="{BB962C8B-B14F-4D97-AF65-F5344CB8AC3E}">
        <p14:creationId xmlns:p14="http://schemas.microsoft.com/office/powerpoint/2010/main" val="389642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394C4-4859-CD68-6E3B-99C62C0FB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695" y="76522"/>
            <a:ext cx="10515600" cy="1325563"/>
          </a:xfrm>
        </p:spPr>
        <p:txBody>
          <a:bodyPr/>
          <a:lstStyle/>
          <a:p>
            <a:r>
              <a:rPr lang="en-US" b="1" dirty="0">
                <a:latin typeface="Gill Sans SemiBold" panose="020B0502020104020203" pitchFamily="34" charset="-79"/>
                <a:cs typeface="Gill Sans SemiBold" panose="020B0502020104020203" pitchFamily="34" charset="-79"/>
              </a:rPr>
              <a:t>SWOT Quality Flag Performance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A01D9B-6C41-5DF7-0557-5F10B7CDD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2763" y="1162424"/>
            <a:ext cx="8808854" cy="52497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CF776F-97BC-CC8D-AA3E-C96FDB8343DA}"/>
              </a:ext>
            </a:extLst>
          </p:cNvPr>
          <p:cNvSpPr txBox="1"/>
          <p:nvPr/>
        </p:nvSpPr>
        <p:spPr>
          <a:xfrm>
            <a:off x="2200489" y="6412146"/>
            <a:ext cx="8299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*Using 10cm error threshold</a:t>
            </a:r>
          </a:p>
        </p:txBody>
      </p:sp>
    </p:spTree>
    <p:extLst>
      <p:ext uri="{BB962C8B-B14F-4D97-AF65-F5344CB8AC3E}">
        <p14:creationId xmlns:p14="http://schemas.microsoft.com/office/powerpoint/2010/main" val="3515802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ECBFB-C662-76F0-D567-B872D5FCC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55" y="0"/>
            <a:ext cx="10515600" cy="76999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Gill Sans SemiBold" panose="020B0502020104020203" pitchFamily="34" charset="-79"/>
                <a:cs typeface="Gill Sans SemiBold" panose="020B0502020104020203" pitchFamily="34" charset="-79"/>
              </a:rPr>
              <a:t>SWOT Quality Flag and Temporal Resolution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BD1D21-D019-2B2E-2CEF-7BDC8C66A67B}"/>
              </a:ext>
            </a:extLst>
          </p:cNvPr>
          <p:cNvGraphicFramePr>
            <a:graphicFrameLocks/>
          </p:cNvGraphicFramePr>
          <p:nvPr/>
        </p:nvGraphicFramePr>
        <p:xfrm>
          <a:off x="2111265" y="1313793"/>
          <a:ext cx="7969469" cy="260854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040721">
                  <a:extLst>
                    <a:ext uri="{9D8B030D-6E8A-4147-A177-3AD203B41FA5}">
                      <a16:colId xmlns:a16="http://schemas.microsoft.com/office/drawing/2014/main" val="1315666246"/>
                    </a:ext>
                  </a:extLst>
                </a:gridCol>
                <a:gridCol w="2464374">
                  <a:extLst>
                    <a:ext uri="{9D8B030D-6E8A-4147-A177-3AD203B41FA5}">
                      <a16:colId xmlns:a16="http://schemas.microsoft.com/office/drawing/2014/main" val="4110847704"/>
                    </a:ext>
                  </a:extLst>
                </a:gridCol>
                <a:gridCol w="2464374">
                  <a:extLst>
                    <a:ext uri="{9D8B030D-6E8A-4147-A177-3AD203B41FA5}">
                      <a16:colId xmlns:a16="http://schemas.microsoft.com/office/drawing/2014/main" val="3053380552"/>
                    </a:ext>
                  </a:extLst>
                </a:gridCol>
              </a:tblGrid>
              <a:tr h="7797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Dataset Subset</a:t>
                      </a:r>
                      <a:endParaRPr lang="en-US" b="1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Temporal Resolution</a:t>
                      </a:r>
                    </a:p>
                    <a:p>
                      <a:pPr algn="ctr"/>
                      <a:r>
                        <a:rPr lang="en-US" b="1" dirty="0"/>
                        <a:t>(days/observation)</a:t>
                      </a:r>
                      <a:endParaRPr lang="en-US" b="1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Per-Lake Temporal Resolution (mean/std)</a:t>
                      </a:r>
                      <a:endParaRPr lang="en-US" b="1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742763"/>
                  </a:ext>
                </a:extLst>
              </a:tr>
              <a:tr h="31622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Quality_f</a:t>
                      </a:r>
                      <a:r>
                        <a:rPr lang="en-US" dirty="0"/>
                        <a:t>=0</a:t>
                      </a:r>
                      <a:endParaRPr lang="en-US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23.9</a:t>
                      </a:r>
                      <a:endParaRPr lang="en-US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41.64 (59.17)</a:t>
                      </a:r>
                      <a:endParaRPr lang="en-US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220414"/>
                  </a:ext>
                </a:extLst>
              </a:tr>
              <a:tr h="31622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Quality_f</a:t>
                      </a:r>
                      <a:r>
                        <a:rPr lang="en-US" dirty="0"/>
                        <a:t> = 0 | 1</a:t>
                      </a:r>
                      <a:endParaRPr lang="en-US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11.5</a:t>
                      </a:r>
                      <a:endParaRPr lang="en-US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13.8 (6.83)</a:t>
                      </a:r>
                      <a:endParaRPr lang="en-US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33069"/>
                  </a:ext>
                </a:extLst>
              </a:tr>
              <a:tr h="29126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Valid Observations (50 cm)</a:t>
                      </a:r>
                      <a:endParaRPr lang="en-US" b="1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13.4</a:t>
                      </a:r>
                      <a:endParaRPr lang="en-US" b="1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17.4 (16.54)</a:t>
                      </a:r>
                      <a:endParaRPr lang="en-US" b="1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898999"/>
                  </a:ext>
                </a:extLst>
              </a:tr>
              <a:tr h="2912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Valid Observations (10 cm)</a:t>
                      </a:r>
                      <a:endParaRPr lang="en-US" b="1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19.1</a:t>
                      </a:r>
                      <a:endParaRPr lang="en-US" b="1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25.5 (18.8)</a:t>
                      </a:r>
                      <a:endParaRPr lang="en-US" b="1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682084"/>
                  </a:ext>
                </a:extLst>
              </a:tr>
              <a:tr h="31622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All Observations</a:t>
                      </a:r>
                      <a:endParaRPr lang="en-US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11.12</a:t>
                      </a:r>
                      <a:endParaRPr lang="en-US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12.96 (5.76)</a:t>
                      </a:r>
                      <a:endParaRPr lang="en-US" dirty="0">
                        <a:latin typeface="Baskerville" panose="02020502070401020303" pitchFamily="18" charset="0"/>
                        <a:ea typeface="Baskerville" panose="02020502070401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6066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BB8D29-7252-66AC-2925-0E2F36B81961}"/>
              </a:ext>
            </a:extLst>
          </p:cNvPr>
          <p:cNvSpPr txBox="1"/>
          <p:nvPr/>
        </p:nvSpPr>
        <p:spPr>
          <a:xfrm>
            <a:off x="152601" y="5264021"/>
            <a:ext cx="120393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Gill Sans" panose="020B0502020104020203" pitchFamily="34" charset="-79"/>
                <a:cs typeface="Gill Sans" panose="020B0502020104020203" pitchFamily="34" charset="-79"/>
              </a:rPr>
              <a:t>Key takeaway: </a:t>
            </a:r>
            <a:r>
              <a:rPr lang="en-US" sz="2000" dirty="0">
                <a:latin typeface="Gill Sans" panose="020B0502020104020203" pitchFamily="34" charset="-79"/>
                <a:cs typeface="Gill Sans" panose="020B0502020104020203" pitchFamily="34" charset="-79"/>
              </a:rPr>
              <a:t>SWOT science orbit has a temporal resolution of 13-19 days, depending on acceptable vertical accuracy.</a:t>
            </a:r>
          </a:p>
          <a:p>
            <a:endParaRPr lang="en-US" sz="2000" dirty="0">
              <a:latin typeface="Gill Sans" panose="020B0502020104020203" pitchFamily="34" charset="-79"/>
              <a:cs typeface="Gill Sans" panose="020B0502020104020203" pitchFamily="34" charset="-79"/>
            </a:endParaRPr>
          </a:p>
          <a:p>
            <a:r>
              <a:rPr lang="en-US" sz="2000" dirty="0">
                <a:latin typeface="Gill Sans" panose="020B0502020104020203" pitchFamily="34" charset="-79"/>
                <a:cs typeface="Gill Sans" panose="020B0502020104020203" pitchFamily="34" charset="-79"/>
              </a:rPr>
              <a:t>*This ideal temporal resolution will decrease according to the recall of our observation filtering techniques.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A0E198-4B4A-78AA-0798-FB1A5B80B438}"/>
              </a:ext>
            </a:extLst>
          </p:cNvPr>
          <p:cNvSpPr txBox="1"/>
          <p:nvPr/>
        </p:nvSpPr>
        <p:spPr>
          <a:xfrm>
            <a:off x="2111265" y="4069958"/>
            <a:ext cx="79694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*Temporal Resolution is specific to science orbit. Note, 10% of lakes have no </a:t>
            </a:r>
            <a:r>
              <a:rPr lang="en-US" sz="14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quality_f</a:t>
            </a:r>
            <a:r>
              <a:rPr lang="en-US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=0 observations, thus decreasing per-lake temporal resolution.</a:t>
            </a:r>
          </a:p>
        </p:txBody>
      </p:sp>
    </p:spTree>
    <p:extLst>
      <p:ext uri="{BB962C8B-B14F-4D97-AF65-F5344CB8AC3E}">
        <p14:creationId xmlns:p14="http://schemas.microsoft.com/office/powerpoint/2010/main" val="2214573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55135-8212-56C3-2D95-20D3B10D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9060"/>
            <a:ext cx="10515600" cy="1325563"/>
          </a:xfrm>
        </p:spPr>
        <p:txBody>
          <a:bodyPr/>
          <a:lstStyle/>
          <a:p>
            <a:r>
              <a:rPr lang="en-US" dirty="0">
                <a:latin typeface="Gill Sans" panose="020B0502020104020203" pitchFamily="34" charset="-79"/>
                <a:cs typeface="Gill Sans" panose="020B0502020104020203" pitchFamily="34" charset="-79"/>
              </a:rPr>
              <a:t>SWOT Quality Flag on per-lake basis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5AFAC6E2-0914-9B7B-7596-3199E86BC0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486943"/>
              </p:ext>
            </p:extLst>
          </p:nvPr>
        </p:nvGraphicFramePr>
        <p:xfrm>
          <a:off x="5864772" y="4207209"/>
          <a:ext cx="6232635" cy="20269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27989">
                  <a:extLst>
                    <a:ext uri="{9D8B030D-6E8A-4147-A177-3AD203B41FA5}">
                      <a16:colId xmlns:a16="http://schemas.microsoft.com/office/drawing/2014/main" val="1315666246"/>
                    </a:ext>
                  </a:extLst>
                </a:gridCol>
                <a:gridCol w="1534882">
                  <a:extLst>
                    <a:ext uri="{9D8B030D-6E8A-4147-A177-3AD203B41FA5}">
                      <a16:colId xmlns:a16="http://schemas.microsoft.com/office/drawing/2014/main" val="4293495439"/>
                    </a:ext>
                  </a:extLst>
                </a:gridCol>
                <a:gridCol w="1534882">
                  <a:extLst>
                    <a:ext uri="{9D8B030D-6E8A-4147-A177-3AD203B41FA5}">
                      <a16:colId xmlns:a16="http://schemas.microsoft.com/office/drawing/2014/main" val="3777743540"/>
                    </a:ext>
                  </a:extLst>
                </a:gridCol>
                <a:gridCol w="1534882">
                  <a:extLst>
                    <a:ext uri="{9D8B030D-6E8A-4147-A177-3AD203B41FA5}">
                      <a16:colId xmlns:a16="http://schemas.microsoft.com/office/drawing/2014/main" val="4019858503"/>
                    </a:ext>
                  </a:extLst>
                </a:gridCol>
              </a:tblGrid>
              <a:tr h="291214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quality_f</a:t>
                      </a:r>
                      <a:r>
                        <a:rPr lang="en-US" b="1" dirty="0"/>
                        <a:t>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% of observations</a:t>
                      </a:r>
                    </a:p>
                    <a:p>
                      <a:pPr algn="ctr"/>
                      <a:r>
                        <a:rPr lang="en-US" b="1" dirty="0"/>
                        <a:t>(mean/std)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% Precision</a:t>
                      </a:r>
                    </a:p>
                    <a:p>
                      <a:pPr algn="ctr"/>
                      <a:r>
                        <a:rPr lang="en-US" b="1" dirty="0"/>
                        <a:t>(mean/std)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% Recall</a:t>
                      </a:r>
                    </a:p>
                    <a:p>
                      <a:pPr algn="ctr"/>
                      <a:r>
                        <a:rPr lang="en-US" b="1" dirty="0"/>
                        <a:t>(mean/std)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5742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48.7 (16.2)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44% (21.4)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53.2% (21.8)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220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95.9 (8.1)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51% (19.4)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96.5% (10.1)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898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 (0)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59.8%  (19.5)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 (0)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6066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735B82D-6D79-2DB4-0E17-E9F6743E691C}"/>
              </a:ext>
            </a:extLst>
          </p:cNvPr>
          <p:cNvSpPr txBox="1"/>
          <p:nvPr/>
        </p:nvSpPr>
        <p:spPr>
          <a:xfrm>
            <a:off x="348860" y="3770908"/>
            <a:ext cx="1051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*Distribution of recall, precision, and flag rate for </a:t>
            </a:r>
            <a:r>
              <a:rPr lang="en-US" sz="14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quality_f</a:t>
            </a:r>
            <a:r>
              <a:rPr lang="en-US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=0 identifying observations within 10 cm error threshold across 197 lakes.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F07F3-40E3-0F5E-7E48-6A6BFDA0F1E1}"/>
              </a:ext>
            </a:extLst>
          </p:cNvPr>
          <p:cNvSpPr txBox="1"/>
          <p:nvPr/>
        </p:nvSpPr>
        <p:spPr>
          <a:xfrm>
            <a:off x="7305700" y="6234129"/>
            <a:ext cx="6419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askerville" panose="02020502070401020303" pitchFamily="18" charset="0"/>
                <a:ea typeface="Baskerville" panose="02020502070401020303" pitchFamily="18" charset="0"/>
              </a:rPr>
              <a:t>*Measuring ability to identify valid observations in individual lakes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A3C1A1-CE78-5C37-7AC9-9DC4D0B8136B}"/>
              </a:ext>
            </a:extLst>
          </p:cNvPr>
          <p:cNvSpPr txBox="1"/>
          <p:nvPr/>
        </p:nvSpPr>
        <p:spPr>
          <a:xfrm>
            <a:off x="0" y="6062518"/>
            <a:ext cx="60014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takeaway: </a:t>
            </a:r>
            <a:r>
              <a:rPr lang="en-US" sz="2000" dirty="0">
                <a:latin typeface="Gill Sans" panose="020B0502020104020203" pitchFamily="34" charset="-79"/>
                <a:cs typeface="Gill Sans" panose="020B0502020104020203" pitchFamily="34" charset="-79"/>
              </a:rPr>
              <a:t>Quality flag totally fails in ~20% of lakes (no ‘good / </a:t>
            </a:r>
            <a:r>
              <a:rPr lang="en-US" sz="2000" dirty="0" err="1">
                <a:latin typeface="Gill Sans" panose="020B0502020104020203" pitchFamily="34" charset="-79"/>
                <a:cs typeface="Gill Sans" panose="020B0502020104020203" pitchFamily="34" charset="-79"/>
              </a:rPr>
              <a:t>quality_f</a:t>
            </a:r>
            <a:r>
              <a:rPr lang="en-US" sz="2000" dirty="0">
                <a:latin typeface="Gill Sans" panose="020B0502020104020203" pitchFamily="34" charset="-79"/>
                <a:cs typeface="Gill Sans" panose="020B0502020104020203" pitchFamily="34" charset="-79"/>
              </a:rPr>
              <a:t>=0 data).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86DBD6B-090B-EDFE-1F04-72C13A694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109" y="966485"/>
            <a:ext cx="10515600" cy="287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65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FE0F2-F92F-9417-205D-119F4D99A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006"/>
            <a:ext cx="10515600" cy="1325563"/>
          </a:xfrm>
        </p:spPr>
        <p:txBody>
          <a:bodyPr/>
          <a:lstStyle/>
          <a:p>
            <a:r>
              <a:rPr lang="en-US" b="1" dirty="0"/>
              <a:t>Unresolved sources of error: Roll/Phase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E6863-6BBF-A9EE-10C9-200DC62A5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44186"/>
            <a:ext cx="12412717" cy="1752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" panose="020B0502020104020203" pitchFamily="34" charset="-79"/>
                <a:cs typeface="Gill Sans" panose="020B0502020104020203" pitchFamily="34" charset="-79"/>
              </a:rPr>
              <a:t>10-30% of </a:t>
            </a:r>
            <a:r>
              <a:rPr lang="en-US" sz="2400" dirty="0" err="1">
                <a:latin typeface="Gill Sans" panose="020B0502020104020203" pitchFamily="34" charset="-79"/>
                <a:cs typeface="Gill Sans" panose="020B0502020104020203" pitchFamily="34" charset="-79"/>
              </a:rPr>
              <a:t>quality_f</a:t>
            </a:r>
            <a:r>
              <a:rPr lang="en-US" sz="2400" dirty="0">
                <a:latin typeface="Gill Sans" panose="020B0502020104020203" pitchFamily="34" charset="-79"/>
                <a:cs typeface="Gill Sans" panose="020B0502020104020203" pitchFamily="34" charset="-79"/>
              </a:rPr>
              <a:t>=0 (good) observations have invalid WSE measurements</a:t>
            </a:r>
          </a:p>
          <a:p>
            <a:pPr lvl="1"/>
            <a:r>
              <a:rPr lang="en-US" sz="2000" dirty="0">
                <a:latin typeface="Gill Sans" panose="020B0502020104020203" pitchFamily="34" charset="-79"/>
                <a:cs typeface="Gill Sans" panose="020B0502020104020203" pitchFamily="34" charset="-79"/>
              </a:rPr>
              <a:t>Promising error metrics (</a:t>
            </a:r>
            <a:r>
              <a:rPr lang="en-US" sz="2000" dirty="0" err="1">
                <a:latin typeface="Gill Sans" panose="020B0502020104020203" pitchFamily="34" charset="-79"/>
                <a:cs typeface="Gill Sans" panose="020B0502020104020203" pitchFamily="34" charset="-79"/>
              </a:rPr>
              <a:t>wse_std</a:t>
            </a:r>
            <a:r>
              <a:rPr lang="en-US" sz="2000" dirty="0">
                <a:latin typeface="Gill Sans" panose="020B0502020104020203" pitchFamily="34" charset="-79"/>
                <a:cs typeface="Gill Sans" panose="020B0502020104020203" pitchFamily="34" charset="-79"/>
              </a:rPr>
              <a:t>, </a:t>
            </a:r>
            <a:r>
              <a:rPr lang="en-US" sz="2000" dirty="0" err="1">
                <a:latin typeface="Gill Sans" panose="020B0502020104020203" pitchFamily="34" charset="-79"/>
                <a:cs typeface="Gill Sans" panose="020B0502020104020203" pitchFamily="34" charset="-79"/>
              </a:rPr>
              <a:t>wse_u</a:t>
            </a:r>
            <a:r>
              <a:rPr lang="en-US" sz="2000" dirty="0">
                <a:latin typeface="Gill Sans" panose="020B0502020104020203" pitchFamily="34" charset="-79"/>
                <a:cs typeface="Gill Sans" panose="020B0502020104020203" pitchFamily="34" charset="-79"/>
              </a:rPr>
              <a:t>, ice flags), but their WSE values are systematically incorrect.</a:t>
            </a:r>
          </a:p>
          <a:p>
            <a:r>
              <a:rPr lang="en-US" sz="2200" dirty="0">
                <a:latin typeface="Gill Sans" panose="020B0502020104020203" pitchFamily="34" charset="-79"/>
                <a:cs typeface="Gill Sans" panose="020B0502020104020203" pitchFamily="34" charset="-79"/>
              </a:rPr>
              <a:t>Systematic errors that suggest roll/phase errors appear when assessing either nearby lakes or the pixel cloud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3D76990-9755-2BCA-86D3-938242AB1F39}"/>
              </a:ext>
            </a:extLst>
          </p:cNvPr>
          <p:cNvGrpSpPr/>
          <p:nvPr/>
        </p:nvGrpSpPr>
        <p:grpSpPr>
          <a:xfrm>
            <a:off x="6627906" y="2569214"/>
            <a:ext cx="5294211" cy="2658089"/>
            <a:chOff x="5028634" y="4199911"/>
            <a:chExt cx="5294211" cy="2658089"/>
          </a:xfrm>
        </p:grpSpPr>
        <p:pic>
          <p:nvPicPr>
            <p:cNvPr id="4" name="Picture 3" descr="A map with red and blue spots&#10;&#10;Description automatically generated">
              <a:extLst>
                <a:ext uri="{FF2B5EF4-FFF2-40B4-BE49-F238E27FC236}">
                  <a16:creationId xmlns:a16="http://schemas.microsoft.com/office/drawing/2014/main" id="{E2828612-F1A0-10EB-5929-D71F140FCB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06" t="34207" r="10553" b="25772"/>
            <a:stretch/>
          </p:blipFill>
          <p:spPr>
            <a:xfrm>
              <a:off x="5028634" y="4199911"/>
              <a:ext cx="5294211" cy="2658089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7DE0103-68DB-C461-A4DC-D3F1769F0ECF}"/>
                </a:ext>
              </a:extLst>
            </p:cNvPr>
            <p:cNvSpPr/>
            <p:nvPr/>
          </p:nvSpPr>
          <p:spPr>
            <a:xfrm>
              <a:off x="5257800" y="6041369"/>
              <a:ext cx="485335" cy="506437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192357-87E8-DF76-3145-24E284ACDA78}"/>
                </a:ext>
              </a:extLst>
            </p:cNvPr>
            <p:cNvSpPr/>
            <p:nvPr/>
          </p:nvSpPr>
          <p:spPr>
            <a:xfrm>
              <a:off x="5257800" y="5349839"/>
              <a:ext cx="485335" cy="5064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6B35B2-01E0-370E-A91C-CCAD216D5BE9}"/>
                </a:ext>
              </a:extLst>
            </p:cNvPr>
            <p:cNvSpPr txBox="1"/>
            <p:nvPr/>
          </p:nvSpPr>
          <p:spPr>
            <a:xfrm>
              <a:off x="5822433" y="5412975"/>
              <a:ext cx="20813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WSE Error &gt;2m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030D37-B551-E615-5399-E73A1C53CC6A}"/>
                </a:ext>
              </a:extLst>
            </p:cNvPr>
            <p:cNvSpPr txBox="1"/>
            <p:nvPr/>
          </p:nvSpPr>
          <p:spPr>
            <a:xfrm>
              <a:off x="5822433" y="6109921"/>
              <a:ext cx="20813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WSE Error &lt; -2m</a:t>
              </a:r>
            </a:p>
          </p:txBody>
        </p:sp>
      </p:grpSp>
      <p:pic>
        <p:nvPicPr>
          <p:cNvPr id="11" name="Picture 10" descr="A map of a city&#10;&#10;Description automatically generated">
            <a:extLst>
              <a:ext uri="{FF2B5EF4-FFF2-40B4-BE49-F238E27FC236}">
                <a16:creationId xmlns:a16="http://schemas.microsoft.com/office/drawing/2014/main" id="{DA8D8048-FC10-04A5-623E-4AA698A3E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67" y="2496768"/>
            <a:ext cx="4424490" cy="2987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37FE9D-CD1E-55CC-6DF5-E0A746B90FB6}"/>
              </a:ext>
            </a:extLst>
          </p:cNvPr>
          <p:cNvSpPr txBox="1"/>
          <p:nvPr/>
        </p:nvSpPr>
        <p:spPr>
          <a:xfrm>
            <a:off x="6627906" y="5483808"/>
            <a:ext cx="540643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askerville" panose="02020502070401020303" pitchFamily="18" charset="0"/>
                <a:ea typeface="Baskerville" panose="02020502070401020303" pitchFamily="18" charset="0"/>
              </a:rPr>
              <a:t>Example B: </a:t>
            </a:r>
            <a:r>
              <a:rPr lang="en-US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Cycle 21 Pass 231 provides </a:t>
            </a:r>
            <a:r>
              <a:rPr lang="en-US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quality_f</a:t>
            </a:r>
            <a:r>
              <a:rPr lang="en-US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=0 and low WSE uncertainty, but WSE errors vary systematically in the cross-track direction.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3380F1-E134-CCB6-40ED-3DA366CC98D4}"/>
              </a:ext>
            </a:extLst>
          </p:cNvPr>
          <p:cNvSpPr txBox="1"/>
          <p:nvPr/>
        </p:nvSpPr>
        <p:spPr>
          <a:xfrm>
            <a:off x="353968" y="5579703"/>
            <a:ext cx="442449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askerville" panose="02020502070401020303" pitchFamily="18" charset="0"/>
                <a:ea typeface="Baskerville" panose="02020502070401020303" pitchFamily="18" charset="0"/>
              </a:rPr>
              <a:t>Example A: </a:t>
            </a:r>
            <a:r>
              <a:rPr lang="en-US" sz="1600" dirty="0" err="1">
                <a:latin typeface="Baskerville" panose="02020502070401020303" pitchFamily="18" charset="0"/>
                <a:ea typeface="Baskerville" panose="02020502070401020303" pitchFamily="18" charset="0"/>
              </a:rPr>
              <a:t>Quality_f</a:t>
            </a:r>
            <a:r>
              <a:rPr lang="en-US" sz="1600" dirty="0">
                <a:latin typeface="Baskerville" panose="02020502070401020303" pitchFamily="18" charset="0"/>
                <a:ea typeface="Baskerville" panose="02020502070401020303" pitchFamily="18" charset="0"/>
              </a:rPr>
              <a:t>=0 and low WSE uncertainty, but systematic WSE and geolocation errors by 6.5m vertically and 150m horizontal.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C6D14A-CF1D-6BA4-479F-5E449AB35698}"/>
              </a:ext>
            </a:extLst>
          </p:cNvPr>
          <p:cNvSpPr txBox="1"/>
          <p:nvPr/>
        </p:nvSpPr>
        <p:spPr>
          <a:xfrm>
            <a:off x="1413813" y="6437915"/>
            <a:ext cx="10620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Outstanding Question: How can we identify roll/phase errors without manual inspection?</a:t>
            </a:r>
          </a:p>
        </p:txBody>
      </p:sp>
    </p:spTree>
    <p:extLst>
      <p:ext uri="{BB962C8B-B14F-4D97-AF65-F5344CB8AC3E}">
        <p14:creationId xmlns:p14="http://schemas.microsoft.com/office/powerpoint/2010/main" val="820009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FA98-BFE8-5B89-91A8-49A9DB4B5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" panose="020B0502020104020203" pitchFamily="34" charset="-79"/>
                <a:cs typeface="Gill Sans" panose="020B0502020104020203" pitchFamily="34" charset="-79"/>
              </a:rPr>
              <a:t>Key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65E10-1908-D0FA-8370-20A8FC20C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549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Setting thresholds using </a:t>
            </a:r>
            <a:r>
              <a:rPr lang="en-US" dirty="0" err="1">
                <a:latin typeface="Baskerville" panose="02020502070401020303" pitchFamily="18" charset="0"/>
                <a:ea typeface="Baskerville" panose="02020502070401020303" pitchFamily="18" charset="0"/>
              </a:rPr>
              <a:t>quality_f</a:t>
            </a:r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=0 observations on a per-lake basis faces the following challenges:</a:t>
            </a:r>
          </a:p>
          <a:p>
            <a:pPr lvl="1"/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5% of lakes have no </a:t>
            </a:r>
            <a:r>
              <a:rPr lang="en-US" dirty="0" err="1">
                <a:latin typeface="Baskerville" panose="02020502070401020303" pitchFamily="18" charset="0"/>
                <a:ea typeface="Baskerville" panose="02020502070401020303" pitchFamily="18" charset="0"/>
              </a:rPr>
              <a:t>quality_f</a:t>
            </a:r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=0 observations, 10% have less than 5.</a:t>
            </a:r>
          </a:p>
          <a:p>
            <a:pPr lvl="1"/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30% of </a:t>
            </a:r>
            <a:r>
              <a:rPr lang="en-US" dirty="0" err="1">
                <a:latin typeface="Baskerville" panose="02020502070401020303" pitchFamily="18" charset="0"/>
                <a:ea typeface="Baskerville" panose="02020502070401020303" pitchFamily="18" charset="0"/>
              </a:rPr>
              <a:t>quality_f</a:t>
            </a:r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=0 observations have errors larger than stated SWOT vertical accuracy goals.</a:t>
            </a:r>
          </a:p>
          <a:p>
            <a:pPr lvl="2"/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These observations generally have low </a:t>
            </a:r>
            <a:r>
              <a:rPr lang="en-US" dirty="0" err="1">
                <a:latin typeface="Baskerville" panose="02020502070401020303" pitchFamily="18" charset="0"/>
                <a:ea typeface="Baskerville" panose="02020502070401020303" pitchFamily="18" charset="0"/>
              </a:rPr>
              <a:t>wse_std</a:t>
            </a:r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 and </a:t>
            </a:r>
            <a:r>
              <a:rPr lang="en-US" dirty="0" err="1">
                <a:latin typeface="Baskerville" panose="02020502070401020303" pitchFamily="18" charset="0"/>
                <a:ea typeface="Baskerville" panose="02020502070401020303" pitchFamily="18" charset="0"/>
              </a:rPr>
              <a:t>wse_u</a:t>
            </a:r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, but systematic bias.</a:t>
            </a:r>
          </a:p>
          <a:p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No simple thresholds easily discriminate valid and invalid observations.</a:t>
            </a:r>
          </a:p>
          <a:p>
            <a:pPr lvl="1"/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Example: Filtering for </a:t>
            </a:r>
            <a:r>
              <a:rPr lang="en-US" dirty="0" err="1">
                <a:latin typeface="Baskerville" panose="02020502070401020303" pitchFamily="18" charset="0"/>
                <a:ea typeface="Baskerville" panose="02020502070401020303" pitchFamily="18" charset="0"/>
              </a:rPr>
              <a:t>wse_u</a:t>
            </a:r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 &lt; 0.05 maintains 93% of good observations, but only filters ~50% of invalid observations. </a:t>
            </a:r>
          </a:p>
          <a:p>
            <a:pPr lvl="2"/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Stricter thresholds remove more good observations, thus reducing temporal resolution. For example, 54% of observations where </a:t>
            </a:r>
            <a:r>
              <a:rPr lang="en-US" dirty="0" err="1">
                <a:latin typeface="Baskerville" panose="02020502070401020303" pitchFamily="18" charset="0"/>
                <a:ea typeface="Baskerville" panose="02020502070401020303" pitchFamily="18" charset="0"/>
              </a:rPr>
              <a:t>xovr_cal_q</a:t>
            </a:r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 = 1 are actually valid.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967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FA98-BFE8-5B89-91A8-49A9DB4B5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" panose="020B0502020104020203" pitchFamily="34" charset="-79"/>
                <a:cs typeface="Gill Sans" panose="020B0502020104020203" pitchFamily="34" charset="-79"/>
              </a:rPr>
              <a:t>Two-stage filtering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65E10-1908-D0FA-8370-20A8FC20C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5491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>
                <a:latin typeface="Baskerville" panose="02020502070401020303" pitchFamily="18" charset="0"/>
                <a:ea typeface="Baskerville" panose="02020502070401020303" pitchFamily="18" charset="0"/>
              </a:rPr>
              <a:t>Step 1: Simple, lenient global thresholds</a:t>
            </a:r>
          </a:p>
          <a:p>
            <a:pPr lvl="1"/>
            <a:r>
              <a:rPr lang="en-US" dirty="0" err="1">
                <a:latin typeface="Baskerville" panose="02020502070401020303" pitchFamily="18" charset="0"/>
                <a:ea typeface="Baskerville" panose="02020502070401020303" pitchFamily="18" charset="0"/>
              </a:rPr>
              <a:t>xovr_qual_q</a:t>
            </a:r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 &lt;2, </a:t>
            </a:r>
            <a:r>
              <a:rPr lang="en-US" dirty="0" err="1">
                <a:latin typeface="Baskerville" panose="02020502070401020303" pitchFamily="18" charset="0"/>
                <a:ea typeface="Baskerville" panose="02020502070401020303" pitchFamily="18" charset="0"/>
              </a:rPr>
              <a:t>wse_u</a:t>
            </a:r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 &lt; 0.05, limit </a:t>
            </a:r>
            <a:r>
              <a:rPr lang="en-US" dirty="0" err="1">
                <a:latin typeface="Baskerville" panose="02020502070401020303" pitchFamily="18" charset="0"/>
                <a:ea typeface="Baskerville" panose="02020502070401020303" pitchFamily="18" charset="0"/>
              </a:rPr>
              <a:t>wse</a:t>
            </a:r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 range for extreme outliers (+-50m from median)</a:t>
            </a:r>
          </a:p>
          <a:p>
            <a:pPr lvl="2"/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Maintains 91% of valid observations, removes 47% of invalid observations.</a:t>
            </a:r>
          </a:p>
          <a:p>
            <a:r>
              <a:rPr lang="en-US" b="1" dirty="0">
                <a:latin typeface="Baskerville" panose="02020502070401020303" pitchFamily="18" charset="0"/>
                <a:ea typeface="Baskerville" panose="02020502070401020303" pitchFamily="18" charset="0"/>
              </a:rPr>
              <a:t>Step 2: Classify remaining observations using random forest*:</a:t>
            </a:r>
          </a:p>
          <a:p>
            <a:pPr lvl="1"/>
            <a:r>
              <a:rPr lang="en-US" sz="2000" dirty="0">
                <a:latin typeface="Baskerville" panose="02020502070401020303" pitchFamily="18" charset="0"/>
                <a:ea typeface="Baskerville" panose="02020502070401020303" pitchFamily="18" charset="0"/>
              </a:rPr>
              <a:t>This two-step approach achieved Precision of 0.94, Recall of 0.88 and F1 of 0.91 on this dataset.</a:t>
            </a:r>
          </a:p>
          <a:p>
            <a:pPr lvl="1"/>
            <a:r>
              <a:rPr lang="en-US" sz="2000" dirty="0">
                <a:latin typeface="Baskerville" panose="02020502070401020303" pitchFamily="18" charset="0"/>
                <a:ea typeface="Baskerville" panose="02020502070401020303" pitchFamily="18" charset="0"/>
              </a:rPr>
              <a:t>Likely some overfitting, will validate against more recent and additional gauge data to assess actual performance.</a:t>
            </a:r>
          </a:p>
          <a:p>
            <a:pPr marL="0" indent="0">
              <a:buNone/>
            </a:pPr>
            <a:r>
              <a:rPr lang="en-US" sz="1400" dirty="0"/>
              <a:t>*Could replace random forest with simple decision tree (clear rules but worse performance) another classifier, or thresholds for individual lakes based on </a:t>
            </a:r>
            <a:r>
              <a:rPr lang="en-US" sz="1400" dirty="0" err="1"/>
              <a:t>quality_f</a:t>
            </a:r>
            <a:r>
              <a:rPr lang="en-US" sz="1400" dirty="0"/>
              <a:t>=0.</a:t>
            </a:r>
          </a:p>
        </p:txBody>
      </p:sp>
    </p:spTree>
    <p:extLst>
      <p:ext uri="{BB962C8B-B14F-4D97-AF65-F5344CB8AC3E}">
        <p14:creationId xmlns:p14="http://schemas.microsoft.com/office/powerpoint/2010/main" val="1911733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FA98-BFE8-5B89-91A8-49A9DB4B5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" panose="020B0502020104020203" pitchFamily="34" charset="-79"/>
                <a:cs typeface="Gill Sans" panose="020B0502020104020203" pitchFamily="34" charset="-79"/>
              </a:rPr>
              <a:t>Next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65E10-1908-D0FA-8370-20A8FC20C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549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Is it possible to get quality bit mask for via </a:t>
            </a:r>
            <a:r>
              <a:rPr lang="en-US" dirty="0" err="1">
                <a:latin typeface="Baskerville" panose="02020502070401020303" pitchFamily="18" charset="0"/>
                <a:ea typeface="Baskerville" panose="02020502070401020303" pitchFamily="18" charset="0"/>
              </a:rPr>
              <a:t>hydrocron</a:t>
            </a:r>
            <a:r>
              <a:rPr lang="en-US" dirty="0">
                <a:latin typeface="Baskerville" panose="02020502070401020303" pitchFamily="18" charset="0"/>
                <a:ea typeface="Baskerville" panose="02020502070401020303" pitchFamily="18" charset="0"/>
              </a:rPr>
              <a:t>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21012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1046</Words>
  <Application>Microsoft Macintosh PowerPoint</Application>
  <PresentationFormat>Widescreen</PresentationFormat>
  <Paragraphs>145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Baskerville</vt:lpstr>
      <vt:lpstr>Calibri</vt:lpstr>
      <vt:lpstr>Calibri Light</vt:lpstr>
      <vt:lpstr>Gill Sans</vt:lpstr>
      <vt:lpstr>Gill Sans SemiBold</vt:lpstr>
      <vt:lpstr>Office Theme</vt:lpstr>
      <vt:lpstr>LakeSP filtering analysis</vt:lpstr>
      <vt:lpstr>Benchmark Dataset</vt:lpstr>
      <vt:lpstr>SWOT Quality Flag (quality_f) Performance</vt:lpstr>
      <vt:lpstr>SWOT Quality Flag Performance</vt:lpstr>
      <vt:lpstr>SWOT Quality Flag and Temporal Resolution</vt:lpstr>
      <vt:lpstr>SWOT Quality Flag on per-lake basis</vt:lpstr>
      <vt:lpstr>Unresolved sources of error: Roll/Phase</vt:lpstr>
      <vt:lpstr>Key challenges</vt:lpstr>
      <vt:lpstr>Two-stage filtering approach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LakeSP filtering analysis</dc:title>
  <dc:creator>Eric Levenson</dc:creator>
  <cp:lastModifiedBy>Eric Levenson</cp:lastModifiedBy>
  <cp:revision>2</cp:revision>
  <dcterms:created xsi:type="dcterms:W3CDTF">2025-08-05T17:50:39Z</dcterms:created>
  <dcterms:modified xsi:type="dcterms:W3CDTF">2025-08-05T20:42:58Z</dcterms:modified>
</cp:coreProperties>
</file>