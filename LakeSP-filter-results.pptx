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3"/>
  </p:notesMasterIdLst>
  <p:sldIdLst>
    <p:sldId id="256" r:id="rId3"/>
    <p:sldId id="501" r:id="rId4"/>
    <p:sldId id="1626" r:id="rId5"/>
    <p:sldId id="493" r:id="rId6"/>
    <p:sldId id="1611" r:id="rId7"/>
    <p:sldId id="1610" r:id="rId8"/>
    <p:sldId id="1612" r:id="rId9"/>
    <p:sldId id="1607" r:id="rId10"/>
    <p:sldId id="1630" r:id="rId11"/>
    <p:sldId id="1632" r:id="rId12"/>
    <p:sldId id="1633" r:id="rId13"/>
    <p:sldId id="1634" r:id="rId14"/>
    <p:sldId id="1615" r:id="rId15"/>
    <p:sldId id="1635" r:id="rId16"/>
    <p:sldId id="1636" r:id="rId17"/>
    <p:sldId id="1637" r:id="rId18"/>
    <p:sldId id="1622" r:id="rId19"/>
    <p:sldId id="1623" r:id="rId20"/>
    <p:sldId id="1638" r:id="rId21"/>
    <p:sldId id="1643" r:id="rId22"/>
    <p:sldId id="1652" r:id="rId23"/>
    <p:sldId id="1649" r:id="rId24"/>
    <p:sldId id="1653" r:id="rId25"/>
    <p:sldId id="1658" r:id="rId26"/>
    <p:sldId id="1659" r:id="rId27"/>
    <p:sldId id="1665" r:id="rId28"/>
    <p:sldId id="1669" r:id="rId29"/>
    <p:sldId id="1664" r:id="rId30"/>
    <p:sldId id="1660" r:id="rId31"/>
    <p:sldId id="1661" r:id="rId32"/>
    <p:sldId id="1662" r:id="rId33"/>
    <p:sldId id="1663" r:id="rId34"/>
    <p:sldId id="1667" r:id="rId35"/>
    <p:sldId id="1668" r:id="rId36"/>
    <p:sldId id="1666" r:id="rId37"/>
    <p:sldId id="1682" r:id="rId38"/>
    <p:sldId id="1670" r:id="rId39"/>
    <p:sldId id="1673" r:id="rId40"/>
    <p:sldId id="1674" r:id="rId41"/>
    <p:sldId id="1675" r:id="rId42"/>
    <p:sldId id="1676" r:id="rId43"/>
    <p:sldId id="1683" r:id="rId44"/>
    <p:sldId id="1684" r:id="rId45"/>
    <p:sldId id="1678" r:id="rId46"/>
    <p:sldId id="1679" r:id="rId47"/>
    <p:sldId id="1681" r:id="rId48"/>
    <p:sldId id="1703" r:id="rId49"/>
    <p:sldId id="1702" r:id="rId50"/>
    <p:sldId id="1691" r:id="rId51"/>
    <p:sldId id="1680" r:id="rId52"/>
    <p:sldId id="1693" r:id="rId53"/>
    <p:sldId id="1694" r:id="rId54"/>
    <p:sldId id="1707" r:id="rId55"/>
    <p:sldId id="1711" r:id="rId56"/>
    <p:sldId id="1708" r:id="rId57"/>
    <p:sldId id="1714" r:id="rId58"/>
    <p:sldId id="1716" r:id="rId59"/>
    <p:sldId id="1715" r:id="rId60"/>
    <p:sldId id="1710" r:id="rId61"/>
    <p:sldId id="171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keSP filter 06/18/2025" id="{3BA4B9D5-F92A-4408-8087-560C5951EBCD}">
          <p14:sldIdLst>
            <p14:sldId id="256"/>
            <p14:sldId id="501"/>
            <p14:sldId id="1626"/>
            <p14:sldId id="493"/>
            <p14:sldId id="1611"/>
            <p14:sldId id="1610"/>
            <p14:sldId id="1612"/>
            <p14:sldId id="1607"/>
            <p14:sldId id="1630"/>
            <p14:sldId id="1632"/>
            <p14:sldId id="1633"/>
            <p14:sldId id="1634"/>
            <p14:sldId id="1615"/>
            <p14:sldId id="1635"/>
            <p14:sldId id="1636"/>
            <p14:sldId id="1637"/>
            <p14:sldId id="1622"/>
            <p14:sldId id="1623"/>
          </p14:sldIdLst>
        </p14:section>
        <p14:section name="Update 07/04/2025" id="{DE9E8E76-EDED-4920-8F42-691903066F1A}">
          <p14:sldIdLst>
            <p14:sldId id="1638"/>
            <p14:sldId id="1643"/>
            <p14:sldId id="1652"/>
            <p14:sldId id="1649"/>
            <p14:sldId id="1653"/>
            <p14:sldId id="1658"/>
          </p14:sldIdLst>
        </p14:section>
        <p14:section name="Update 07/13/2025" id="{AAF3B1F8-84A5-4EE4-845F-01426AA32E74}">
          <p14:sldIdLst>
            <p14:sldId id="1659"/>
            <p14:sldId id="1665"/>
            <p14:sldId id="1669"/>
            <p14:sldId id="1664"/>
            <p14:sldId id="1660"/>
            <p14:sldId id="1661"/>
            <p14:sldId id="1662"/>
            <p14:sldId id="1663"/>
            <p14:sldId id="1667"/>
            <p14:sldId id="1668"/>
            <p14:sldId id="1666"/>
          </p14:sldIdLst>
        </p14:section>
        <p14:section name="Update 08/07/2025" id="{39626312-47A0-4C2C-B8FB-846A1F038D6F}">
          <p14:sldIdLst>
            <p14:sldId id="1682"/>
            <p14:sldId id="1670"/>
            <p14:sldId id="1673"/>
            <p14:sldId id="1674"/>
            <p14:sldId id="1675"/>
            <p14:sldId id="1676"/>
          </p14:sldIdLst>
        </p14:section>
        <p14:section name="Update 08/12/2025" id="{65108C94-50EA-4675-B9F3-1981298A8D79}">
          <p14:sldIdLst>
            <p14:sldId id="1683"/>
            <p14:sldId id="1684"/>
            <p14:sldId id="1678"/>
            <p14:sldId id="1679"/>
            <p14:sldId id="1681"/>
          </p14:sldIdLst>
        </p14:section>
        <p14:section name="Update 08/29/2025" id="{0298797A-6099-4B67-83DF-8745DAE1B2F4}">
          <p14:sldIdLst>
            <p14:sldId id="1703"/>
            <p14:sldId id="1702"/>
            <p14:sldId id="1691"/>
            <p14:sldId id="1680"/>
            <p14:sldId id="1693"/>
            <p14:sldId id="1694"/>
          </p14:sldIdLst>
        </p14:section>
        <p14:section name="Update 09/15/2025" id="{BF7561DF-E637-4E0B-BE0E-DEAB59929016}">
          <p14:sldIdLst>
            <p14:sldId id="1707"/>
            <p14:sldId id="1711"/>
            <p14:sldId id="1708"/>
            <p14:sldId id="1714"/>
            <p14:sldId id="1716"/>
            <p14:sldId id="1715"/>
            <p14:sldId id="1710"/>
            <p14:sldId id="17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13" autoAdjust="0"/>
    <p:restoredTop sz="89292" autoAdjust="0"/>
  </p:normalViewPr>
  <p:slideViewPr>
    <p:cSldViewPr snapToGrid="0">
      <p:cViewPr>
        <p:scale>
          <a:sx n="50" d="100"/>
          <a:sy n="50" d="100"/>
        </p:scale>
        <p:origin x="52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DA1569-CDF6-41A1-8480-FEEC34873846}" type="datetimeFigureOut">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0A1AD-6C91-4971-839D-5990FF478C78}" type="slidenum">
              <a:rPr lang="en-US" smtClean="0"/>
              <a:t>‹#›</a:t>
            </a:fld>
            <a:endParaRPr lang="en-US"/>
          </a:p>
        </p:txBody>
      </p:sp>
    </p:spTree>
    <p:extLst>
      <p:ext uri="{BB962C8B-B14F-4D97-AF65-F5344CB8AC3E}">
        <p14:creationId xmlns:p14="http://schemas.microsoft.com/office/powerpoint/2010/main" val="39370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CCB7270-4A0D-F943-B97F-0CEFC1B07561}" type="slidenum">
              <a:rPr lang="en-US" smtClean="0"/>
              <a:t>2</a:t>
            </a:fld>
            <a:endParaRPr lang="en-US" dirty="0"/>
          </a:p>
        </p:txBody>
      </p:sp>
    </p:spTree>
    <p:extLst>
      <p:ext uri="{BB962C8B-B14F-4D97-AF65-F5344CB8AC3E}">
        <p14:creationId xmlns:p14="http://schemas.microsoft.com/office/powerpoint/2010/main" val="1215435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CCB7270-4A0D-F943-B97F-0CEFC1B07561}" type="slidenum">
              <a:rPr lang="en-US" smtClean="0"/>
              <a:t>4</a:t>
            </a:fld>
            <a:endParaRPr lang="en-US" dirty="0"/>
          </a:p>
        </p:txBody>
      </p:sp>
    </p:spTree>
    <p:extLst>
      <p:ext uri="{BB962C8B-B14F-4D97-AF65-F5344CB8AC3E}">
        <p14:creationId xmlns:p14="http://schemas.microsoft.com/office/powerpoint/2010/main" val="3447254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1 &amp; </a:t>
            </a:r>
            <a:r>
              <a:rPr lang="en-US" dirty="0" err="1"/>
              <a:t>ice_clim_f</a:t>
            </a:r>
            <a:r>
              <a:rPr lang="en-US" dirty="0"/>
              <a:t> &lt; 1')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1 &amp; (</a:t>
            </a:r>
            <a:r>
              <a:rPr lang="en-US" dirty="0" err="1"/>
              <a:t>crid</a:t>
            </a:r>
            <a:r>
              <a:rPr lang="en-US" dirty="0"/>
              <a:t> == "PIC2" or </a:t>
            </a:r>
            <a:r>
              <a:rPr lang="en-US" dirty="0" err="1"/>
              <a:t>crid</a:t>
            </a:r>
            <a:r>
              <a:rPr lang="en-US" dirty="0"/>
              <a:t> == "PID0"))') </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5</a:t>
            </a:fld>
            <a:endParaRPr lang="en-US"/>
          </a:p>
        </p:txBody>
      </p:sp>
    </p:spTree>
    <p:extLst>
      <p:ext uri="{BB962C8B-B14F-4D97-AF65-F5344CB8AC3E}">
        <p14:creationId xmlns:p14="http://schemas.microsoft.com/office/powerpoint/2010/main" val="2787365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2 &amp; </a:t>
            </a:r>
            <a:r>
              <a:rPr lang="en-US" dirty="0" err="1"/>
              <a:t>ice_clim_f</a:t>
            </a:r>
            <a:r>
              <a:rPr lang="en-US" dirty="0"/>
              <a:t> &lt; 2')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3 &amp; (</a:t>
            </a:r>
            <a:r>
              <a:rPr lang="en-US" dirty="0" err="1"/>
              <a:t>crid</a:t>
            </a:r>
            <a:r>
              <a:rPr lang="en-US" dirty="0"/>
              <a:t> == "PIC2" or </a:t>
            </a:r>
            <a:r>
              <a:rPr lang="en-US" dirty="0" err="1"/>
              <a:t>crid</a:t>
            </a:r>
            <a:r>
              <a:rPr lang="en-US" dirty="0"/>
              <a:t> == "PID0"))</a:t>
            </a:r>
          </a:p>
        </p:txBody>
      </p:sp>
      <p:sp>
        <p:nvSpPr>
          <p:cNvPr id="4" name="Slide Number Placeholder 3"/>
          <p:cNvSpPr>
            <a:spLocks noGrp="1"/>
          </p:cNvSpPr>
          <p:nvPr>
            <p:ph type="sldNum" sz="quarter" idx="5"/>
          </p:nvPr>
        </p:nvSpPr>
        <p:spPr/>
        <p:txBody>
          <a:bodyPr/>
          <a:lstStyle/>
          <a:p>
            <a:fld id="{9CE0A1AD-6C91-4971-839D-5990FF478C78}" type="slidenum">
              <a:rPr lang="en-US" smtClean="0"/>
              <a:t>6</a:t>
            </a:fld>
            <a:endParaRPr lang="en-US"/>
          </a:p>
        </p:txBody>
      </p:sp>
    </p:spTree>
    <p:extLst>
      <p:ext uri="{BB962C8B-B14F-4D97-AF65-F5344CB8AC3E}">
        <p14:creationId xmlns:p14="http://schemas.microsoft.com/office/powerpoint/2010/main" val="2428417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1 &amp; </a:t>
            </a:r>
            <a:r>
              <a:rPr lang="en-US" dirty="0" err="1"/>
              <a:t>ice_clim_f</a:t>
            </a:r>
            <a:r>
              <a:rPr lang="en-US" dirty="0"/>
              <a:t> &lt; 1')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1 &amp; (</a:t>
            </a:r>
            <a:r>
              <a:rPr lang="en-US" dirty="0" err="1"/>
              <a:t>crid</a:t>
            </a:r>
            <a:r>
              <a:rPr lang="en-US" dirty="0"/>
              <a:t> == "PIC2" or </a:t>
            </a:r>
            <a:r>
              <a:rPr lang="en-US" dirty="0" err="1"/>
              <a:t>crid</a:t>
            </a:r>
            <a:r>
              <a:rPr lang="en-US" dirty="0"/>
              <a:t> == "PID0"))') </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7</a:t>
            </a:fld>
            <a:endParaRPr lang="en-US"/>
          </a:p>
        </p:txBody>
      </p:sp>
    </p:spTree>
    <p:extLst>
      <p:ext uri="{BB962C8B-B14F-4D97-AF65-F5344CB8AC3E}">
        <p14:creationId xmlns:p14="http://schemas.microsoft.com/office/powerpoint/2010/main" val="2991179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2 &amp; </a:t>
            </a:r>
            <a:r>
              <a:rPr lang="en-US" dirty="0" err="1"/>
              <a:t>ice_clim_f</a:t>
            </a:r>
            <a:r>
              <a:rPr lang="en-US" dirty="0"/>
              <a:t> &lt; 2')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3 &amp; (</a:t>
            </a:r>
            <a:r>
              <a:rPr lang="en-US" dirty="0" err="1"/>
              <a:t>crid</a:t>
            </a:r>
            <a:r>
              <a:rPr lang="en-US" dirty="0"/>
              <a:t> == "PIC2" or </a:t>
            </a:r>
            <a:r>
              <a:rPr lang="en-US" dirty="0" err="1"/>
              <a:t>crid</a:t>
            </a:r>
            <a:r>
              <a:rPr lang="en-US" dirty="0"/>
              <a:t> == "PID0"))') #lenient</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8</a:t>
            </a:fld>
            <a:endParaRPr lang="en-US"/>
          </a:p>
        </p:txBody>
      </p:sp>
    </p:spTree>
    <p:extLst>
      <p:ext uri="{BB962C8B-B14F-4D97-AF65-F5344CB8AC3E}">
        <p14:creationId xmlns:p14="http://schemas.microsoft.com/office/powerpoint/2010/main" val="3441130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1') #no worries about ice.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2  &amp; (</a:t>
            </a:r>
            <a:r>
              <a:rPr lang="en-US" dirty="0" err="1"/>
              <a:t>crid</a:t>
            </a:r>
            <a:r>
              <a:rPr lang="en-US" dirty="0"/>
              <a:t> == "PIC2" or </a:t>
            </a:r>
            <a:r>
              <a:rPr lang="en-US" dirty="0" err="1"/>
              <a:t>crid</a:t>
            </a:r>
            <a:r>
              <a:rPr lang="en-US" dirty="0"/>
              <a:t> == "PID0"))') #lenient. Allow suspect to remain</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9</a:t>
            </a:fld>
            <a:endParaRPr lang="en-US"/>
          </a:p>
        </p:txBody>
      </p:sp>
    </p:spTree>
    <p:extLst>
      <p:ext uri="{BB962C8B-B14F-4D97-AF65-F5344CB8AC3E}">
        <p14:creationId xmlns:p14="http://schemas.microsoft.com/office/powerpoint/2010/main" val="3960595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2') #no worries about ice.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1  &amp; (</a:t>
            </a:r>
            <a:r>
              <a:rPr lang="en-US" dirty="0" err="1"/>
              <a:t>crid</a:t>
            </a:r>
            <a:r>
              <a:rPr lang="en-US" dirty="0"/>
              <a:t> == "PIC2" or </a:t>
            </a:r>
            <a:r>
              <a:rPr lang="en-US" dirty="0" err="1"/>
              <a:t>crid</a:t>
            </a:r>
            <a:r>
              <a:rPr lang="en-US" dirty="0"/>
              <a:t> == "PID0"))') #lenient. Allow </a:t>
            </a:r>
            <a:r>
              <a:rPr lang="en-US" dirty="0" err="1"/>
              <a:t>xovr_cal_q</a:t>
            </a:r>
            <a:r>
              <a:rPr lang="en-US" dirty="0"/>
              <a:t> suspect to remain. </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10</a:t>
            </a:fld>
            <a:endParaRPr lang="en-US"/>
          </a:p>
        </p:txBody>
      </p:sp>
    </p:spTree>
    <p:extLst>
      <p:ext uri="{BB962C8B-B14F-4D97-AF65-F5344CB8AC3E}">
        <p14:creationId xmlns:p14="http://schemas.microsoft.com/office/powerpoint/2010/main" val="3273113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xovr_cal_q</a:t>
            </a:r>
            <a:r>
              <a:rPr lang="en-US" dirty="0"/>
              <a:t> = 0 &amp; </a:t>
            </a:r>
            <a:r>
              <a:rPr lang="en-US" dirty="0" err="1"/>
              <a:t>ice_clim_f</a:t>
            </a:r>
            <a:r>
              <a:rPr lang="en-US" dirty="0"/>
              <a:t> &lt;= 1 &amp; </a:t>
            </a:r>
            <a:r>
              <a:rPr lang="en-US" dirty="0" err="1"/>
              <a:t>quality_f</a:t>
            </a:r>
            <a:r>
              <a:rPr lang="en-US" dirty="0"/>
              <a:t> &lt;= 1. </a:t>
            </a:r>
          </a:p>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11</a:t>
            </a:fld>
            <a:endParaRPr lang="en-US"/>
          </a:p>
        </p:txBody>
      </p:sp>
    </p:spTree>
    <p:extLst>
      <p:ext uri="{BB962C8B-B14F-4D97-AF65-F5344CB8AC3E}">
        <p14:creationId xmlns:p14="http://schemas.microsoft.com/office/powerpoint/2010/main" val="3365952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a:t>
            </a:r>
            <a:r>
              <a:rPr lang="en-US" dirty="0"/>
              <a:t>[ (</a:t>
            </a:r>
            <a:r>
              <a:rPr lang="en-US" dirty="0" err="1"/>
              <a:t>df_cleaned</a:t>
            </a:r>
            <a:r>
              <a:rPr lang="en-US" dirty="0"/>
              <a:t>['</a:t>
            </a:r>
            <a:r>
              <a:rPr lang="en-US" dirty="0" err="1"/>
              <a:t>wse_std</a:t>
            </a:r>
            <a:r>
              <a:rPr lang="en-US" dirty="0"/>
              <a:t>'] &lt;= </a:t>
            </a:r>
            <a:r>
              <a:rPr lang="en-US" dirty="0" err="1"/>
              <a:t>wse_std_threshold</a:t>
            </a:r>
            <a:r>
              <a:rPr lang="en-US" dirty="0"/>
              <a:t>)]  </a:t>
            </a:r>
          </a:p>
          <a:p>
            <a:r>
              <a:rPr lang="en-US" dirty="0" err="1"/>
              <a:t>df_cleaned</a:t>
            </a:r>
            <a:r>
              <a:rPr lang="en-US" dirty="0"/>
              <a:t> = </a:t>
            </a:r>
            <a:r>
              <a:rPr lang="en-US" dirty="0" err="1"/>
              <a:t>df_cleaned</a:t>
            </a:r>
            <a:r>
              <a:rPr lang="en-US" dirty="0"/>
              <a:t>[ </a:t>
            </a:r>
            <a:r>
              <a:rPr lang="en-US" dirty="0" err="1"/>
              <a:t>df_cleaned</a:t>
            </a:r>
            <a:r>
              <a:rPr lang="en-US" dirty="0"/>
              <a:t>['</a:t>
            </a:r>
            <a:r>
              <a:rPr lang="en-US" dirty="0" err="1"/>
              <a:t>wse_u</a:t>
            </a:r>
            <a:r>
              <a:rPr lang="en-US" dirty="0"/>
              <a:t>'] &lt;= </a:t>
            </a:r>
            <a:r>
              <a:rPr lang="en-US" dirty="0" err="1"/>
              <a:t>wse_u_threshold</a:t>
            </a:r>
            <a:r>
              <a:rPr lang="en-US" dirty="0"/>
              <a:t> ]  </a:t>
            </a:r>
          </a:p>
          <a:p>
            <a:r>
              <a:rPr lang="en-US" dirty="0" err="1"/>
              <a:t>df_cleaned</a:t>
            </a:r>
            <a:r>
              <a:rPr lang="en-US" dirty="0"/>
              <a:t> = </a:t>
            </a:r>
            <a:r>
              <a:rPr lang="en-US" dirty="0" err="1"/>
              <a:t>df_cleaned</a:t>
            </a:r>
            <a:r>
              <a:rPr lang="en-US" dirty="0"/>
              <a:t>[</a:t>
            </a:r>
            <a:r>
              <a:rPr lang="en-US" dirty="0" err="1"/>
              <a:t>df_cleaned</a:t>
            </a:r>
            <a:r>
              <a:rPr lang="en-US" dirty="0"/>
              <a:t>['</a:t>
            </a:r>
            <a:r>
              <a:rPr lang="en-US" dirty="0" err="1"/>
              <a:t>xovr_cal_q</a:t>
            </a:r>
            <a:r>
              <a:rPr lang="en-US" dirty="0"/>
              <a:t>'] &lt; 2]  </a:t>
            </a:r>
          </a:p>
          <a:p>
            <a:r>
              <a:rPr lang="en-US" dirty="0"/>
              <a:t>#Excluding </a:t>
            </a:r>
            <a:r>
              <a:rPr lang="en-US" dirty="0" err="1"/>
              <a:t>specular_rining_bad</a:t>
            </a:r>
            <a:r>
              <a:rPr lang="en-US" dirty="0"/>
              <a:t>, </a:t>
            </a:r>
            <a:r>
              <a:rPr lang="en-US" dirty="0" err="1"/>
              <a:t>xovr_cal_bad</a:t>
            </a:r>
            <a:r>
              <a:rPr lang="en-US" dirty="0"/>
              <a:t>, and </a:t>
            </a:r>
            <a:r>
              <a:rPr lang="en-US" dirty="0" err="1"/>
              <a:t>low_coh_bad</a:t>
            </a:r>
            <a:r>
              <a:rPr lang="en-US" dirty="0"/>
              <a:t>, but only applicable in PIC2 and PID0. For PIC0, do not use </a:t>
            </a:r>
            <a:r>
              <a:rPr lang="en-US" dirty="0" err="1"/>
              <a:t>quality_f</a:t>
            </a:r>
            <a:r>
              <a:rPr lang="en-US" dirty="0"/>
              <a:t> (which only contains 0 and 1)</a:t>
            </a:r>
          </a:p>
          <a:p>
            <a:r>
              <a:rPr lang="en-US" dirty="0" err="1"/>
              <a:t>df_cleaned</a:t>
            </a:r>
            <a:r>
              <a:rPr lang="en-US" dirty="0"/>
              <a:t> = </a:t>
            </a:r>
            <a:r>
              <a:rPr lang="en-US" dirty="0" err="1"/>
              <a:t>df_cleaned</a:t>
            </a:r>
            <a:r>
              <a:rPr lang="en-US" dirty="0"/>
              <a:t>[</a:t>
            </a:r>
            <a:r>
              <a:rPr lang="en-US" dirty="0" err="1"/>
              <a:t>df_cleaned</a:t>
            </a:r>
            <a:r>
              <a:rPr lang="en-US" dirty="0"/>
              <a:t>['</a:t>
            </a:r>
            <a:r>
              <a:rPr lang="en-US" dirty="0" err="1"/>
              <a:t>quality_f</a:t>
            </a:r>
            <a:r>
              <a:rPr lang="en-US" dirty="0"/>
              <a:t>'] &lt; 3] </a:t>
            </a:r>
          </a:p>
        </p:txBody>
      </p:sp>
      <p:sp>
        <p:nvSpPr>
          <p:cNvPr id="4" name="Slide Number Placeholder 3"/>
          <p:cNvSpPr>
            <a:spLocks noGrp="1"/>
          </p:cNvSpPr>
          <p:nvPr>
            <p:ph type="sldNum" sz="quarter" idx="5"/>
          </p:nvPr>
        </p:nvSpPr>
        <p:spPr/>
        <p:txBody>
          <a:bodyPr/>
          <a:lstStyle/>
          <a:p>
            <a:fld id="{9CE0A1AD-6C91-4971-839D-5990FF478C78}" type="slidenum">
              <a:rPr lang="en-US" smtClean="0"/>
              <a:t>12</a:t>
            </a:fld>
            <a:endParaRPr lang="en-US"/>
          </a:p>
        </p:txBody>
      </p:sp>
    </p:spTree>
    <p:extLst>
      <p:ext uri="{BB962C8B-B14F-4D97-AF65-F5344CB8AC3E}">
        <p14:creationId xmlns:p14="http://schemas.microsoft.com/office/powerpoint/2010/main" val="2852304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Savitzky-Golay</a:t>
            </a:r>
            <a:r>
              <a:rPr lang="en-US" dirty="0"/>
              <a:t> Filter</a:t>
            </a:r>
          </a:p>
        </p:txBody>
      </p:sp>
      <p:sp>
        <p:nvSpPr>
          <p:cNvPr id="4" name="Slide Number Placeholder 3"/>
          <p:cNvSpPr>
            <a:spLocks noGrp="1"/>
          </p:cNvSpPr>
          <p:nvPr>
            <p:ph type="sldNum" sz="quarter" idx="5"/>
          </p:nvPr>
        </p:nvSpPr>
        <p:spPr/>
        <p:txBody>
          <a:bodyPr/>
          <a:lstStyle/>
          <a:p>
            <a:fld id="{9CE0A1AD-6C91-4971-839D-5990FF478C78}" type="slidenum">
              <a:rPr lang="en-US" smtClean="0"/>
              <a:t>13</a:t>
            </a:fld>
            <a:endParaRPr lang="en-US"/>
          </a:p>
        </p:txBody>
      </p:sp>
    </p:spTree>
    <p:extLst>
      <p:ext uri="{BB962C8B-B14F-4D97-AF65-F5344CB8AC3E}">
        <p14:creationId xmlns:p14="http://schemas.microsoft.com/office/powerpoint/2010/main" val="3201000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Evaluated on selected data</a:t>
            </a:r>
          </a:p>
        </p:txBody>
      </p:sp>
      <p:sp>
        <p:nvSpPr>
          <p:cNvPr id="4" name="Slide Number Placeholder 3"/>
          <p:cNvSpPr>
            <a:spLocks noGrp="1"/>
          </p:cNvSpPr>
          <p:nvPr>
            <p:ph type="sldNum" sz="quarter" idx="5"/>
          </p:nvPr>
        </p:nvSpPr>
        <p:spPr/>
        <p:txBody>
          <a:bodyPr/>
          <a:lstStyle/>
          <a:p>
            <a:fld id="{9CE0A1AD-6C91-4971-839D-5990FF478C78}" type="slidenum">
              <a:rPr lang="en-US" smtClean="0"/>
              <a:t>15</a:t>
            </a:fld>
            <a:endParaRPr lang="en-US"/>
          </a:p>
        </p:txBody>
      </p:sp>
    </p:spTree>
    <p:extLst>
      <p:ext uri="{BB962C8B-B14F-4D97-AF65-F5344CB8AC3E}">
        <p14:creationId xmlns:p14="http://schemas.microsoft.com/office/powerpoint/2010/main" val="3160249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Evaluated on all data</a:t>
            </a:r>
          </a:p>
        </p:txBody>
      </p:sp>
      <p:sp>
        <p:nvSpPr>
          <p:cNvPr id="4" name="Slide Number Placeholder 3"/>
          <p:cNvSpPr>
            <a:spLocks noGrp="1"/>
          </p:cNvSpPr>
          <p:nvPr>
            <p:ph type="sldNum" sz="quarter" idx="5"/>
          </p:nvPr>
        </p:nvSpPr>
        <p:spPr/>
        <p:txBody>
          <a:bodyPr/>
          <a:lstStyle/>
          <a:p>
            <a:fld id="{9CE0A1AD-6C91-4971-839D-5990FF478C78}" type="slidenum">
              <a:rPr lang="en-US" smtClean="0"/>
              <a:t>16</a:t>
            </a:fld>
            <a:endParaRPr lang="en-US"/>
          </a:p>
        </p:txBody>
      </p:sp>
    </p:spTree>
    <p:extLst>
      <p:ext uri="{BB962C8B-B14F-4D97-AF65-F5344CB8AC3E}">
        <p14:creationId xmlns:p14="http://schemas.microsoft.com/office/powerpoint/2010/main" val="2906031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17</a:t>
            </a:fld>
            <a:endParaRPr lang="en-US"/>
          </a:p>
        </p:txBody>
      </p:sp>
    </p:spTree>
    <p:extLst>
      <p:ext uri="{BB962C8B-B14F-4D97-AF65-F5344CB8AC3E}">
        <p14:creationId xmlns:p14="http://schemas.microsoft.com/office/powerpoint/2010/main" val="103831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0556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8461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8112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1009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5909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27</a:t>
            </a:fld>
            <a:endParaRPr lang="en-US"/>
          </a:p>
        </p:txBody>
      </p:sp>
    </p:spTree>
    <p:extLst>
      <p:ext uri="{BB962C8B-B14F-4D97-AF65-F5344CB8AC3E}">
        <p14:creationId xmlns:p14="http://schemas.microsoft.com/office/powerpoint/2010/main" val="3671982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28</a:t>
            </a:fld>
            <a:endParaRPr lang="en-US"/>
          </a:p>
        </p:txBody>
      </p:sp>
    </p:spTree>
    <p:extLst>
      <p:ext uri="{BB962C8B-B14F-4D97-AF65-F5344CB8AC3E}">
        <p14:creationId xmlns:p14="http://schemas.microsoft.com/office/powerpoint/2010/main" val="479033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3.7205749972021973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0.5286440426665399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0.5420948491031606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0.3104395100970873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14.132891092434878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2.1428431506242482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3.3088307316415544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0.4990750408727158</a:t>
            </a:r>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29</a:t>
            </a:fld>
            <a:endParaRPr lang="en-US"/>
          </a:p>
        </p:txBody>
      </p:sp>
    </p:spTree>
    <p:extLst>
      <p:ext uri="{BB962C8B-B14F-4D97-AF65-F5344CB8AC3E}">
        <p14:creationId xmlns:p14="http://schemas.microsoft.com/office/powerpoint/2010/main" val="15400993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 = (</a:t>
            </a:r>
            <a:r>
              <a:rPr lang="en-US" dirty="0" err="1"/>
              <a:t>SWOT_error</a:t>
            </a:r>
            <a:r>
              <a:rPr lang="en-US" dirty="0"/>
              <a:t> &lt; 30 ) &amp; (X_RF['</a:t>
            </a:r>
            <a:r>
              <a:rPr lang="en-US" dirty="0" err="1"/>
              <a:t>ice_clim_f</a:t>
            </a:r>
            <a:r>
              <a:rPr lang="en-US" dirty="0"/>
              <a:t>'] &gt;= 0)</a:t>
            </a:r>
          </a:p>
          <a:p>
            <a:endParaRPr lang="en-US" b="0" dirty="0"/>
          </a:p>
          <a:p>
            <a:r>
              <a:rPr lang="en-US" b="0" dirty="0"/>
              <a:t>In scikit-</a:t>
            </a:r>
            <a:r>
              <a:rPr lang="en-US" b="0" dirty="0" err="1"/>
              <a:t>learn’s</a:t>
            </a:r>
            <a:r>
              <a:rPr lang="en-US" b="0" dirty="0"/>
              <a:t> Partial Dependence Plot (PDP), those longer tick marks on the x-axis aren’t random — they mark the actual feature values present in your training data that were used when computing the PDP curve.</a:t>
            </a:r>
          </a:p>
          <a:p>
            <a:r>
              <a:rPr lang="en-US" b="0" dirty="0"/>
              <a:t>Not necessarily all unique values — they represent the grid points that scikit-learn actually used to compute the partial dependence, and that grid is based on the unique values in your training data, but often it’s a subset.</a:t>
            </a:r>
          </a:p>
          <a:p>
            <a:r>
              <a:rPr lang="en-US" b="0" dirty="0"/>
              <a:t>Meaning of the long ticks</a:t>
            </a:r>
          </a:p>
          <a:p>
            <a:pPr>
              <a:buFont typeface="Arial" panose="020B0604020202020204" pitchFamily="34" charset="0"/>
              <a:buChar char="•"/>
            </a:pPr>
            <a:r>
              <a:rPr lang="en-US" b="0" dirty="0"/>
              <a:t>If your feature is categorical or has few unique numeric values:</a:t>
            </a:r>
            <a:br>
              <a:rPr lang="en-US" b="0" dirty="0"/>
            </a:br>
            <a:r>
              <a:rPr lang="en-US" b="0" dirty="0"/>
              <a:t>Long ticks will likely represent all unique values.</a:t>
            </a:r>
          </a:p>
          <a:p>
            <a:pPr>
              <a:buFont typeface="Arial" panose="020B0604020202020204" pitchFamily="34" charset="0"/>
              <a:buChar char="•"/>
            </a:pPr>
            <a:r>
              <a:rPr lang="en-US" b="0" dirty="0"/>
              <a:t>If your feature is continuous with many unique values:</a:t>
            </a:r>
            <a:br>
              <a:rPr lang="en-US" b="0" dirty="0"/>
            </a:br>
            <a:r>
              <a:rPr lang="en-US" b="0" dirty="0"/>
              <a:t>Long ticks will be the sampled grid points (not all unique values).</a:t>
            </a:r>
          </a:p>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37</a:t>
            </a:fld>
            <a:endParaRPr lang="en-US"/>
          </a:p>
        </p:txBody>
      </p:sp>
    </p:spTree>
    <p:extLst>
      <p:ext uri="{BB962C8B-B14F-4D97-AF65-F5344CB8AC3E}">
        <p14:creationId xmlns:p14="http://schemas.microsoft.com/office/powerpoint/2010/main" val="121658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RF feature importance using all errors: </a:t>
            </a:r>
            <a:r>
              <a:rPr lang="es-ES" dirty="0"/>
              <a:t>(</a:t>
            </a:r>
            <a:r>
              <a:rPr lang="es-ES" dirty="0" err="1"/>
              <a:t>SWOT_error</a:t>
            </a:r>
            <a:r>
              <a:rPr lang="es-ES" dirty="0"/>
              <a:t> &gt;= 0) &amp; (X_RF['</a:t>
            </a:r>
            <a:r>
              <a:rPr lang="es-ES" dirty="0" err="1"/>
              <a:t>ice_clim_f</a:t>
            </a:r>
            <a:r>
              <a:rPr lang="es-ES" dirty="0"/>
              <a:t>'] &gt;= 0)</a:t>
            </a:r>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38</a:t>
            </a:fld>
            <a:endParaRPr lang="en-US"/>
          </a:p>
        </p:txBody>
      </p:sp>
    </p:spTree>
    <p:extLst>
      <p:ext uri="{BB962C8B-B14F-4D97-AF65-F5344CB8AC3E}">
        <p14:creationId xmlns:p14="http://schemas.microsoft.com/office/powerpoint/2010/main" val="1984789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Updated RF feature </a:t>
            </a:r>
            <a:r>
              <a:rPr lang="en-US" dirty="0" err="1"/>
              <a:t>depende</a:t>
            </a:r>
            <a:r>
              <a:rPr lang="en-US" dirty="0"/>
              <a:t> using all errors: </a:t>
            </a:r>
            <a:r>
              <a:rPr lang="es-ES" dirty="0"/>
              <a:t>(</a:t>
            </a:r>
            <a:r>
              <a:rPr lang="es-ES" dirty="0" err="1"/>
              <a:t>SWOT_error</a:t>
            </a:r>
            <a:r>
              <a:rPr lang="es-ES" dirty="0"/>
              <a:t> &gt;= 0) &amp; (X_RF['</a:t>
            </a:r>
            <a:r>
              <a:rPr lang="es-ES" dirty="0" err="1"/>
              <a:t>ice_clim_f</a:t>
            </a:r>
            <a:r>
              <a:rPr lang="es-ES" dirty="0"/>
              <a:t>'] &gt;= 0)</a:t>
            </a:r>
            <a:endParaRPr lang="en-US" dirty="0"/>
          </a:p>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39</a:t>
            </a:fld>
            <a:endParaRPr lang="en-US"/>
          </a:p>
        </p:txBody>
      </p:sp>
    </p:spTree>
    <p:extLst>
      <p:ext uri="{BB962C8B-B14F-4D97-AF65-F5344CB8AC3E}">
        <p14:creationId xmlns:p14="http://schemas.microsoft.com/office/powerpoint/2010/main" val="42589572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3.7205749972021973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0.5286440426665399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0.5420948491031606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0.3104395100970873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14.132891092434878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2.1428431506242482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3.3088307316415544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0.4990750408727158</a:t>
            </a:r>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40</a:t>
            </a:fld>
            <a:endParaRPr lang="en-US"/>
          </a:p>
        </p:txBody>
      </p:sp>
    </p:spTree>
    <p:extLst>
      <p:ext uri="{BB962C8B-B14F-4D97-AF65-F5344CB8AC3E}">
        <p14:creationId xmlns:p14="http://schemas.microsoft.com/office/powerpoint/2010/main" val="1540099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t>
            </a:r>
            <a:r>
              <a:rPr lang="en-US" dirty="0" err="1"/>
              <a:t>xtrk_dist</a:t>
            </a:r>
            <a:endParaRPr lang="en-US" dirty="0"/>
          </a:p>
          <a:p>
            <a:r>
              <a:rPr lang="en-US" dirty="0"/>
              <a:t>3.610950278993773</a:t>
            </a:r>
          </a:p>
          <a:p>
            <a:r>
              <a:rPr lang="en-US" dirty="0"/>
              <a:t>0.531408376085037</a:t>
            </a:r>
          </a:p>
          <a:p>
            <a:r>
              <a:rPr lang="en-US" dirty="0"/>
              <a:t>0.5340549107520951</a:t>
            </a:r>
          </a:p>
          <a:p>
            <a:r>
              <a:rPr lang="en-US" dirty="0"/>
              <a:t>0.3116192984023878</a:t>
            </a:r>
          </a:p>
          <a:p>
            <a:r>
              <a:rPr lang="en-US" dirty="0"/>
              <a:t>1.190980727874294</a:t>
            </a:r>
          </a:p>
          <a:p>
            <a:r>
              <a:rPr lang="en-US" dirty="0"/>
              <a:t>0.29002954108654233</a:t>
            </a:r>
          </a:p>
          <a:p>
            <a:r>
              <a:rPr lang="en-US" dirty="0"/>
              <a:t>0.20384483337537843</a:t>
            </a:r>
          </a:p>
          <a:p>
            <a:r>
              <a:rPr lang="en-US" dirty="0"/>
              <a:t>0.12942378331049856</a:t>
            </a:r>
          </a:p>
          <a:p>
            <a:r>
              <a:rPr lang="en-US" dirty="0"/>
              <a:t>13.21192469595705</a:t>
            </a:r>
          </a:p>
          <a:p>
            <a:r>
              <a:rPr lang="en-US" dirty="0"/>
              <a:t>2.145775715742798</a:t>
            </a:r>
          </a:p>
          <a:p>
            <a:r>
              <a:rPr lang="en-US" dirty="0"/>
              <a:t>3.1752643403752003</a:t>
            </a:r>
          </a:p>
          <a:p>
            <a:r>
              <a:rPr lang="en-US" dirty="0"/>
              <a:t>0.584689252079969</a:t>
            </a:r>
          </a:p>
        </p:txBody>
      </p:sp>
      <p:sp>
        <p:nvSpPr>
          <p:cNvPr id="4" name="Slide Number Placeholder 3"/>
          <p:cNvSpPr>
            <a:spLocks noGrp="1"/>
          </p:cNvSpPr>
          <p:nvPr>
            <p:ph type="sldNum" sz="quarter" idx="5"/>
          </p:nvPr>
        </p:nvSpPr>
        <p:spPr/>
        <p:txBody>
          <a:bodyPr/>
          <a:lstStyle/>
          <a:p>
            <a:fld id="{9CE0A1AD-6C91-4971-839D-5990FF478C78}" type="slidenum">
              <a:rPr lang="en-US" smtClean="0"/>
              <a:t>41</a:t>
            </a:fld>
            <a:endParaRPr lang="en-US"/>
          </a:p>
        </p:txBody>
      </p:sp>
    </p:spTree>
    <p:extLst>
      <p:ext uri="{BB962C8B-B14F-4D97-AF65-F5344CB8AC3E}">
        <p14:creationId xmlns:p14="http://schemas.microsoft.com/office/powerpoint/2010/main" val="42325707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 of lakes passing the criteria of the customized filter: 0.8371428571428572</a:t>
            </a:r>
          </a:p>
          <a:p>
            <a:r>
              <a:rPr lang="en-US" dirty="0"/>
              <a:t>3.4512940456103793</a:t>
            </a:r>
          </a:p>
          <a:p>
            <a:r>
              <a:rPr lang="en-US" dirty="0"/>
              <a:t>0.4991326142911042</a:t>
            </a:r>
          </a:p>
          <a:p>
            <a:r>
              <a:rPr lang="en-US" dirty="0"/>
              <a:t>0.4976839858050733</a:t>
            </a:r>
          </a:p>
          <a:p>
            <a:r>
              <a:rPr lang="en-US" dirty="0"/>
              <a:t>0.2778909976491113</a:t>
            </a:r>
          </a:p>
          <a:p>
            <a:r>
              <a:rPr lang="en-US" dirty="0"/>
              <a:t>1.017177239661973</a:t>
            </a:r>
          </a:p>
          <a:p>
            <a:r>
              <a:rPr lang="en-US" dirty="0"/>
              <a:t>0.28283370920856127</a:t>
            </a:r>
          </a:p>
          <a:p>
            <a:r>
              <a:rPr lang="en-US" dirty="0"/>
              <a:t>0.2058400716803469</a:t>
            </a:r>
          </a:p>
          <a:p>
            <a:r>
              <a:rPr lang="en-US" dirty="0"/>
              <a:t>0.11792237470355885</a:t>
            </a:r>
          </a:p>
          <a:p>
            <a:r>
              <a:rPr lang="en-US" dirty="0"/>
              <a:t>12.921772848352987</a:t>
            </a:r>
          </a:p>
          <a:p>
            <a:r>
              <a:rPr lang="en-US" dirty="0"/>
              <a:t>1.821060831415198</a:t>
            </a:r>
          </a:p>
          <a:p>
            <a:r>
              <a:rPr lang="en-US" dirty="0"/>
              <a:t>2.870975236409621</a:t>
            </a:r>
          </a:p>
          <a:p>
            <a:r>
              <a:rPr lang="en-US" dirty="0"/>
              <a:t>0.5597415164524991</a:t>
            </a:r>
          </a:p>
        </p:txBody>
      </p:sp>
      <p:sp>
        <p:nvSpPr>
          <p:cNvPr id="4" name="Slide Number Placeholder 3"/>
          <p:cNvSpPr>
            <a:spLocks noGrp="1"/>
          </p:cNvSpPr>
          <p:nvPr>
            <p:ph type="sldNum" sz="quarter" idx="5"/>
          </p:nvPr>
        </p:nvSpPr>
        <p:spPr/>
        <p:txBody>
          <a:bodyPr/>
          <a:lstStyle/>
          <a:p>
            <a:fld id="{9CE0A1AD-6C91-4971-839D-5990FF478C78}" type="slidenum">
              <a:rPr lang="en-US" smtClean="0"/>
              <a:t>44</a:t>
            </a:fld>
            <a:endParaRPr lang="en-US"/>
          </a:p>
        </p:txBody>
      </p:sp>
    </p:spTree>
    <p:extLst>
      <p:ext uri="{BB962C8B-B14F-4D97-AF65-F5344CB8AC3E}">
        <p14:creationId xmlns:p14="http://schemas.microsoft.com/office/powerpoint/2010/main" val="3738341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 of lakes passing the criteria of the customized filter: 0.8552380952380952</a:t>
            </a:r>
          </a:p>
          <a:p>
            <a:r>
              <a:rPr lang="en-US" dirty="0"/>
              <a:t>3.5061473336456905</a:t>
            </a:r>
          </a:p>
          <a:p>
            <a:r>
              <a:rPr lang="en-US" dirty="0"/>
              <a:t>0.49914892431438235</a:t>
            </a:r>
          </a:p>
          <a:p>
            <a:r>
              <a:rPr lang="en-US" dirty="0"/>
              <a:t>0.5046458968251535</a:t>
            </a:r>
          </a:p>
          <a:p>
            <a:r>
              <a:rPr lang="en-US" dirty="0"/>
              <a:t>0.27648569196453615</a:t>
            </a:r>
          </a:p>
          <a:p>
            <a:r>
              <a:rPr lang="en-US" dirty="0"/>
              <a:t>1.023819829798744</a:t>
            </a:r>
          </a:p>
          <a:p>
            <a:r>
              <a:rPr lang="en-US" dirty="0"/>
              <a:t>0.284038410618436</a:t>
            </a:r>
          </a:p>
          <a:p>
            <a:r>
              <a:rPr lang="en-US" dirty="0"/>
              <a:t>0.212531605036356</a:t>
            </a:r>
          </a:p>
          <a:p>
            <a:r>
              <a:rPr lang="en-US" dirty="0"/>
              <a:t>0.11851097031086753</a:t>
            </a:r>
          </a:p>
          <a:p>
            <a:r>
              <a:rPr lang="en-US" dirty="0"/>
              <a:t>13.169325210866075</a:t>
            </a:r>
          </a:p>
          <a:p>
            <a:r>
              <a:rPr lang="en-US" dirty="0"/>
              <a:t>1.8370854777355325</a:t>
            </a:r>
          </a:p>
          <a:p>
            <a:r>
              <a:rPr lang="en-US" dirty="0"/>
              <a:t>3.0083795997963962</a:t>
            </a:r>
          </a:p>
          <a:p>
            <a:r>
              <a:rPr lang="en-US" dirty="0"/>
              <a:t>0.4775111859639161</a:t>
            </a:r>
          </a:p>
        </p:txBody>
      </p:sp>
      <p:sp>
        <p:nvSpPr>
          <p:cNvPr id="4" name="Slide Number Placeholder 3"/>
          <p:cNvSpPr>
            <a:spLocks noGrp="1"/>
          </p:cNvSpPr>
          <p:nvPr>
            <p:ph type="sldNum" sz="quarter" idx="5"/>
          </p:nvPr>
        </p:nvSpPr>
        <p:spPr/>
        <p:txBody>
          <a:bodyPr/>
          <a:lstStyle/>
          <a:p>
            <a:fld id="{9CE0A1AD-6C91-4971-839D-5990FF478C78}" type="slidenum">
              <a:rPr lang="en-US" smtClean="0"/>
              <a:t>45</a:t>
            </a:fld>
            <a:endParaRPr lang="en-US"/>
          </a:p>
        </p:txBody>
      </p:sp>
    </p:spTree>
    <p:extLst>
      <p:ext uri="{BB962C8B-B14F-4D97-AF65-F5344CB8AC3E}">
        <p14:creationId xmlns:p14="http://schemas.microsoft.com/office/powerpoint/2010/main" val="241834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4AE94-D4E6-43BF-E9F7-26C10033A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83353-288E-0703-760C-002CFC7CB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4F78C-6F17-6C2B-1749-FA4AE5253F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81AB10-138E-9591-B9C9-4C7F15CA71CD}"/>
              </a:ext>
            </a:extLst>
          </p:cNvPr>
          <p:cNvSpPr>
            <a:spLocks noGrp="1"/>
          </p:cNvSpPr>
          <p:nvPr>
            <p:ph type="sldNum" sz="quarter" idx="5"/>
          </p:nvPr>
        </p:nvSpPr>
        <p:spPr/>
        <p:txBody>
          <a:bodyPr/>
          <a:lstStyle/>
          <a:p>
            <a:fld id="{9CE0A1AD-6C91-4971-839D-5990FF478C78}" type="slidenum">
              <a:rPr lang="en-US" smtClean="0"/>
              <a:t>48</a:t>
            </a:fld>
            <a:endParaRPr lang="en-US"/>
          </a:p>
        </p:txBody>
      </p:sp>
    </p:spTree>
    <p:extLst>
      <p:ext uri="{BB962C8B-B14F-4D97-AF65-F5344CB8AC3E}">
        <p14:creationId xmlns:p14="http://schemas.microsoft.com/office/powerpoint/2010/main" val="1831171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D44E-91C0-57BE-FE77-3F41A4D8C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E2C13-539A-280E-AF6D-18D94CE19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472E92-D729-5BD4-2D05-1B0536DD87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967C55-6E98-0F46-8ACF-4713530DC6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8801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FAF0C-0185-8588-DDD3-926F330FB1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1297B8-AF73-B1C8-D0A9-A5C90B14EB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ACDEE8-C246-6F1E-042F-29BC1031F362}"/>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5" name="Footer Placeholder 4">
            <a:extLst>
              <a:ext uri="{FF2B5EF4-FFF2-40B4-BE49-F238E27FC236}">
                <a16:creationId xmlns:a16="http://schemas.microsoft.com/office/drawing/2014/main" id="{33288D24-FFE3-EBB0-A1C6-D4B1863F5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478FC7-491B-7063-6E5F-795AC8730660}"/>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224038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BA8E-CCC3-1D00-0CC3-8E815B5F7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5FA508-4452-A93A-3D97-0E539E8D2D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3F536-8F25-998A-9E64-EFAFE764F3CB}"/>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5" name="Footer Placeholder 4">
            <a:extLst>
              <a:ext uri="{FF2B5EF4-FFF2-40B4-BE49-F238E27FC236}">
                <a16:creationId xmlns:a16="http://schemas.microsoft.com/office/drawing/2014/main" id="{E3D8F0E6-B21C-2071-723D-661F3D590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374B64-9288-14A8-6AF2-A9800DB505FD}"/>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391853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BF850-68DE-E358-265E-407373A152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EB2E1A-5B55-D53F-DE09-709EB3F1D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198665-518A-E308-D6EB-4AE43E5E679A}"/>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5" name="Footer Placeholder 4">
            <a:extLst>
              <a:ext uri="{FF2B5EF4-FFF2-40B4-BE49-F238E27FC236}">
                <a16:creationId xmlns:a16="http://schemas.microsoft.com/office/drawing/2014/main" id="{28794611-DA91-FDF8-5CA2-FCECA1B86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BDBD20-EC6D-D534-7F9D-18BFC65C694A}"/>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1568652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EE06D-0736-7C65-461B-9D548B556E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8AB4E7-6DF2-0C85-241C-FCFCBFCC39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0E9D6C-6DB1-14C0-D550-F4EB3690E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184DD4-9486-A736-867C-413893FE66FA}"/>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6" name="Footer Placeholder 5">
            <a:extLst>
              <a:ext uri="{FF2B5EF4-FFF2-40B4-BE49-F238E27FC236}">
                <a16:creationId xmlns:a16="http://schemas.microsoft.com/office/drawing/2014/main" id="{7002B638-A63D-AE10-7592-330E611B7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B7CAC4-546E-FDAF-1056-B481E6A058E3}"/>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94022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12D45-2380-07BD-8FC7-74E4FCC85B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BED10F-BC38-3006-DBB6-94D37156E1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70BC19-9D67-1FC7-7C7F-B6FA630EB0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1176E4-7499-1B96-CC67-14D1BEA649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32177-6EF6-9A10-6909-656ECEBE08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F43BD-EE37-E13B-B534-6822206A6CAD}"/>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8" name="Footer Placeholder 7">
            <a:extLst>
              <a:ext uri="{FF2B5EF4-FFF2-40B4-BE49-F238E27FC236}">
                <a16:creationId xmlns:a16="http://schemas.microsoft.com/office/drawing/2014/main" id="{2B8350D5-8FE1-E96D-C349-BE83CA1D97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9E0101-8EFC-F948-5613-9A49E6936E03}"/>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107698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EDCC-801E-6973-0D04-E41766F066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6A5E46-235E-811E-4E86-19EE7F0B8AE7}"/>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4" name="Footer Placeholder 3">
            <a:extLst>
              <a:ext uri="{FF2B5EF4-FFF2-40B4-BE49-F238E27FC236}">
                <a16:creationId xmlns:a16="http://schemas.microsoft.com/office/drawing/2014/main" id="{23EFF10A-9908-811F-222F-AA0C3819F8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068062-4BC3-C95F-5A32-1365F607F301}"/>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502180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296E7-02BE-12B6-5E6B-A31C1AEDD762}"/>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3" name="Footer Placeholder 2">
            <a:extLst>
              <a:ext uri="{FF2B5EF4-FFF2-40B4-BE49-F238E27FC236}">
                <a16:creationId xmlns:a16="http://schemas.microsoft.com/office/drawing/2014/main" id="{A9441264-1A34-D0FE-193D-266DD46441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0E826D-ABB6-92EB-9109-5A075E723228}"/>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589359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A0E5-9A40-8104-22BD-0E7EFBE078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85A278-AC42-16A0-F61D-D2FFCBAD8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6EA3D3-B09F-AFDC-F0B8-338D18F9C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456C0A-16EC-70C3-E732-4E064D19CAB5}"/>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6" name="Footer Placeholder 5">
            <a:extLst>
              <a:ext uri="{FF2B5EF4-FFF2-40B4-BE49-F238E27FC236}">
                <a16:creationId xmlns:a16="http://schemas.microsoft.com/office/drawing/2014/main" id="{B04BB11E-DA3C-9215-E116-984C3BDF4D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FD85A8-C8A0-9B1A-7952-BC15C338BB4E}"/>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004435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3DFA2-8303-DC27-D8BD-CFDD141C6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ED9CB7-9CDD-8ACD-0000-F38F2B32A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5999F0-4331-B6A9-612E-A306150D75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26D54-DCF4-065D-8625-E8A5F85FD972}"/>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6" name="Footer Placeholder 5">
            <a:extLst>
              <a:ext uri="{FF2B5EF4-FFF2-40B4-BE49-F238E27FC236}">
                <a16:creationId xmlns:a16="http://schemas.microsoft.com/office/drawing/2014/main" id="{8904E65C-00A9-4972-03F3-A75064441C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F42388-5538-627F-C727-788502232C15}"/>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188480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BEA12-58E4-67EA-ADB1-8C6073B970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ADF650-8AEA-94D9-B118-42AD1D4034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17C01-7DAA-FB77-227C-0D4721CA4205}"/>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5" name="Footer Placeholder 4">
            <a:extLst>
              <a:ext uri="{FF2B5EF4-FFF2-40B4-BE49-F238E27FC236}">
                <a16:creationId xmlns:a16="http://schemas.microsoft.com/office/drawing/2014/main" id="{25F9800D-3DC5-83A2-7F3D-09E6ABC95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3286B-4B18-F84F-22C1-AB1C13753A9C}"/>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990271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5A3FF-3DE7-7AAC-FBFB-A2D9AA8A4E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AD9F0B-C400-63EE-A795-8273934B20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73707F-EA02-6D4F-E591-C37882BCB3AF}"/>
              </a:ext>
            </a:extLst>
          </p:cNvPr>
          <p:cNvSpPr>
            <a:spLocks noGrp="1"/>
          </p:cNvSpPr>
          <p:nvPr>
            <p:ph type="dt" sz="half" idx="10"/>
          </p:nvPr>
        </p:nvSpPr>
        <p:spPr/>
        <p:txBody>
          <a:bodyPr/>
          <a:lstStyle/>
          <a:p>
            <a:fld id="{3B347ED4-A50A-4338-B6C1-761C90F3337F}" type="datetimeFigureOut">
              <a:rPr lang="en-US" smtClean="0"/>
              <a:t>9/16/2025</a:t>
            </a:fld>
            <a:endParaRPr lang="en-US"/>
          </a:p>
        </p:txBody>
      </p:sp>
      <p:sp>
        <p:nvSpPr>
          <p:cNvPr id="5" name="Footer Placeholder 4">
            <a:extLst>
              <a:ext uri="{FF2B5EF4-FFF2-40B4-BE49-F238E27FC236}">
                <a16:creationId xmlns:a16="http://schemas.microsoft.com/office/drawing/2014/main" id="{4E91032D-2066-F233-4B51-52CD0E726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A4AB3-9559-6160-63E1-78B6A726BFC2}"/>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482222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TEXTE UN BLOC CLAIR">
    <p:bg>
      <p:bgPr>
        <a:solidFill>
          <a:schemeClr val="bg1"/>
        </a:solidFill>
        <a:effectLst/>
      </p:bgPr>
    </p:bg>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801105D2-529C-7586-24BA-3D38E0157693}"/>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0" name="Forme libre 9">
            <a:extLst>
              <a:ext uri="{FF2B5EF4-FFF2-40B4-BE49-F238E27FC236}">
                <a16:creationId xmlns:a16="http://schemas.microsoft.com/office/drawing/2014/main" id="{11F4BFF0-058D-CEAA-8346-9EE0F7CE4B74}"/>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Rectangle 5">
            <a:extLst>
              <a:ext uri="{FF2B5EF4-FFF2-40B4-BE49-F238E27FC236}">
                <a16:creationId xmlns:a16="http://schemas.microsoft.com/office/drawing/2014/main" id="{95F8F55C-6B31-40F9-44D8-26FD296A4120}"/>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dirty="0"/>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Espace réservé du texte 24">
            <a:extLst>
              <a:ext uri="{FF2B5EF4-FFF2-40B4-BE49-F238E27FC236}">
                <a16:creationId xmlns:a16="http://schemas.microsoft.com/office/drawing/2014/main" id="{E4A77AA8-24B0-C2C3-30D4-96FEB12BD698}"/>
              </a:ext>
            </a:extLst>
          </p:cNvPr>
          <p:cNvSpPr>
            <a:spLocks noGrp="1"/>
          </p:cNvSpPr>
          <p:nvPr>
            <p:ph type="body" sz="quarter" idx="17"/>
          </p:nvPr>
        </p:nvSpPr>
        <p:spPr>
          <a:xfrm>
            <a:off x="346075" y="1806575"/>
            <a:ext cx="11318875" cy="41846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7" name="Connecteur droit 6">
            <a:extLst>
              <a:ext uri="{FF2B5EF4-FFF2-40B4-BE49-F238E27FC236}">
                <a16:creationId xmlns:a16="http://schemas.microsoft.com/office/drawing/2014/main" id="{64A94391-FED4-246C-1469-B4F07D787A4C}"/>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35CD277E-DB30-EC03-EFE9-9C6AA29E31DD}"/>
              </a:ext>
            </a:extLst>
          </p:cNvPr>
          <p:cNvGrpSpPr/>
          <p:nvPr userDrawn="1"/>
        </p:nvGrpSpPr>
        <p:grpSpPr>
          <a:xfrm>
            <a:off x="1274524" y="6279025"/>
            <a:ext cx="517010" cy="449924"/>
            <a:chOff x="1301606" y="6252162"/>
            <a:chExt cx="462845" cy="402788"/>
          </a:xfrm>
          <a:solidFill>
            <a:srgbClr val="004F91"/>
          </a:solidFill>
        </p:grpSpPr>
        <p:sp>
          <p:nvSpPr>
            <p:cNvPr id="24" name="Forme libre 23">
              <a:extLst>
                <a:ext uri="{FF2B5EF4-FFF2-40B4-BE49-F238E27FC236}">
                  <a16:creationId xmlns:a16="http://schemas.microsoft.com/office/drawing/2014/main" id="{2213F842-C205-31AA-0CFA-7C4791C89CD3}"/>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6" name="Forme libre 25">
              <a:extLst>
                <a:ext uri="{FF2B5EF4-FFF2-40B4-BE49-F238E27FC236}">
                  <a16:creationId xmlns:a16="http://schemas.microsoft.com/office/drawing/2014/main" id="{8984FAD5-DD14-7D72-5A4C-CDD4492817C3}"/>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F0791A2E-9F2B-5F93-89A3-AAAF0E5CEC53}"/>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F67A0A11-B45B-CE3F-AA99-68A4865D48EC}"/>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9" name="Forme libre 28">
              <a:extLst>
                <a:ext uri="{FF2B5EF4-FFF2-40B4-BE49-F238E27FC236}">
                  <a16:creationId xmlns:a16="http://schemas.microsoft.com/office/drawing/2014/main" id="{AFCA0403-7F62-64F3-3CA3-5E570BD32AB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0" name="Forme libre 29">
              <a:extLst>
                <a:ext uri="{FF2B5EF4-FFF2-40B4-BE49-F238E27FC236}">
                  <a16:creationId xmlns:a16="http://schemas.microsoft.com/office/drawing/2014/main" id="{0AF1CAD3-C5AD-8CF0-6826-46020345805E}"/>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7" name="Espace réservé du pied de page 4">
            <a:extLst>
              <a:ext uri="{FF2B5EF4-FFF2-40B4-BE49-F238E27FC236}">
                <a16:creationId xmlns:a16="http://schemas.microsoft.com/office/drawing/2014/main" id="{8555F06C-3768-AD74-7B66-35407D2001A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15302256-A6B0-29BA-70BC-08E653A38F8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4" name="Connecteur droit 3">
            <a:extLst>
              <a:ext uri="{FF2B5EF4-FFF2-40B4-BE49-F238E27FC236}">
                <a16:creationId xmlns:a16="http://schemas.microsoft.com/office/drawing/2014/main" id="{0618B8D7-41CC-99AC-CA69-08B191D44C1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2880690E-CC14-65F7-FF5A-1319E5318E5B}"/>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510150830"/>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TITRE CLAIR">
    <p:bg>
      <p:bgPr>
        <a:solidFill>
          <a:schemeClr val="bg1"/>
        </a:solidFill>
        <a:effectLst/>
      </p:bgPr>
    </p:bg>
    <p:spTree>
      <p:nvGrpSpPr>
        <p:cNvPr id="1" name=""/>
        <p:cNvGrpSpPr/>
        <p:nvPr/>
      </p:nvGrpSpPr>
      <p:grpSpPr>
        <a:xfrm>
          <a:off x="0" y="0"/>
          <a:ext cx="0" cy="0"/>
          <a:chOff x="0" y="0"/>
          <a:chExt cx="0" cy="0"/>
        </a:xfrm>
      </p:grpSpPr>
      <p:sp>
        <p:nvSpPr>
          <p:cNvPr id="4" name="Forme libre 3">
            <a:extLst>
              <a:ext uri="{FF2B5EF4-FFF2-40B4-BE49-F238E27FC236}">
                <a16:creationId xmlns:a16="http://schemas.microsoft.com/office/drawing/2014/main" id="{75439E47-8237-1C3E-087B-62ADDA10250C}"/>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7" name="Forme libre 6">
            <a:extLst>
              <a:ext uri="{FF2B5EF4-FFF2-40B4-BE49-F238E27FC236}">
                <a16:creationId xmlns:a16="http://schemas.microsoft.com/office/drawing/2014/main" id="{1FDF3ECF-DCDA-FF80-3972-DABD4B5F7D78}"/>
              </a:ext>
            </a:extLst>
          </p:cNvPr>
          <p:cNvSpPr/>
          <p:nvPr userDrawn="1"/>
        </p:nvSpPr>
        <p:spPr>
          <a:xfrm>
            <a:off x="2273068" y="-7617"/>
            <a:ext cx="7690188" cy="6902506"/>
          </a:xfrm>
          <a:custGeom>
            <a:avLst/>
            <a:gdLst>
              <a:gd name="connsiteX0" fmla="*/ 1907151 w 7690188"/>
              <a:gd name="connsiteY0" fmla="*/ 0 h 6902506"/>
              <a:gd name="connsiteX1" fmla="*/ 5783037 w 7690188"/>
              <a:gd name="connsiteY1" fmla="*/ 0 h 6902506"/>
              <a:gd name="connsiteX2" fmla="*/ 5838915 w 7690188"/>
              <a:gd name="connsiteY2" fmla="*/ 32129 h 6902506"/>
              <a:gd name="connsiteX3" fmla="*/ 7690188 w 7690188"/>
              <a:gd name="connsiteY3" fmla="*/ 3320556 h 6902506"/>
              <a:gd name="connsiteX4" fmla="*/ 5341778 w 7690188"/>
              <a:gd name="connsiteY4" fmla="*/ 6863483 h 6902506"/>
              <a:gd name="connsiteX5" fmla="*/ 5242808 w 7690188"/>
              <a:gd name="connsiteY5" fmla="*/ 6902506 h 6902506"/>
              <a:gd name="connsiteX6" fmla="*/ 2447380 w 7690188"/>
              <a:gd name="connsiteY6" fmla="*/ 6902506 h 6902506"/>
              <a:gd name="connsiteX7" fmla="*/ 2348410 w 7690188"/>
              <a:gd name="connsiteY7" fmla="*/ 6863483 h 6902506"/>
              <a:gd name="connsiteX8" fmla="*/ 0 w 7690188"/>
              <a:gd name="connsiteY8" fmla="*/ 3320556 h 6902506"/>
              <a:gd name="connsiteX9" fmla="*/ 1851273 w 7690188"/>
              <a:gd name="connsiteY9" fmla="*/ 32129 h 6902506"/>
              <a:gd name="connsiteX10" fmla="*/ 1907151 w 7690188"/>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90188" h="6902506">
                <a:moveTo>
                  <a:pt x="1907151" y="0"/>
                </a:moveTo>
                <a:lnTo>
                  <a:pt x="5783037" y="0"/>
                </a:lnTo>
                <a:lnTo>
                  <a:pt x="5838915" y="32129"/>
                </a:lnTo>
                <a:cubicBezTo>
                  <a:pt x="6948797" y="706510"/>
                  <a:pt x="7690188" y="1926952"/>
                  <a:pt x="7690188" y="3320556"/>
                </a:cubicBezTo>
                <a:cubicBezTo>
                  <a:pt x="7690188" y="4913246"/>
                  <a:pt x="6721840" y="6279767"/>
                  <a:pt x="5341778" y="6863483"/>
                </a:cubicBezTo>
                <a:lnTo>
                  <a:pt x="5242808" y="6902506"/>
                </a:lnTo>
                <a:lnTo>
                  <a:pt x="2447380" y="6902506"/>
                </a:lnTo>
                <a:lnTo>
                  <a:pt x="2348410" y="6863483"/>
                </a:lnTo>
                <a:cubicBezTo>
                  <a:pt x="968348" y="6279767"/>
                  <a:pt x="0" y="4913246"/>
                  <a:pt x="0" y="3320556"/>
                </a:cubicBezTo>
                <a:cubicBezTo>
                  <a:pt x="0" y="1926952"/>
                  <a:pt x="741391" y="706510"/>
                  <a:pt x="1851273" y="32129"/>
                </a:cubicBezTo>
                <a:lnTo>
                  <a:pt x="1907151"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0" name="Forme libre 9">
            <a:extLst>
              <a:ext uri="{FF2B5EF4-FFF2-40B4-BE49-F238E27FC236}">
                <a16:creationId xmlns:a16="http://schemas.microsoft.com/office/drawing/2014/main" id="{5E1ADA71-974F-2E79-D5DC-AAA246A1C0D3}"/>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1" name="Rectangle 10">
            <a:extLst>
              <a:ext uri="{FF2B5EF4-FFF2-40B4-BE49-F238E27FC236}">
                <a16:creationId xmlns:a16="http://schemas.microsoft.com/office/drawing/2014/main" id="{3D1E8C99-0E22-5E8F-733D-4707573F72C1}"/>
              </a:ext>
            </a:extLst>
          </p:cNvPr>
          <p:cNvSpPr/>
          <p:nvPr userDrawn="1"/>
        </p:nvSpPr>
        <p:spPr>
          <a:xfrm>
            <a:off x="10947724" y="281949"/>
            <a:ext cx="819925" cy="870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Forme libre 11">
            <a:extLst>
              <a:ext uri="{FF2B5EF4-FFF2-40B4-BE49-F238E27FC236}">
                <a16:creationId xmlns:a16="http://schemas.microsoft.com/office/drawing/2014/main" id="{DF22C6D9-A177-2F78-2784-9AD26678D2FD}"/>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85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4" name="Ellipse 63">
            <a:extLst>
              <a:ext uri="{FF2B5EF4-FFF2-40B4-BE49-F238E27FC236}">
                <a16:creationId xmlns:a16="http://schemas.microsoft.com/office/drawing/2014/main" id="{51C69A67-D25C-D05D-50AB-F4BE0CDB8CBB}"/>
              </a:ext>
            </a:extLst>
          </p:cNvPr>
          <p:cNvSpPr/>
          <p:nvPr userDrawn="1"/>
        </p:nvSpPr>
        <p:spPr>
          <a:xfrm>
            <a:off x="308922" y="1889763"/>
            <a:ext cx="68829" cy="68829"/>
          </a:xfrm>
          <a:prstGeom prst="ellipse">
            <a:avLst/>
          </a:prstGeom>
          <a:solidFill>
            <a:schemeClr val="accent3"/>
          </a:solidFill>
          <a:ln>
            <a:noFill/>
          </a:ln>
          <a:effectLst>
            <a:glow rad="228600">
              <a:schemeClr val="accent3">
                <a:alpha val="19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ous-titre 2">
            <a:extLst>
              <a:ext uri="{FF2B5EF4-FFF2-40B4-BE49-F238E27FC236}">
                <a16:creationId xmlns:a16="http://schemas.microsoft.com/office/drawing/2014/main" id="{AB4A7A65-D6F9-6CCE-CA6B-545C1A461CDF}"/>
              </a:ext>
            </a:extLst>
          </p:cNvPr>
          <p:cNvSpPr>
            <a:spLocks noGrp="1"/>
          </p:cNvSpPr>
          <p:nvPr>
            <p:ph type="subTitle" idx="1" hasCustomPrompt="1"/>
          </p:nvPr>
        </p:nvSpPr>
        <p:spPr>
          <a:xfrm>
            <a:off x="690715" y="3234562"/>
            <a:ext cx="10617120" cy="1655762"/>
          </a:xfrm>
        </p:spPr>
        <p:txBody>
          <a:bodyPr>
            <a:noAutofit/>
          </a:bodyPr>
          <a:lstStyle>
            <a:lvl1pPr marL="0" indent="0" algn="ctr">
              <a:buNone/>
              <a:defRPr sz="6000" cap="all" baseline="0">
                <a:ln w="15875">
                  <a:noFill/>
                </a:ln>
                <a:gradFill>
                  <a:gsLst>
                    <a:gs pos="89000">
                      <a:schemeClr val="accent3"/>
                    </a:gs>
                    <a:gs pos="0">
                      <a:schemeClr val="tx2"/>
                    </a:gs>
                    <a:gs pos="20000">
                      <a:schemeClr val="bg2"/>
                    </a:gs>
                    <a:gs pos="100000">
                      <a:schemeClr val="accent4"/>
                    </a:gs>
                  </a:gsLst>
                  <a:path path="circle">
                    <a:fillToRect l="100000" t="100000"/>
                  </a:path>
                </a:gradFill>
                <a:latin typeface="CNES Poster"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STYLE DU TEXTE</a:t>
            </a:r>
          </a:p>
        </p:txBody>
      </p:sp>
      <p:sp>
        <p:nvSpPr>
          <p:cNvPr id="2" name="Titre 1">
            <a:extLst>
              <a:ext uri="{FF2B5EF4-FFF2-40B4-BE49-F238E27FC236}">
                <a16:creationId xmlns:a16="http://schemas.microsoft.com/office/drawing/2014/main" id="{DF9C5A76-02A2-CBFD-57CF-BFFA9F1E3992}"/>
              </a:ext>
            </a:extLst>
          </p:cNvPr>
          <p:cNvSpPr>
            <a:spLocks noGrp="1"/>
          </p:cNvSpPr>
          <p:nvPr>
            <p:ph type="ctrTitle" hasCustomPrompt="1"/>
          </p:nvPr>
        </p:nvSpPr>
        <p:spPr>
          <a:xfrm>
            <a:off x="690714" y="1385339"/>
            <a:ext cx="10617121" cy="2040184"/>
          </a:xfrm>
        </p:spPr>
        <p:txBody>
          <a:bodyPr anchor="b">
            <a:normAutofit/>
          </a:bodyPr>
          <a:lstStyle>
            <a:lvl1pPr algn="ctr">
              <a:defRPr sz="7200" b="0" i="0" cap="all" baseline="0">
                <a:solidFill>
                  <a:schemeClr val="tx1"/>
                </a:solidFill>
                <a:latin typeface="CNES Sans ExtraLight" pitchFamily="2" charset="77"/>
              </a:defRPr>
            </a:lvl1pPr>
          </a:lstStyle>
          <a:p>
            <a:r>
              <a:rPr lang="fr-FR" dirty="0"/>
              <a:t>STYLE DU TITRE</a:t>
            </a:r>
          </a:p>
        </p:txBody>
      </p:sp>
      <p:pic>
        <p:nvPicPr>
          <p:cNvPr id="31" name="Graphique 30">
            <a:extLst>
              <a:ext uri="{FF2B5EF4-FFF2-40B4-BE49-F238E27FC236}">
                <a16:creationId xmlns:a16="http://schemas.microsoft.com/office/drawing/2014/main" id="{9E599253-FF47-07F1-23D1-8E5D065EBD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093" y="350841"/>
            <a:ext cx="643740" cy="705638"/>
          </a:xfrm>
          <a:prstGeom prst="rect">
            <a:avLst/>
          </a:prstGeom>
        </p:spPr>
      </p:pic>
      <p:sp>
        <p:nvSpPr>
          <p:cNvPr id="32" name="Ellipse 31">
            <a:extLst>
              <a:ext uri="{FF2B5EF4-FFF2-40B4-BE49-F238E27FC236}">
                <a16:creationId xmlns:a16="http://schemas.microsoft.com/office/drawing/2014/main" id="{DB8CACFF-2781-E00D-665A-125B884081D7}"/>
              </a:ext>
            </a:extLst>
          </p:cNvPr>
          <p:cNvSpPr/>
          <p:nvPr userDrawn="1"/>
        </p:nvSpPr>
        <p:spPr>
          <a:xfrm>
            <a:off x="10773676" y="5461797"/>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BF126601-16C7-807D-496E-2A915B4F0751}"/>
              </a:ext>
            </a:extLst>
          </p:cNvPr>
          <p:cNvSpPr/>
          <p:nvPr userDrawn="1"/>
        </p:nvSpPr>
        <p:spPr>
          <a:xfrm>
            <a:off x="9500237" y="5027873"/>
            <a:ext cx="68829" cy="68829"/>
          </a:xfrm>
          <a:prstGeom prst="ellipse">
            <a:avLst/>
          </a:prstGeom>
          <a:solidFill>
            <a:schemeClr val="tx2"/>
          </a:solidFill>
          <a:ln>
            <a:no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B124E3A1-2359-6EF4-389E-173F4980390C}"/>
              </a:ext>
            </a:extLst>
          </p:cNvPr>
          <p:cNvSpPr/>
          <p:nvPr userDrawn="1"/>
        </p:nvSpPr>
        <p:spPr>
          <a:xfrm>
            <a:off x="3304006" y="589775"/>
            <a:ext cx="82041" cy="82183"/>
          </a:xfrm>
          <a:prstGeom prst="ellipse">
            <a:avLst/>
          </a:prstGeom>
          <a:solidFill>
            <a:schemeClr val="bg1"/>
          </a:solidFill>
          <a:ln w="3175">
            <a:solidFill>
              <a:schemeClr val="accent3"/>
            </a:solidFill>
          </a:ln>
          <a:effectLst>
            <a:glow rad="228600">
              <a:schemeClr val="accent3">
                <a:alpha val="2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B7DDF959-F963-A061-4AD3-747E9A8A3410}"/>
              </a:ext>
            </a:extLst>
          </p:cNvPr>
          <p:cNvSpPr/>
          <p:nvPr userDrawn="1"/>
        </p:nvSpPr>
        <p:spPr>
          <a:xfrm>
            <a:off x="1181671" y="1569110"/>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7" name="Connecteur droit 36">
            <a:extLst>
              <a:ext uri="{FF2B5EF4-FFF2-40B4-BE49-F238E27FC236}">
                <a16:creationId xmlns:a16="http://schemas.microsoft.com/office/drawing/2014/main" id="{D5DC04DD-9D39-757C-400D-6B6E5E72AEA1}"/>
              </a:ext>
            </a:extLst>
          </p:cNvPr>
          <p:cNvCxnSpPr>
            <a:stCxn id="35" idx="7"/>
            <a:endCxn id="34" idx="2"/>
          </p:cNvCxnSpPr>
          <p:nvPr userDrawn="1"/>
        </p:nvCxnSpPr>
        <p:spPr>
          <a:xfrm flipV="1">
            <a:off x="1240420" y="630867"/>
            <a:ext cx="2063586" cy="94832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A627502F-2762-C846-913D-C67FC39F1E36}"/>
              </a:ext>
            </a:extLst>
          </p:cNvPr>
          <p:cNvSpPr/>
          <p:nvPr userDrawn="1"/>
        </p:nvSpPr>
        <p:spPr>
          <a:xfrm>
            <a:off x="3513014" y="6153150"/>
            <a:ext cx="68829" cy="68829"/>
          </a:xfrm>
          <a:prstGeom prst="ellipse">
            <a:avLst/>
          </a:prstGeom>
          <a:solidFill>
            <a:schemeClr val="bg2"/>
          </a:solidFill>
          <a:ln>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0" name="Connecteur droit 39">
            <a:extLst>
              <a:ext uri="{FF2B5EF4-FFF2-40B4-BE49-F238E27FC236}">
                <a16:creationId xmlns:a16="http://schemas.microsoft.com/office/drawing/2014/main" id="{6FF09254-58C5-59BC-A39E-213708643240}"/>
              </a:ext>
            </a:extLst>
          </p:cNvPr>
          <p:cNvCxnSpPr>
            <a:cxnSpLocks/>
            <a:stCxn id="43" idx="5"/>
            <a:endCxn id="42" idx="5"/>
          </p:cNvCxnSpPr>
          <p:nvPr userDrawn="1"/>
        </p:nvCxnSpPr>
        <p:spPr>
          <a:xfrm flipH="1" flipV="1">
            <a:off x="420957" y="4929463"/>
            <a:ext cx="1244639" cy="10359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5510172-FED6-F64C-AE1E-B887565172D5}"/>
              </a:ext>
            </a:extLst>
          </p:cNvPr>
          <p:cNvCxnSpPr>
            <a:cxnSpLocks/>
            <a:stCxn id="43" idx="2"/>
            <a:endCxn id="39" idx="2"/>
          </p:cNvCxnSpPr>
          <p:nvPr userDrawn="1"/>
        </p:nvCxnSpPr>
        <p:spPr>
          <a:xfrm>
            <a:off x="1606847" y="5941096"/>
            <a:ext cx="1906167" cy="24646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2" name="Ellipse 41">
            <a:extLst>
              <a:ext uri="{FF2B5EF4-FFF2-40B4-BE49-F238E27FC236}">
                <a16:creationId xmlns:a16="http://schemas.microsoft.com/office/drawing/2014/main" id="{20C11E46-DE6E-AD66-C5B4-D9E017D4D79E}"/>
              </a:ext>
            </a:extLst>
          </p:cNvPr>
          <p:cNvSpPr/>
          <p:nvPr userDrawn="1"/>
        </p:nvSpPr>
        <p:spPr>
          <a:xfrm>
            <a:off x="362208" y="4870714"/>
            <a:ext cx="68829" cy="68829"/>
          </a:xfrm>
          <a:prstGeom prst="ellipse">
            <a:avLst/>
          </a:prstGeom>
          <a:solidFill>
            <a:schemeClr val="bg1"/>
          </a:solidFill>
          <a:ln>
            <a:solidFill>
              <a:schemeClr val="accent3"/>
            </a:solidFill>
          </a:ln>
          <a:effectLst>
            <a:glow rad="228600">
              <a:schemeClr val="accent3">
                <a:alpha val="2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llipse 42">
            <a:extLst>
              <a:ext uri="{FF2B5EF4-FFF2-40B4-BE49-F238E27FC236}">
                <a16:creationId xmlns:a16="http://schemas.microsoft.com/office/drawing/2014/main" id="{6B4F7EB8-CB2D-156C-7783-A08CD7C7B70B}"/>
              </a:ext>
            </a:extLst>
          </p:cNvPr>
          <p:cNvSpPr/>
          <p:nvPr userDrawn="1"/>
        </p:nvSpPr>
        <p:spPr>
          <a:xfrm>
            <a:off x="1606847" y="5906681"/>
            <a:ext cx="68829" cy="68829"/>
          </a:xfrm>
          <a:prstGeom prst="ellipse">
            <a:avLst/>
          </a:prstGeom>
          <a:solidFill>
            <a:schemeClr val="tx2"/>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4" name="Connecteur droit 43">
            <a:extLst>
              <a:ext uri="{FF2B5EF4-FFF2-40B4-BE49-F238E27FC236}">
                <a16:creationId xmlns:a16="http://schemas.microsoft.com/office/drawing/2014/main" id="{A9A30B17-C12D-168C-7947-034124D7ECCA}"/>
              </a:ext>
            </a:extLst>
          </p:cNvPr>
          <p:cNvCxnSpPr>
            <a:cxnSpLocks/>
            <a:stCxn id="49" idx="6"/>
            <a:endCxn id="50" idx="2"/>
          </p:cNvCxnSpPr>
          <p:nvPr userDrawn="1"/>
        </p:nvCxnSpPr>
        <p:spPr>
          <a:xfrm>
            <a:off x="11266815" y="2364340"/>
            <a:ext cx="713591" cy="267147"/>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FCE8079D-61EC-2987-4EE0-865B8BD4F394}"/>
              </a:ext>
            </a:extLst>
          </p:cNvPr>
          <p:cNvCxnSpPr>
            <a:cxnSpLocks/>
            <a:stCxn id="51" idx="4"/>
            <a:endCxn id="50" idx="5"/>
          </p:cNvCxnSpPr>
          <p:nvPr userDrawn="1"/>
        </p:nvCxnSpPr>
        <p:spPr>
          <a:xfrm>
            <a:off x="11802064" y="1613604"/>
            <a:ext cx="237091" cy="1042217"/>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9" name="Ellipse 48">
            <a:extLst>
              <a:ext uri="{FF2B5EF4-FFF2-40B4-BE49-F238E27FC236}">
                <a16:creationId xmlns:a16="http://schemas.microsoft.com/office/drawing/2014/main" id="{7F0A78FD-1A9C-809A-72FB-CD459171AF42}"/>
              </a:ext>
            </a:extLst>
          </p:cNvPr>
          <p:cNvSpPr/>
          <p:nvPr userDrawn="1"/>
        </p:nvSpPr>
        <p:spPr>
          <a:xfrm>
            <a:off x="11184774" y="2323248"/>
            <a:ext cx="82041" cy="82183"/>
          </a:xfrm>
          <a:prstGeom prst="ellipse">
            <a:avLst/>
          </a:prstGeom>
          <a:solidFill>
            <a:schemeClr val="bg1"/>
          </a:solidFill>
          <a:ln w="3175">
            <a:solidFill>
              <a:schemeClr val="accent3"/>
            </a:solidFill>
          </a:ln>
          <a:effectLst>
            <a:glow rad="228600">
              <a:schemeClr val="accent3">
                <a:alpha val="2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llipse 49">
            <a:extLst>
              <a:ext uri="{FF2B5EF4-FFF2-40B4-BE49-F238E27FC236}">
                <a16:creationId xmlns:a16="http://schemas.microsoft.com/office/drawing/2014/main" id="{0A11340C-A6F4-56AD-35B9-E92D0AAC949D}"/>
              </a:ext>
            </a:extLst>
          </p:cNvPr>
          <p:cNvSpPr/>
          <p:nvPr userDrawn="1"/>
        </p:nvSpPr>
        <p:spPr>
          <a:xfrm>
            <a:off x="11980406" y="2597072"/>
            <a:ext cx="68829" cy="68829"/>
          </a:xfrm>
          <a:prstGeom prst="ellipse">
            <a:avLst/>
          </a:prstGeom>
          <a:solidFill>
            <a:schemeClr val="bg2"/>
          </a:solidFill>
          <a:ln w="3175">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37DBE897-A39B-B514-3096-6CDA050E37AA}"/>
              </a:ext>
            </a:extLst>
          </p:cNvPr>
          <p:cNvSpPr/>
          <p:nvPr userDrawn="1"/>
        </p:nvSpPr>
        <p:spPr>
          <a:xfrm>
            <a:off x="11767649" y="1544775"/>
            <a:ext cx="68829" cy="68829"/>
          </a:xfrm>
          <a:prstGeom prst="ellipse">
            <a:avLst/>
          </a:prstGeom>
          <a:solidFill>
            <a:schemeClr val="accent3"/>
          </a:solidFill>
          <a:ln w="3175">
            <a:solidFill>
              <a:schemeClr val="bg1"/>
            </a:solidFill>
          </a:ln>
          <a:effectLst>
            <a:glow rad="228600">
              <a:schemeClr val="accent3">
                <a:alpha val="19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E04B5EFD-DB87-5195-D6EA-2188E81B2EBC}"/>
              </a:ext>
            </a:extLst>
          </p:cNvPr>
          <p:cNvSpPr/>
          <p:nvPr userDrawn="1"/>
        </p:nvSpPr>
        <p:spPr>
          <a:xfrm>
            <a:off x="284536" y="269313"/>
            <a:ext cx="932123" cy="882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3" name="Groupe 52">
            <a:extLst>
              <a:ext uri="{FF2B5EF4-FFF2-40B4-BE49-F238E27FC236}">
                <a16:creationId xmlns:a16="http://schemas.microsoft.com/office/drawing/2014/main" id="{FE1AB545-1209-DDFF-A6B2-1934AD14FA21}"/>
              </a:ext>
            </a:extLst>
          </p:cNvPr>
          <p:cNvGrpSpPr/>
          <p:nvPr userDrawn="1"/>
        </p:nvGrpSpPr>
        <p:grpSpPr>
          <a:xfrm>
            <a:off x="354937" y="361065"/>
            <a:ext cx="781291" cy="704939"/>
            <a:chOff x="2295604" y="0"/>
            <a:chExt cx="7600791" cy="6858000"/>
          </a:xfrm>
        </p:grpSpPr>
        <p:sp>
          <p:nvSpPr>
            <p:cNvPr id="54" name="Forme libre 53">
              <a:extLst>
                <a:ext uri="{FF2B5EF4-FFF2-40B4-BE49-F238E27FC236}">
                  <a16:creationId xmlns:a16="http://schemas.microsoft.com/office/drawing/2014/main" id="{909173F1-F8D5-F503-EE90-F327F26912E9}"/>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55" name="Graphique 12">
              <a:extLst>
                <a:ext uri="{FF2B5EF4-FFF2-40B4-BE49-F238E27FC236}">
                  <a16:creationId xmlns:a16="http://schemas.microsoft.com/office/drawing/2014/main" id="{FCE26F3A-69D6-50A8-9354-251C05B2D3B8}"/>
                </a:ext>
              </a:extLst>
            </p:cNvPr>
            <p:cNvGrpSpPr/>
            <p:nvPr/>
          </p:nvGrpSpPr>
          <p:grpSpPr>
            <a:xfrm>
              <a:off x="3189814" y="894132"/>
              <a:ext cx="2464444" cy="894132"/>
              <a:chOff x="3189814" y="894132"/>
              <a:chExt cx="2464444" cy="894132"/>
            </a:xfrm>
          </p:grpSpPr>
          <p:sp>
            <p:nvSpPr>
              <p:cNvPr id="58" name="Forme libre 57">
                <a:extLst>
                  <a:ext uri="{FF2B5EF4-FFF2-40B4-BE49-F238E27FC236}">
                    <a16:creationId xmlns:a16="http://schemas.microsoft.com/office/drawing/2014/main" id="{A672F48E-47B2-7ACA-4217-01DD7997001A}"/>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59" name="Forme libre 58">
                <a:extLst>
                  <a:ext uri="{FF2B5EF4-FFF2-40B4-BE49-F238E27FC236}">
                    <a16:creationId xmlns:a16="http://schemas.microsoft.com/office/drawing/2014/main" id="{68E79214-CB96-B43C-F738-953B2AEC9B6E}"/>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0" name="Forme libre 59">
                <a:extLst>
                  <a:ext uri="{FF2B5EF4-FFF2-40B4-BE49-F238E27FC236}">
                    <a16:creationId xmlns:a16="http://schemas.microsoft.com/office/drawing/2014/main" id="{2B9167FD-2360-A612-A5AB-3436406E2CDE}"/>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56" name="Forme libre 55">
              <a:extLst>
                <a:ext uri="{FF2B5EF4-FFF2-40B4-BE49-F238E27FC236}">
                  <a16:creationId xmlns:a16="http://schemas.microsoft.com/office/drawing/2014/main" id="{045CE378-6D3A-5F78-21AF-6BEC16366BB7}"/>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57" name="Forme libre 56">
              <a:extLst>
                <a:ext uri="{FF2B5EF4-FFF2-40B4-BE49-F238E27FC236}">
                  <a16:creationId xmlns:a16="http://schemas.microsoft.com/office/drawing/2014/main" id="{A67DDEBC-F8C8-11FB-9276-095A734242B9}"/>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sp>
        <p:nvSpPr>
          <p:cNvPr id="5" name="Espace réservé du texte 6">
            <a:extLst>
              <a:ext uri="{FF2B5EF4-FFF2-40B4-BE49-F238E27FC236}">
                <a16:creationId xmlns:a16="http://schemas.microsoft.com/office/drawing/2014/main" id="{17752A10-25B3-158D-5947-98A3A3429AAA}"/>
              </a:ext>
            </a:extLst>
          </p:cNvPr>
          <p:cNvSpPr>
            <a:spLocks noGrp="1"/>
          </p:cNvSpPr>
          <p:nvPr>
            <p:ph type="body" sz="quarter" idx="12" hasCustomPrompt="1"/>
          </p:nvPr>
        </p:nvSpPr>
        <p:spPr>
          <a:xfrm>
            <a:off x="3947246" y="6008923"/>
            <a:ext cx="4302828" cy="250317"/>
          </a:xfrm>
        </p:spPr>
        <p:txBody>
          <a:bodyPr anchor="ctr">
            <a:noAutofit/>
          </a:bodyPr>
          <a:lstStyle>
            <a:lvl1pPr algn="ctr">
              <a:defRPr sz="2000" cap="all" baseline="0"/>
            </a:lvl1pPr>
          </a:lstStyle>
          <a:p>
            <a:pPr lvl="0"/>
            <a:r>
              <a:rPr lang="fr-FR" dirty="0"/>
              <a:t>LIEU &amp; INFOS</a:t>
            </a:r>
          </a:p>
        </p:txBody>
      </p:sp>
      <p:sp>
        <p:nvSpPr>
          <p:cNvPr id="6" name="Espace réservé du texte 6">
            <a:extLst>
              <a:ext uri="{FF2B5EF4-FFF2-40B4-BE49-F238E27FC236}">
                <a16:creationId xmlns:a16="http://schemas.microsoft.com/office/drawing/2014/main" id="{EC718C4A-5ABB-B237-D139-90AB6A5D31DF}"/>
              </a:ext>
            </a:extLst>
          </p:cNvPr>
          <p:cNvSpPr>
            <a:spLocks noGrp="1"/>
          </p:cNvSpPr>
          <p:nvPr>
            <p:ph type="body" sz="quarter" idx="13" hasCustomPrompt="1"/>
          </p:nvPr>
        </p:nvSpPr>
        <p:spPr>
          <a:xfrm>
            <a:off x="3947246" y="6292665"/>
            <a:ext cx="4302828" cy="202097"/>
          </a:xfrm>
        </p:spPr>
        <p:txBody>
          <a:bodyPr anchor="ctr">
            <a:noAutofit/>
          </a:bodyPr>
          <a:lstStyle>
            <a:lvl1pPr marL="0" algn="ctr" defTabSz="914400" rtl="0" eaLnBrk="1" latinLnBrk="0" hangingPunct="1">
              <a:defRPr lang="fr-FR" sz="1600" kern="1200" cap="all" baseline="0" dirty="0">
                <a:solidFill>
                  <a:schemeClr val="tx1"/>
                </a:solidFill>
                <a:latin typeface="CNES Poster" pitchFamily="2" charset="77"/>
                <a:ea typeface="+mn-ea"/>
                <a:cs typeface="+mn-cs"/>
              </a:defRPr>
            </a:lvl1pPr>
          </a:lstStyle>
          <a:p>
            <a:pPr lvl="0"/>
            <a:r>
              <a:rPr lang="fr-FR" dirty="0"/>
              <a:t>DATE</a:t>
            </a:r>
          </a:p>
        </p:txBody>
      </p:sp>
    </p:spTree>
    <p:extLst>
      <p:ext uri="{BB962C8B-B14F-4D97-AF65-F5344CB8AC3E}">
        <p14:creationId xmlns:p14="http://schemas.microsoft.com/office/powerpoint/2010/main" val="122972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TEXTE UN BLOC CLAIR">
    <p:bg>
      <p:bgPr>
        <a:solidFill>
          <a:schemeClr val="bg1"/>
        </a:solidFill>
        <a:effectLst/>
      </p:bgPr>
    </p:bg>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801105D2-529C-7586-24BA-3D38E0157693}"/>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0" name="Forme libre 9">
            <a:extLst>
              <a:ext uri="{FF2B5EF4-FFF2-40B4-BE49-F238E27FC236}">
                <a16:creationId xmlns:a16="http://schemas.microsoft.com/office/drawing/2014/main" id="{11F4BFF0-058D-CEAA-8346-9EE0F7CE4B74}"/>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Rectangle 5">
            <a:extLst>
              <a:ext uri="{FF2B5EF4-FFF2-40B4-BE49-F238E27FC236}">
                <a16:creationId xmlns:a16="http://schemas.microsoft.com/office/drawing/2014/main" id="{95F8F55C-6B31-40F9-44D8-26FD296A4120}"/>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dirty="0"/>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5">
            <a:extLst>
              <a:ext uri="{FF2B5EF4-FFF2-40B4-BE49-F238E27FC236}">
                <a16:creationId xmlns:a16="http://schemas.microsoft.com/office/drawing/2014/main" id="{C385A2E7-3629-61C0-F5B4-025735822762}"/>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16" name="Forme libre 15">
            <a:extLst>
              <a:ext uri="{FF2B5EF4-FFF2-40B4-BE49-F238E27FC236}">
                <a16:creationId xmlns:a16="http://schemas.microsoft.com/office/drawing/2014/main" id="{A72A6274-4450-AE40-AA49-BABC730EC06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5" name="Espace réservé du texte 24">
            <a:extLst>
              <a:ext uri="{FF2B5EF4-FFF2-40B4-BE49-F238E27FC236}">
                <a16:creationId xmlns:a16="http://schemas.microsoft.com/office/drawing/2014/main" id="{E4A77AA8-24B0-C2C3-30D4-96FEB12BD698}"/>
              </a:ext>
            </a:extLst>
          </p:cNvPr>
          <p:cNvSpPr>
            <a:spLocks noGrp="1"/>
          </p:cNvSpPr>
          <p:nvPr>
            <p:ph type="body" sz="quarter" idx="17"/>
          </p:nvPr>
        </p:nvSpPr>
        <p:spPr>
          <a:xfrm>
            <a:off x="346075" y="1806575"/>
            <a:ext cx="11318875" cy="41846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7" name="Connecteur droit 6">
            <a:extLst>
              <a:ext uri="{FF2B5EF4-FFF2-40B4-BE49-F238E27FC236}">
                <a16:creationId xmlns:a16="http://schemas.microsoft.com/office/drawing/2014/main" id="{64A94391-FED4-246C-1469-B4F07D787A4C}"/>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35CD277E-DB30-EC03-EFE9-9C6AA29E31DD}"/>
              </a:ext>
            </a:extLst>
          </p:cNvPr>
          <p:cNvGrpSpPr/>
          <p:nvPr userDrawn="1"/>
        </p:nvGrpSpPr>
        <p:grpSpPr>
          <a:xfrm>
            <a:off x="1274524" y="6279025"/>
            <a:ext cx="517010" cy="449924"/>
            <a:chOff x="1301606" y="6252162"/>
            <a:chExt cx="462845" cy="402788"/>
          </a:xfrm>
          <a:solidFill>
            <a:srgbClr val="004F91"/>
          </a:solidFill>
        </p:grpSpPr>
        <p:sp>
          <p:nvSpPr>
            <p:cNvPr id="24" name="Forme libre 23">
              <a:extLst>
                <a:ext uri="{FF2B5EF4-FFF2-40B4-BE49-F238E27FC236}">
                  <a16:creationId xmlns:a16="http://schemas.microsoft.com/office/drawing/2014/main" id="{2213F842-C205-31AA-0CFA-7C4791C89CD3}"/>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6" name="Forme libre 25">
              <a:extLst>
                <a:ext uri="{FF2B5EF4-FFF2-40B4-BE49-F238E27FC236}">
                  <a16:creationId xmlns:a16="http://schemas.microsoft.com/office/drawing/2014/main" id="{8984FAD5-DD14-7D72-5A4C-CDD4492817C3}"/>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F0791A2E-9F2B-5F93-89A3-AAAF0E5CEC53}"/>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F67A0A11-B45B-CE3F-AA99-68A4865D48EC}"/>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9" name="Forme libre 28">
              <a:extLst>
                <a:ext uri="{FF2B5EF4-FFF2-40B4-BE49-F238E27FC236}">
                  <a16:creationId xmlns:a16="http://schemas.microsoft.com/office/drawing/2014/main" id="{AFCA0403-7F62-64F3-3CA3-5E570BD32AB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0" name="Forme libre 29">
              <a:extLst>
                <a:ext uri="{FF2B5EF4-FFF2-40B4-BE49-F238E27FC236}">
                  <a16:creationId xmlns:a16="http://schemas.microsoft.com/office/drawing/2014/main" id="{0AF1CAD3-C5AD-8CF0-6826-46020345805E}"/>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7" name="Espace réservé du pied de page 4">
            <a:extLst>
              <a:ext uri="{FF2B5EF4-FFF2-40B4-BE49-F238E27FC236}">
                <a16:creationId xmlns:a16="http://schemas.microsoft.com/office/drawing/2014/main" id="{8555F06C-3768-AD74-7B66-35407D2001A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15302256-A6B0-29BA-70BC-08E653A38F8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4" name="Connecteur droit 3">
            <a:extLst>
              <a:ext uri="{FF2B5EF4-FFF2-40B4-BE49-F238E27FC236}">
                <a16:creationId xmlns:a16="http://schemas.microsoft.com/office/drawing/2014/main" id="{0618B8D7-41CC-99AC-CA69-08B191D44C1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2880690E-CC14-65F7-FF5A-1319E5318E5B}"/>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567976532"/>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SOMMAIRE LONG CLAI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2BCB33-6DB0-7398-EC0D-BD258D40652D}"/>
              </a:ext>
            </a:extLst>
          </p:cNvPr>
          <p:cNvSpPr/>
          <p:nvPr userDrawn="1"/>
        </p:nvSpPr>
        <p:spPr>
          <a:xfrm>
            <a:off x="6087444" y="0"/>
            <a:ext cx="6096000" cy="6183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 name="Forme libre 31">
            <a:extLst>
              <a:ext uri="{FF2B5EF4-FFF2-40B4-BE49-F238E27FC236}">
                <a16:creationId xmlns:a16="http://schemas.microsoft.com/office/drawing/2014/main" id="{2E56E105-CC46-9258-BDCE-45CC5629BAE8}"/>
              </a:ext>
            </a:extLst>
          </p:cNvPr>
          <p:cNvSpPr/>
          <p:nvPr userDrawn="1"/>
        </p:nvSpPr>
        <p:spPr>
          <a:xfrm>
            <a:off x="8079638" y="-49200"/>
            <a:ext cx="61056" cy="17553"/>
          </a:xfrm>
          <a:custGeom>
            <a:avLst/>
            <a:gdLst>
              <a:gd name="connsiteX0" fmla="*/ 30528 w 61056"/>
              <a:gd name="connsiteY0" fmla="*/ 0 h 17553"/>
              <a:gd name="connsiteX1" fmla="*/ 61056 w 61056"/>
              <a:gd name="connsiteY1" fmla="*/ 17553 h 17553"/>
              <a:gd name="connsiteX2" fmla="*/ 0 w 61056"/>
              <a:gd name="connsiteY2" fmla="*/ 17553 h 17553"/>
              <a:gd name="connsiteX3" fmla="*/ 30528 w 61056"/>
              <a:gd name="connsiteY3" fmla="*/ 0 h 17553"/>
            </a:gdLst>
            <a:ahLst/>
            <a:cxnLst>
              <a:cxn ang="0">
                <a:pos x="connsiteX0" y="connsiteY0"/>
              </a:cxn>
              <a:cxn ang="0">
                <a:pos x="connsiteX1" y="connsiteY1"/>
              </a:cxn>
              <a:cxn ang="0">
                <a:pos x="connsiteX2" y="connsiteY2"/>
              </a:cxn>
              <a:cxn ang="0">
                <a:pos x="connsiteX3" y="connsiteY3"/>
              </a:cxn>
            </a:cxnLst>
            <a:rect l="l" t="t" r="r" b="b"/>
            <a:pathLst>
              <a:path w="61056" h="17553">
                <a:moveTo>
                  <a:pt x="30528" y="0"/>
                </a:moveTo>
                <a:lnTo>
                  <a:pt x="61056" y="17553"/>
                </a:lnTo>
                <a:lnTo>
                  <a:pt x="0" y="17553"/>
                </a:lnTo>
                <a:lnTo>
                  <a:pt x="30528" y="0"/>
                </a:lnTo>
                <a:close/>
              </a:path>
            </a:pathLst>
          </a:custGeom>
          <a:noFill/>
          <a:ln w="635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0" name="Forme libre 39">
            <a:extLst>
              <a:ext uri="{FF2B5EF4-FFF2-40B4-BE49-F238E27FC236}">
                <a16:creationId xmlns:a16="http://schemas.microsoft.com/office/drawing/2014/main" id="{3AFCAAA6-4246-76DB-573C-9ADBC80BB672}"/>
              </a:ext>
            </a:extLst>
          </p:cNvPr>
          <p:cNvSpPr/>
          <p:nvPr userDrawn="1"/>
        </p:nvSpPr>
        <p:spPr>
          <a:xfrm>
            <a:off x="2076226" y="-31648"/>
            <a:ext cx="6003412" cy="6910494"/>
          </a:xfrm>
          <a:custGeom>
            <a:avLst/>
            <a:gdLst>
              <a:gd name="connsiteX0" fmla="*/ 1975080 w 6003412"/>
              <a:gd name="connsiteY0" fmla="*/ 0 h 6910494"/>
              <a:gd name="connsiteX1" fmla="*/ 6003412 w 6003412"/>
              <a:gd name="connsiteY1" fmla="*/ 0 h 6910494"/>
              <a:gd name="connsiteX2" fmla="*/ 5963706 w 6003412"/>
              <a:gd name="connsiteY2" fmla="*/ 22830 h 6910494"/>
              <a:gd name="connsiteX3" fmla="*/ 4028331 w 6003412"/>
              <a:gd name="connsiteY3" fmla="*/ 3460648 h 6910494"/>
              <a:gd name="connsiteX4" fmla="*/ 5963706 w 6003412"/>
              <a:gd name="connsiteY4" fmla="*/ 6898466 h 6910494"/>
              <a:gd name="connsiteX5" fmla="*/ 5984624 w 6003412"/>
              <a:gd name="connsiteY5" fmla="*/ 6910494 h 6910494"/>
              <a:gd name="connsiteX6" fmla="*/ 1956294 w 6003412"/>
              <a:gd name="connsiteY6" fmla="*/ 6910494 h 6910494"/>
              <a:gd name="connsiteX7" fmla="*/ 1935375 w 6003412"/>
              <a:gd name="connsiteY7" fmla="*/ 6898466 h 6910494"/>
              <a:gd name="connsiteX8" fmla="*/ 0 w 6003412"/>
              <a:gd name="connsiteY8" fmla="*/ 3460648 h 6910494"/>
              <a:gd name="connsiteX9" fmla="*/ 1935375 w 6003412"/>
              <a:gd name="connsiteY9" fmla="*/ 22830 h 6910494"/>
              <a:gd name="connsiteX10" fmla="*/ 1975080 w 6003412"/>
              <a:gd name="connsiteY10" fmla="*/ 0 h 691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3412" h="6910494">
                <a:moveTo>
                  <a:pt x="1975080" y="0"/>
                </a:moveTo>
                <a:lnTo>
                  <a:pt x="6003412" y="0"/>
                </a:lnTo>
                <a:lnTo>
                  <a:pt x="5963706" y="22830"/>
                </a:lnTo>
                <a:cubicBezTo>
                  <a:pt x="4803403" y="727847"/>
                  <a:pt x="4028331" y="2003734"/>
                  <a:pt x="4028331" y="3460648"/>
                </a:cubicBezTo>
                <a:cubicBezTo>
                  <a:pt x="4028331" y="4917563"/>
                  <a:pt x="4803403" y="6193449"/>
                  <a:pt x="5963706" y="6898466"/>
                </a:cubicBezTo>
                <a:lnTo>
                  <a:pt x="5984624" y="6910494"/>
                </a:lnTo>
                <a:lnTo>
                  <a:pt x="1956294" y="6910494"/>
                </a:lnTo>
                <a:lnTo>
                  <a:pt x="1935375" y="6898466"/>
                </a:lnTo>
                <a:cubicBezTo>
                  <a:pt x="775072" y="6193449"/>
                  <a:pt x="0" y="4917563"/>
                  <a:pt x="0" y="3460648"/>
                </a:cubicBezTo>
                <a:cubicBezTo>
                  <a:pt x="0" y="2003734"/>
                  <a:pt x="775072" y="727847"/>
                  <a:pt x="1935375" y="22830"/>
                </a:cubicBezTo>
                <a:lnTo>
                  <a:pt x="1975080" y="0"/>
                </a:lnTo>
                <a:close/>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2" name="Rectangle 21">
            <a:extLst>
              <a:ext uri="{FF2B5EF4-FFF2-40B4-BE49-F238E27FC236}">
                <a16:creationId xmlns:a16="http://schemas.microsoft.com/office/drawing/2014/main" id="{AB453E3B-45EE-B90B-D426-76D376C2B7A5}"/>
              </a:ext>
            </a:extLst>
          </p:cNvPr>
          <p:cNvSpPr/>
          <p:nvPr userDrawn="1"/>
        </p:nvSpPr>
        <p:spPr>
          <a:xfrm>
            <a:off x="2365422" y="6145528"/>
            <a:ext cx="9344418" cy="712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BF99B84A-DC2A-1A22-02D5-98E7BA9850A3}"/>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8AE8E2CD-FAA1-7703-C8A1-3E037A144160}"/>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4" name="Connecteur droit 3">
            <a:extLst>
              <a:ext uri="{FF2B5EF4-FFF2-40B4-BE49-F238E27FC236}">
                <a16:creationId xmlns:a16="http://schemas.microsoft.com/office/drawing/2014/main" id="{2FD3DEC8-C6FA-149D-30D5-BBEFF977610A}"/>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181454DF-B040-6800-50F6-B2A2EC8BEFB9}"/>
              </a:ext>
            </a:extLst>
          </p:cNvPr>
          <p:cNvGrpSpPr/>
          <p:nvPr userDrawn="1"/>
        </p:nvGrpSpPr>
        <p:grpSpPr>
          <a:xfrm>
            <a:off x="1274524" y="6279025"/>
            <a:ext cx="517010" cy="449924"/>
            <a:chOff x="1301606" y="6252162"/>
            <a:chExt cx="462845" cy="402788"/>
          </a:xfrm>
          <a:solidFill>
            <a:srgbClr val="004F91"/>
          </a:solidFill>
        </p:grpSpPr>
        <p:sp>
          <p:nvSpPr>
            <p:cNvPr id="15" name="Forme libre 14">
              <a:extLst>
                <a:ext uri="{FF2B5EF4-FFF2-40B4-BE49-F238E27FC236}">
                  <a16:creationId xmlns:a16="http://schemas.microsoft.com/office/drawing/2014/main" id="{3300649B-D55D-9715-C6FD-24DC05B7F420}"/>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3" name="Forme libre 22">
              <a:extLst>
                <a:ext uri="{FF2B5EF4-FFF2-40B4-BE49-F238E27FC236}">
                  <a16:creationId xmlns:a16="http://schemas.microsoft.com/office/drawing/2014/main" id="{AECB97EA-27EB-D077-11D9-987679E0FAF0}"/>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4BD02F39-E227-B103-8CFE-05A8BE6A0072}"/>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75112B09-5F3C-F045-59C6-2094922DB1C4}"/>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41EC700D-819A-7763-F5A6-4F0DD9E7A1ED}"/>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00E00466-A05B-31CF-D066-7CC085A534D9}"/>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cxnSp>
        <p:nvCxnSpPr>
          <p:cNvPr id="2" name="Connecteur droit 1">
            <a:extLst>
              <a:ext uri="{FF2B5EF4-FFF2-40B4-BE49-F238E27FC236}">
                <a16:creationId xmlns:a16="http://schemas.microsoft.com/office/drawing/2014/main" id="{DED7A40A-CFEE-53B0-128A-6AA4C2471F4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3EFB96FF-847E-42A7-80E7-7C7DB4C6D90E}"/>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
        <p:nvSpPr>
          <p:cNvPr id="14" name="Titre 1">
            <a:extLst>
              <a:ext uri="{FF2B5EF4-FFF2-40B4-BE49-F238E27FC236}">
                <a16:creationId xmlns:a16="http://schemas.microsoft.com/office/drawing/2014/main" id="{605B5A2E-AEF5-6C81-968F-DB18A03499D2}"/>
              </a:ext>
            </a:extLst>
          </p:cNvPr>
          <p:cNvSpPr>
            <a:spLocks noGrp="1"/>
          </p:cNvSpPr>
          <p:nvPr>
            <p:ph type="title" hasCustomPrompt="1"/>
          </p:nvPr>
        </p:nvSpPr>
        <p:spPr>
          <a:xfrm>
            <a:off x="365125" y="364930"/>
            <a:ext cx="9264396" cy="1298460"/>
          </a:xfrm>
        </p:spPr>
        <p:txBody>
          <a:bodyPr anchor="t">
            <a:noAutofit/>
          </a:bodyPr>
          <a:lstStyle>
            <a:lvl1pPr algn="l">
              <a:defRPr sz="5400" cap="all" baseline="0">
                <a:ln w="15875">
                  <a:noFill/>
                </a:ln>
                <a:gradFill>
                  <a:gsLst>
                    <a:gs pos="0">
                      <a:schemeClr val="tx2"/>
                    </a:gs>
                    <a:gs pos="26000">
                      <a:schemeClr val="bg2"/>
                    </a:gs>
                    <a:gs pos="74000">
                      <a:schemeClr val="accent3"/>
                    </a:gs>
                    <a:gs pos="100000">
                      <a:schemeClr val="accent4"/>
                    </a:gs>
                  </a:gsLst>
                  <a:path path="circle">
                    <a:fillToRect t="100000" r="100000"/>
                  </a:path>
                </a:gradFill>
                <a:latin typeface="CNES Poster" pitchFamily="2" charset="77"/>
              </a:defRPr>
            </a:lvl1pPr>
          </a:lstStyle>
          <a:p>
            <a:r>
              <a:rPr lang="fr-FR" dirty="0"/>
              <a:t>SOMMAIRE</a:t>
            </a:r>
          </a:p>
        </p:txBody>
      </p:sp>
    </p:spTree>
    <p:extLst>
      <p:ext uri="{BB962C8B-B14F-4D97-AF65-F5344CB8AC3E}">
        <p14:creationId xmlns:p14="http://schemas.microsoft.com/office/powerpoint/2010/main" val="2317031794"/>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LIDE TITRE UNIQUEMENT">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CAAB5EB-9C22-3437-D94D-32C4A774F539}"/>
              </a:ext>
            </a:extLst>
          </p:cNvPr>
          <p:cNvGrpSpPr/>
          <p:nvPr userDrawn="1"/>
        </p:nvGrpSpPr>
        <p:grpSpPr>
          <a:xfrm>
            <a:off x="359170" y="6153060"/>
            <a:ext cx="781291" cy="704939"/>
            <a:chOff x="2295604" y="0"/>
            <a:chExt cx="7600791" cy="6858000"/>
          </a:xfrm>
        </p:grpSpPr>
        <p:sp>
          <p:nvSpPr>
            <p:cNvPr id="6" name="Forme libre 5">
              <a:extLst>
                <a:ext uri="{FF2B5EF4-FFF2-40B4-BE49-F238E27FC236}">
                  <a16:creationId xmlns:a16="http://schemas.microsoft.com/office/drawing/2014/main" id="{2AF54BE1-2B64-7CC1-B499-1C1514F96209}"/>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7" name="Graphique 12">
              <a:extLst>
                <a:ext uri="{FF2B5EF4-FFF2-40B4-BE49-F238E27FC236}">
                  <a16:creationId xmlns:a16="http://schemas.microsoft.com/office/drawing/2014/main" id="{230D0D24-96CD-491C-8B48-64B4172B8A80}"/>
                </a:ext>
              </a:extLst>
            </p:cNvPr>
            <p:cNvGrpSpPr/>
            <p:nvPr/>
          </p:nvGrpSpPr>
          <p:grpSpPr>
            <a:xfrm>
              <a:off x="3189814" y="894132"/>
              <a:ext cx="2464444" cy="894132"/>
              <a:chOff x="3189814" y="894132"/>
              <a:chExt cx="2464444" cy="894132"/>
            </a:xfrm>
          </p:grpSpPr>
          <p:sp>
            <p:nvSpPr>
              <p:cNvPr id="10" name="Forme libre 9">
                <a:extLst>
                  <a:ext uri="{FF2B5EF4-FFF2-40B4-BE49-F238E27FC236}">
                    <a16:creationId xmlns:a16="http://schemas.microsoft.com/office/drawing/2014/main" id="{B61906F8-6E65-0945-933A-1AB7E5EC4D30}"/>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19497B61-1444-6ACD-9373-4506BA6DA70B}"/>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F1CAF52E-F37C-D341-08D5-C687A5441082}"/>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8" name="Forme libre 7">
              <a:extLst>
                <a:ext uri="{FF2B5EF4-FFF2-40B4-BE49-F238E27FC236}">
                  <a16:creationId xmlns:a16="http://schemas.microsoft.com/office/drawing/2014/main" id="{9FA5455C-E39F-9FDE-E321-12891E195B33}"/>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9" name="Forme libre 8">
              <a:extLst>
                <a:ext uri="{FF2B5EF4-FFF2-40B4-BE49-F238E27FC236}">
                  <a16:creationId xmlns:a16="http://schemas.microsoft.com/office/drawing/2014/main" id="{332100D1-A0F3-FF6D-0A6C-2352A7FDA4B5}"/>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1" name="Connecteur droit 50">
            <a:extLst>
              <a:ext uri="{FF2B5EF4-FFF2-40B4-BE49-F238E27FC236}">
                <a16:creationId xmlns:a16="http://schemas.microsoft.com/office/drawing/2014/main" id="{D8C1B46B-66CD-51AD-2511-C628C3ECA242}"/>
              </a:ext>
            </a:extLst>
          </p:cNvPr>
          <p:cNvCxnSpPr>
            <a:cxnSpLocks/>
          </p:cNvCxnSpPr>
          <p:nvPr userDrawn="1"/>
        </p:nvCxnSpPr>
        <p:spPr>
          <a:xfrm>
            <a:off x="1960396" y="6153150"/>
            <a:ext cx="0" cy="704939"/>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F568F134-F47D-3AD0-FDA4-E2326194FC10}"/>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Espace réservé du numéro de diapositive 5">
            <a:extLst>
              <a:ext uri="{FF2B5EF4-FFF2-40B4-BE49-F238E27FC236}">
                <a16:creationId xmlns:a16="http://schemas.microsoft.com/office/drawing/2014/main" id="{5ADACF6E-17C9-B664-F42B-F82D4F7794E2}"/>
              </a:ext>
            </a:extLst>
          </p:cNvPr>
          <p:cNvSpPr>
            <a:spLocks noGrp="1"/>
          </p:cNvSpPr>
          <p:nvPr>
            <p:ph type="sldNum" sz="quarter" idx="12"/>
          </p:nvPr>
        </p:nvSpPr>
        <p:spPr>
          <a:xfrm>
            <a:off x="11835420" y="6319201"/>
            <a:ext cx="365127" cy="365125"/>
          </a:xfrm>
          <a:ln>
            <a:noFill/>
          </a:ln>
        </p:spPr>
        <p:txBody>
          <a:bodyPr/>
          <a:lstStyle>
            <a:lvl1pPr>
              <a:defRPr>
                <a:solidFill>
                  <a:schemeClr val="bg1"/>
                </a:solidFill>
              </a:defRPr>
            </a:lvl1pPr>
          </a:lstStyle>
          <a:p>
            <a:fld id="{6E739F3C-2768-A14F-A11C-037BCBCB7D23}" type="slidenum">
              <a:rPr lang="fr-FR" smtClean="0"/>
              <a:pPr/>
              <a:t>‹#›</a:t>
            </a:fld>
            <a:endParaRPr lang="fr-FR" dirty="0"/>
          </a:p>
        </p:txBody>
      </p:sp>
      <p:sp>
        <p:nvSpPr>
          <p:cNvPr id="58" name="Forme libre 57">
            <a:extLst>
              <a:ext uri="{FF2B5EF4-FFF2-40B4-BE49-F238E27FC236}">
                <a16:creationId xmlns:a16="http://schemas.microsoft.com/office/drawing/2014/main" id="{2ADE32E6-18D0-DA1F-C51A-061FA5F6655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59" name="Groupe 58">
            <a:extLst>
              <a:ext uri="{FF2B5EF4-FFF2-40B4-BE49-F238E27FC236}">
                <a16:creationId xmlns:a16="http://schemas.microsoft.com/office/drawing/2014/main" id="{AE87392E-3219-8310-A8DF-E8737B1E9EF2}"/>
              </a:ext>
            </a:extLst>
          </p:cNvPr>
          <p:cNvGrpSpPr/>
          <p:nvPr userDrawn="1"/>
        </p:nvGrpSpPr>
        <p:grpSpPr>
          <a:xfrm>
            <a:off x="1274524" y="6279025"/>
            <a:ext cx="517010" cy="449924"/>
            <a:chOff x="1301606" y="6252162"/>
            <a:chExt cx="462845" cy="402788"/>
          </a:xfrm>
        </p:grpSpPr>
        <p:sp>
          <p:nvSpPr>
            <p:cNvPr id="60" name="Forme libre 59">
              <a:extLst>
                <a:ext uri="{FF2B5EF4-FFF2-40B4-BE49-F238E27FC236}">
                  <a16:creationId xmlns:a16="http://schemas.microsoft.com/office/drawing/2014/main" id="{28B72D3F-472D-09BF-CF59-310A22B4193B}"/>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solidFill>
              <a:schemeClr val="bg1"/>
            </a:solidFill>
            <a:ln w="6350" cap="flat">
              <a:noFill/>
              <a:prstDash val="solid"/>
              <a:miter/>
            </a:ln>
          </p:spPr>
          <p:txBody>
            <a:bodyPr rtlCol="0" anchor="ctr"/>
            <a:lstStyle/>
            <a:p>
              <a:endParaRPr lang="fr-FR" dirty="0"/>
            </a:p>
          </p:txBody>
        </p:sp>
        <p:sp>
          <p:nvSpPr>
            <p:cNvPr id="61" name="Forme libre 60">
              <a:extLst>
                <a:ext uri="{FF2B5EF4-FFF2-40B4-BE49-F238E27FC236}">
                  <a16:creationId xmlns:a16="http://schemas.microsoft.com/office/drawing/2014/main" id="{0311C47A-F4B8-7510-9E29-2F6A8C9F4E46}"/>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solidFill>
              <a:schemeClr val="bg1"/>
            </a:solidFill>
            <a:ln w="6350" cap="flat">
              <a:noFill/>
              <a:prstDash val="solid"/>
              <a:miter/>
            </a:ln>
          </p:spPr>
          <p:txBody>
            <a:bodyPr rtlCol="0" anchor="ctr"/>
            <a:lstStyle/>
            <a:p>
              <a:endParaRPr lang="fr-FR"/>
            </a:p>
          </p:txBody>
        </p:sp>
        <p:sp>
          <p:nvSpPr>
            <p:cNvPr id="62" name="Forme libre 61">
              <a:extLst>
                <a:ext uri="{FF2B5EF4-FFF2-40B4-BE49-F238E27FC236}">
                  <a16:creationId xmlns:a16="http://schemas.microsoft.com/office/drawing/2014/main" id="{587E5DBC-2E9F-BC48-B119-87181E41EB31}"/>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solidFill>
              <a:schemeClr val="bg1"/>
            </a:solidFill>
            <a:ln w="6350"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6652B425-FDDF-F07E-E0AD-6C45966852D6}"/>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solidFill>
              <a:schemeClr val="bg1"/>
            </a:solidFill>
            <a:ln w="6350"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894E6C3F-D88B-1250-6447-E0A55898DBFD}"/>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solidFill>
              <a:schemeClr val="bg1"/>
            </a:solidFill>
            <a:ln w="6350" cap="flat">
              <a:noFill/>
              <a:prstDash val="solid"/>
              <a:miter/>
            </a:ln>
          </p:spPr>
          <p:txBody>
            <a:bodyPr rtlCol="0" anchor="ctr"/>
            <a:lstStyle/>
            <a:p>
              <a:endParaRPr lang="fr-FR"/>
            </a:p>
          </p:txBody>
        </p:sp>
        <p:sp>
          <p:nvSpPr>
            <p:cNvPr id="65" name="Forme libre 64">
              <a:extLst>
                <a:ext uri="{FF2B5EF4-FFF2-40B4-BE49-F238E27FC236}">
                  <a16:creationId xmlns:a16="http://schemas.microsoft.com/office/drawing/2014/main" id="{897E271B-D0DE-18D2-12E0-1A7C7C9259C1}"/>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solidFill>
              <a:schemeClr val="bg1"/>
            </a:solidFill>
            <a:ln w="6350" cap="flat">
              <a:noFill/>
              <a:prstDash val="solid"/>
              <a:miter/>
            </a:ln>
          </p:spPr>
          <p:txBody>
            <a:bodyPr rtlCol="0" anchor="ctr"/>
            <a:lstStyle/>
            <a:p>
              <a:endParaRPr lang="fr-FR"/>
            </a:p>
          </p:txBody>
        </p:sp>
      </p:grpSp>
      <p:sp>
        <p:nvSpPr>
          <p:cNvPr id="2" name="Espace réservé du pied de page 4">
            <a:extLst>
              <a:ext uri="{FF2B5EF4-FFF2-40B4-BE49-F238E27FC236}">
                <a16:creationId xmlns:a16="http://schemas.microsoft.com/office/drawing/2014/main" id="{73CA8F28-2890-811C-D141-D87E78D6CC30}"/>
              </a:ext>
            </a:extLst>
          </p:cNvPr>
          <p:cNvSpPr>
            <a:spLocks noGrp="1"/>
          </p:cNvSpPr>
          <p:nvPr>
            <p:ph type="ftr" sz="quarter" idx="3"/>
          </p:nvPr>
        </p:nvSpPr>
        <p:spPr>
          <a:xfrm>
            <a:off x="6096000" y="6319202"/>
            <a:ext cx="5582477" cy="365125"/>
          </a:xfrm>
          <a:prstGeom prst="rect">
            <a:avLst/>
          </a:prstGeom>
        </p:spPr>
        <p:txBody>
          <a:bodyPr vert="horz" lIns="91440" tIns="45720" rIns="91440" bIns="45720" rtlCol="0" anchor="ctr"/>
          <a:lstStyle>
            <a:lvl1pPr algn="l">
              <a:defRPr sz="900" b="0" i="0">
                <a:solidFill>
                  <a:schemeClr val="bg1">
                    <a:lumMod val="85000"/>
                  </a:schemeClr>
                </a:solidFill>
                <a:latin typeface="CNES Sans Light" pitchFamily="2" charset="77"/>
              </a:defRPr>
            </a:lvl1pPr>
          </a:lstStyle>
          <a:p>
            <a:r>
              <a:rPr lang="fr-FR" dirty="0"/>
              <a:t>Insérez dans la zone de pieds de page, si besoin, vos informations annexes (légendes, sources, crédits, restrictions, logos partenaires, </a:t>
            </a:r>
            <a:r>
              <a:rPr lang="fr-FR" dirty="0" err="1"/>
              <a:t>etc</a:t>
            </a:r>
            <a:r>
              <a:rPr lang="fr-FR" dirty="0"/>
              <a:t>). </a:t>
            </a:r>
          </a:p>
        </p:txBody>
      </p:sp>
      <p:cxnSp>
        <p:nvCxnSpPr>
          <p:cNvPr id="20" name="Connecteur droit 19">
            <a:extLst>
              <a:ext uri="{FF2B5EF4-FFF2-40B4-BE49-F238E27FC236}">
                <a16:creationId xmlns:a16="http://schemas.microsoft.com/office/drawing/2014/main" id="{F5221EA4-37CD-BD8D-FCB8-A981FA4C18C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du texte 14">
            <a:extLst>
              <a:ext uri="{FF2B5EF4-FFF2-40B4-BE49-F238E27FC236}">
                <a16:creationId xmlns:a16="http://schemas.microsoft.com/office/drawing/2014/main" id="{320F944C-69EA-321E-EEF6-419BBE4E56D7}"/>
              </a:ext>
            </a:extLst>
          </p:cNvPr>
          <p:cNvSpPr>
            <a:spLocks noGrp="1"/>
          </p:cNvSpPr>
          <p:nvPr>
            <p:ph type="body" sz="quarter" idx="16"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
        <p:nvSpPr>
          <p:cNvPr id="13" name="Titre 1">
            <a:extLst>
              <a:ext uri="{FF2B5EF4-FFF2-40B4-BE49-F238E27FC236}">
                <a16:creationId xmlns:a16="http://schemas.microsoft.com/office/drawing/2014/main" id="{299F5F5C-19A3-1F95-FFB1-4DA32F8C406F}"/>
              </a:ext>
            </a:extLst>
          </p:cNvPr>
          <p:cNvSpPr>
            <a:spLocks noGrp="1"/>
          </p:cNvSpPr>
          <p:nvPr>
            <p:ph type="title" hasCustomPrompt="1"/>
          </p:nvPr>
        </p:nvSpPr>
        <p:spPr>
          <a:xfrm>
            <a:off x="365125" y="364930"/>
            <a:ext cx="9264396" cy="1298460"/>
          </a:xfrm>
        </p:spPr>
        <p:txBody>
          <a:bodyPr anchor="t">
            <a:noAutofit/>
          </a:bodyPr>
          <a:lstStyle>
            <a:lvl1pPr algn="l">
              <a:defRPr sz="5400" cap="all" baseline="0">
                <a:ln w="15875">
                  <a:noFill/>
                </a:ln>
                <a:gradFill>
                  <a:gsLst>
                    <a:gs pos="0">
                      <a:schemeClr val="tx2"/>
                    </a:gs>
                    <a:gs pos="32000">
                      <a:schemeClr val="bg2"/>
                    </a:gs>
                    <a:gs pos="78000">
                      <a:schemeClr val="accent3"/>
                    </a:gs>
                    <a:gs pos="100000">
                      <a:schemeClr val="accent4"/>
                    </a:gs>
                  </a:gsLst>
                  <a:path path="circle">
                    <a:fillToRect t="100000" r="100000"/>
                  </a:path>
                </a:gradFill>
                <a:latin typeface="CNES Poster" pitchFamily="2" charset="77"/>
              </a:defRPr>
            </a:lvl1pPr>
          </a:lstStyle>
          <a:p>
            <a:r>
              <a:rPr lang="fr-FR" dirty="0"/>
              <a:t>MODIFIEZ LE TEXTE</a:t>
            </a:r>
          </a:p>
        </p:txBody>
      </p:sp>
    </p:spTree>
    <p:extLst>
      <p:ext uri="{BB962C8B-B14F-4D97-AF65-F5344CB8AC3E}">
        <p14:creationId xmlns:p14="http://schemas.microsoft.com/office/powerpoint/2010/main" val="1729365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PHOTO PLEINE PAGE CLAIRE">
    <p:bg>
      <p:bgPr>
        <a:solidFill>
          <a:schemeClr val="bg1"/>
        </a:solidFill>
        <a:effectLst/>
      </p:bgPr>
    </p:bg>
    <p:spTree>
      <p:nvGrpSpPr>
        <p:cNvPr id="1" name=""/>
        <p:cNvGrpSpPr/>
        <p:nvPr/>
      </p:nvGrpSpPr>
      <p:grpSpPr>
        <a:xfrm>
          <a:off x="0" y="0"/>
          <a:ext cx="0" cy="0"/>
          <a:chOff x="0" y="0"/>
          <a:chExt cx="0" cy="0"/>
        </a:xfrm>
      </p:grpSpPr>
      <p:sp>
        <p:nvSpPr>
          <p:cNvPr id="57" name="Espace réservé pour une image  56">
            <a:extLst>
              <a:ext uri="{FF2B5EF4-FFF2-40B4-BE49-F238E27FC236}">
                <a16:creationId xmlns:a16="http://schemas.microsoft.com/office/drawing/2014/main" id="{CB6CD917-9206-823B-7FEF-E9CF24D9E894}"/>
              </a:ext>
            </a:extLst>
          </p:cNvPr>
          <p:cNvSpPr>
            <a:spLocks noGrp="1"/>
          </p:cNvSpPr>
          <p:nvPr>
            <p:ph type="pic" sz="quarter" idx="13"/>
          </p:nvPr>
        </p:nvSpPr>
        <p:spPr>
          <a:xfrm>
            <a:off x="-7938" y="0"/>
            <a:ext cx="12199938" cy="6146799"/>
          </a:xfrm>
          <a:solidFill>
            <a:schemeClr val="bg1">
              <a:lumMod val="85000"/>
            </a:schemeClr>
          </a:solidFill>
        </p:spPr>
        <p:txBody>
          <a:bodyPr/>
          <a:lstStyle/>
          <a:p>
            <a:endParaRPr lang="fr-FR" dirty="0"/>
          </a:p>
        </p:txBody>
      </p:sp>
      <p:sp>
        <p:nvSpPr>
          <p:cNvPr id="6" name="Espace réservé du numéro de diapositive 5">
            <a:extLst>
              <a:ext uri="{FF2B5EF4-FFF2-40B4-BE49-F238E27FC236}">
                <a16:creationId xmlns:a16="http://schemas.microsoft.com/office/drawing/2014/main" id="{01A94A53-1939-F77D-3664-44370FEC8845}"/>
              </a:ext>
            </a:extLst>
          </p:cNvPr>
          <p:cNvSpPr>
            <a:spLocks noGrp="1"/>
          </p:cNvSpPr>
          <p:nvPr>
            <p:ph type="sldNum" sz="quarter" idx="12"/>
          </p:nvPr>
        </p:nvSpPr>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4" name="Forme libre 3">
            <a:extLst>
              <a:ext uri="{FF2B5EF4-FFF2-40B4-BE49-F238E27FC236}">
                <a16:creationId xmlns:a16="http://schemas.microsoft.com/office/drawing/2014/main" id="{2744B75B-2F98-7BEC-E830-9E174C92BCEA}"/>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8" name="Groupe 7">
            <a:extLst>
              <a:ext uri="{FF2B5EF4-FFF2-40B4-BE49-F238E27FC236}">
                <a16:creationId xmlns:a16="http://schemas.microsoft.com/office/drawing/2014/main" id="{53D040DC-5B6B-F3F7-7895-F5887A81330B}"/>
              </a:ext>
            </a:extLst>
          </p:cNvPr>
          <p:cNvGrpSpPr/>
          <p:nvPr userDrawn="1"/>
        </p:nvGrpSpPr>
        <p:grpSpPr>
          <a:xfrm>
            <a:off x="359170" y="6153060"/>
            <a:ext cx="781291" cy="704939"/>
            <a:chOff x="2295604" y="0"/>
            <a:chExt cx="7600791" cy="6858000"/>
          </a:xfrm>
        </p:grpSpPr>
        <p:sp>
          <p:nvSpPr>
            <p:cNvPr id="9" name="Forme libre 8">
              <a:extLst>
                <a:ext uri="{FF2B5EF4-FFF2-40B4-BE49-F238E27FC236}">
                  <a16:creationId xmlns:a16="http://schemas.microsoft.com/office/drawing/2014/main" id="{F4C55857-50C3-ED57-137C-58D2F9B4316F}"/>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0" name="Graphique 12">
              <a:extLst>
                <a:ext uri="{FF2B5EF4-FFF2-40B4-BE49-F238E27FC236}">
                  <a16:creationId xmlns:a16="http://schemas.microsoft.com/office/drawing/2014/main" id="{E7B1557C-EF98-C996-E1A5-8EC83F938014}"/>
                </a:ext>
              </a:extLst>
            </p:cNvPr>
            <p:cNvGrpSpPr/>
            <p:nvPr/>
          </p:nvGrpSpPr>
          <p:grpSpPr>
            <a:xfrm>
              <a:off x="3189814" y="894132"/>
              <a:ext cx="2464444" cy="894132"/>
              <a:chOff x="3189814" y="894132"/>
              <a:chExt cx="2464444" cy="894132"/>
            </a:xfrm>
          </p:grpSpPr>
          <p:sp>
            <p:nvSpPr>
              <p:cNvPr id="13" name="Forme libre 12">
                <a:extLst>
                  <a:ext uri="{FF2B5EF4-FFF2-40B4-BE49-F238E27FC236}">
                    <a16:creationId xmlns:a16="http://schemas.microsoft.com/office/drawing/2014/main" id="{66CF7951-E36E-6B8B-D87A-EA7DDECC3A4E}"/>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4" name="Forme libre 13">
                <a:extLst>
                  <a:ext uri="{FF2B5EF4-FFF2-40B4-BE49-F238E27FC236}">
                    <a16:creationId xmlns:a16="http://schemas.microsoft.com/office/drawing/2014/main" id="{8848E769-CA89-7864-D8F9-888F4F8708F5}"/>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5" name="Forme libre 14">
                <a:extLst>
                  <a:ext uri="{FF2B5EF4-FFF2-40B4-BE49-F238E27FC236}">
                    <a16:creationId xmlns:a16="http://schemas.microsoft.com/office/drawing/2014/main" id="{75A5FCDA-66B5-E55B-A1A4-35F43A47C9CF}"/>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11" name="Forme libre 10">
              <a:extLst>
                <a:ext uri="{FF2B5EF4-FFF2-40B4-BE49-F238E27FC236}">
                  <a16:creationId xmlns:a16="http://schemas.microsoft.com/office/drawing/2014/main" id="{332EA334-E317-F50A-24E3-9C244CE77801}"/>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33E5F696-9588-5349-05AA-9086ADE1351A}"/>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6" name="Connecteur droit 55">
            <a:extLst>
              <a:ext uri="{FF2B5EF4-FFF2-40B4-BE49-F238E27FC236}">
                <a16:creationId xmlns:a16="http://schemas.microsoft.com/office/drawing/2014/main" id="{5BC41463-7940-7662-74B8-D423B93E7B2E}"/>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re 1">
            <a:extLst>
              <a:ext uri="{FF2B5EF4-FFF2-40B4-BE49-F238E27FC236}">
                <a16:creationId xmlns:a16="http://schemas.microsoft.com/office/drawing/2014/main" id="{C710748A-44FD-56AB-3618-82FF57153807}"/>
              </a:ext>
            </a:extLst>
          </p:cNvPr>
          <p:cNvSpPr>
            <a:spLocks noGrp="1"/>
          </p:cNvSpPr>
          <p:nvPr>
            <p:ph type="ctrTitle" hasCustomPrompt="1"/>
          </p:nvPr>
        </p:nvSpPr>
        <p:spPr>
          <a:xfrm>
            <a:off x="690714" y="3855682"/>
            <a:ext cx="10617121" cy="2040184"/>
          </a:xfrm>
        </p:spPr>
        <p:txBody>
          <a:bodyPr anchor="t">
            <a:normAutofit/>
          </a:bodyPr>
          <a:lstStyle>
            <a:lvl1pPr algn="ctr">
              <a:defRPr sz="4000" b="0" i="0" cap="all" baseline="0">
                <a:solidFill>
                  <a:schemeClr val="bg1"/>
                </a:solidFill>
                <a:latin typeface="CNES Sans Light" pitchFamily="2" charset="77"/>
              </a:defRPr>
            </a:lvl1pPr>
          </a:lstStyle>
          <a:p>
            <a:r>
              <a:rPr lang="fr-FR" dirty="0"/>
              <a:t>STYLE DU SOUS-TITRE</a:t>
            </a:r>
          </a:p>
        </p:txBody>
      </p:sp>
      <p:cxnSp>
        <p:nvCxnSpPr>
          <p:cNvPr id="17" name="Connecteur droit 16">
            <a:extLst>
              <a:ext uri="{FF2B5EF4-FFF2-40B4-BE49-F238E27FC236}">
                <a16:creationId xmlns:a16="http://schemas.microsoft.com/office/drawing/2014/main" id="{49226112-B7AE-92D2-6FC8-210A7BCEB0D4}"/>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e 18">
            <a:extLst>
              <a:ext uri="{FF2B5EF4-FFF2-40B4-BE49-F238E27FC236}">
                <a16:creationId xmlns:a16="http://schemas.microsoft.com/office/drawing/2014/main" id="{37DC07E2-1AA1-A06C-0D81-635CC0994488}"/>
              </a:ext>
            </a:extLst>
          </p:cNvPr>
          <p:cNvGrpSpPr/>
          <p:nvPr userDrawn="1"/>
        </p:nvGrpSpPr>
        <p:grpSpPr>
          <a:xfrm>
            <a:off x="1274524" y="6279025"/>
            <a:ext cx="517010" cy="449924"/>
            <a:chOff x="1301606" y="6252162"/>
            <a:chExt cx="462845" cy="402788"/>
          </a:xfrm>
          <a:solidFill>
            <a:srgbClr val="004F91"/>
          </a:solidFill>
        </p:grpSpPr>
        <p:sp>
          <p:nvSpPr>
            <p:cNvPr id="20" name="Forme libre 19">
              <a:extLst>
                <a:ext uri="{FF2B5EF4-FFF2-40B4-BE49-F238E27FC236}">
                  <a16:creationId xmlns:a16="http://schemas.microsoft.com/office/drawing/2014/main" id="{8C550B78-B936-E2FA-9F89-58640B16C79D}"/>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1" name="Forme libre 20">
              <a:extLst>
                <a:ext uri="{FF2B5EF4-FFF2-40B4-BE49-F238E27FC236}">
                  <a16:creationId xmlns:a16="http://schemas.microsoft.com/office/drawing/2014/main" id="{70EB1762-525E-DFBA-B47B-64A2E4006297}"/>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606C44D9-806A-C747-8F0A-9BBD7B447F83}"/>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4D42736C-7A99-0051-B4B7-7497A5D2233B}"/>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7E27C525-5003-E1E8-0AB3-F964E3ED53BB}"/>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47F2A069-93FB-313B-E4D4-E434B48817C3}"/>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cxnSp>
        <p:nvCxnSpPr>
          <p:cNvPr id="3" name="Connecteur droit 2">
            <a:extLst>
              <a:ext uri="{FF2B5EF4-FFF2-40B4-BE49-F238E27FC236}">
                <a16:creationId xmlns:a16="http://schemas.microsoft.com/office/drawing/2014/main" id="{FAB6B2FF-DA8F-248C-530A-A6652064FF32}"/>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 name="Sous-titre 2">
            <a:extLst>
              <a:ext uri="{FF2B5EF4-FFF2-40B4-BE49-F238E27FC236}">
                <a16:creationId xmlns:a16="http://schemas.microsoft.com/office/drawing/2014/main" id="{DC9013CC-538B-F98B-460B-FA9D21300DE3}"/>
              </a:ext>
            </a:extLst>
          </p:cNvPr>
          <p:cNvSpPr>
            <a:spLocks noGrp="1"/>
          </p:cNvSpPr>
          <p:nvPr>
            <p:ph type="subTitle" idx="1" hasCustomPrompt="1"/>
          </p:nvPr>
        </p:nvSpPr>
        <p:spPr>
          <a:xfrm>
            <a:off x="690715" y="1806575"/>
            <a:ext cx="10617120" cy="2168965"/>
          </a:xfrm>
        </p:spPr>
        <p:txBody>
          <a:bodyPr anchor="b">
            <a:noAutofit/>
          </a:bodyPr>
          <a:lstStyle>
            <a:lvl1pPr marL="0" indent="0" algn="ctr">
              <a:lnSpc>
                <a:spcPct val="70000"/>
              </a:lnSpc>
              <a:buNone/>
              <a:defRPr sz="7200" cap="all" baseline="0">
                <a:ln>
                  <a:noFill/>
                </a:ln>
                <a:solidFill>
                  <a:schemeClr val="bg1"/>
                </a:solidFill>
                <a:latin typeface="CNES Poster"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INSÉREZ </a:t>
            </a:r>
            <a:br>
              <a:rPr lang="fr-FR" dirty="0"/>
            </a:br>
            <a:r>
              <a:rPr lang="fr-FR" dirty="0"/>
              <a:t>VOTRE TEXTE</a:t>
            </a:r>
          </a:p>
        </p:txBody>
      </p:sp>
    </p:spTree>
    <p:extLst>
      <p:ext uri="{BB962C8B-B14F-4D97-AF65-F5344CB8AC3E}">
        <p14:creationId xmlns:p14="http://schemas.microsoft.com/office/powerpoint/2010/main" val="3956277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PARTIES CLAIR">
    <p:bg>
      <p:bgPr>
        <a:solidFill>
          <a:schemeClr val="bg1"/>
        </a:solidFill>
        <a:effectLst/>
      </p:bgPr>
    </p:bg>
    <p:spTree>
      <p:nvGrpSpPr>
        <p:cNvPr id="1" name=""/>
        <p:cNvGrpSpPr/>
        <p:nvPr/>
      </p:nvGrpSpPr>
      <p:grpSpPr>
        <a:xfrm>
          <a:off x="0" y="0"/>
          <a:ext cx="0" cy="0"/>
          <a:chOff x="0" y="0"/>
          <a:chExt cx="0" cy="0"/>
        </a:xfrm>
      </p:grpSpPr>
      <p:sp>
        <p:nvSpPr>
          <p:cNvPr id="22" name="Forme libre 21">
            <a:extLst>
              <a:ext uri="{FF2B5EF4-FFF2-40B4-BE49-F238E27FC236}">
                <a16:creationId xmlns:a16="http://schemas.microsoft.com/office/drawing/2014/main" id="{967B417A-F1DF-43AF-8D1C-EAEC52FEAF00}"/>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3" name="Forme libre 22">
            <a:extLst>
              <a:ext uri="{FF2B5EF4-FFF2-40B4-BE49-F238E27FC236}">
                <a16:creationId xmlns:a16="http://schemas.microsoft.com/office/drawing/2014/main" id="{B3F51560-2ED4-CD09-700F-1BE9791FE4D6}"/>
              </a:ext>
            </a:extLst>
          </p:cNvPr>
          <p:cNvSpPr/>
          <p:nvPr userDrawn="1"/>
        </p:nvSpPr>
        <p:spPr>
          <a:xfrm>
            <a:off x="2273068" y="-7617"/>
            <a:ext cx="7690188" cy="6902506"/>
          </a:xfrm>
          <a:custGeom>
            <a:avLst/>
            <a:gdLst>
              <a:gd name="connsiteX0" fmla="*/ 1907151 w 7690188"/>
              <a:gd name="connsiteY0" fmla="*/ 0 h 6902506"/>
              <a:gd name="connsiteX1" fmla="*/ 5783037 w 7690188"/>
              <a:gd name="connsiteY1" fmla="*/ 0 h 6902506"/>
              <a:gd name="connsiteX2" fmla="*/ 5838915 w 7690188"/>
              <a:gd name="connsiteY2" fmla="*/ 32129 h 6902506"/>
              <a:gd name="connsiteX3" fmla="*/ 7690188 w 7690188"/>
              <a:gd name="connsiteY3" fmla="*/ 3320556 h 6902506"/>
              <a:gd name="connsiteX4" fmla="*/ 5341778 w 7690188"/>
              <a:gd name="connsiteY4" fmla="*/ 6863483 h 6902506"/>
              <a:gd name="connsiteX5" fmla="*/ 5242808 w 7690188"/>
              <a:gd name="connsiteY5" fmla="*/ 6902506 h 6902506"/>
              <a:gd name="connsiteX6" fmla="*/ 2447380 w 7690188"/>
              <a:gd name="connsiteY6" fmla="*/ 6902506 h 6902506"/>
              <a:gd name="connsiteX7" fmla="*/ 2348410 w 7690188"/>
              <a:gd name="connsiteY7" fmla="*/ 6863483 h 6902506"/>
              <a:gd name="connsiteX8" fmla="*/ 0 w 7690188"/>
              <a:gd name="connsiteY8" fmla="*/ 3320556 h 6902506"/>
              <a:gd name="connsiteX9" fmla="*/ 1851273 w 7690188"/>
              <a:gd name="connsiteY9" fmla="*/ 32129 h 6902506"/>
              <a:gd name="connsiteX10" fmla="*/ 1907151 w 7690188"/>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90188" h="6902506">
                <a:moveTo>
                  <a:pt x="1907151" y="0"/>
                </a:moveTo>
                <a:lnTo>
                  <a:pt x="5783037" y="0"/>
                </a:lnTo>
                <a:lnTo>
                  <a:pt x="5838915" y="32129"/>
                </a:lnTo>
                <a:cubicBezTo>
                  <a:pt x="6948797" y="706510"/>
                  <a:pt x="7690188" y="1926952"/>
                  <a:pt x="7690188" y="3320556"/>
                </a:cubicBezTo>
                <a:cubicBezTo>
                  <a:pt x="7690188" y="4913246"/>
                  <a:pt x="6721840" y="6279767"/>
                  <a:pt x="5341778" y="6863483"/>
                </a:cubicBezTo>
                <a:lnTo>
                  <a:pt x="5242808" y="6902506"/>
                </a:lnTo>
                <a:lnTo>
                  <a:pt x="2447380" y="6902506"/>
                </a:lnTo>
                <a:lnTo>
                  <a:pt x="2348410" y="6863483"/>
                </a:lnTo>
                <a:cubicBezTo>
                  <a:pt x="968348" y="6279767"/>
                  <a:pt x="0" y="4913246"/>
                  <a:pt x="0" y="3320556"/>
                </a:cubicBezTo>
                <a:cubicBezTo>
                  <a:pt x="0" y="1926952"/>
                  <a:pt x="741391" y="706510"/>
                  <a:pt x="1851273" y="32129"/>
                </a:cubicBezTo>
                <a:lnTo>
                  <a:pt x="1907151"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4" name="Forme libre 23">
            <a:extLst>
              <a:ext uri="{FF2B5EF4-FFF2-40B4-BE49-F238E27FC236}">
                <a16:creationId xmlns:a16="http://schemas.microsoft.com/office/drawing/2014/main" id="{1D54C067-070C-BBB0-4732-104B68D26D59}"/>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cxnSp>
        <p:nvCxnSpPr>
          <p:cNvPr id="25" name="Connecteur droit 24">
            <a:extLst>
              <a:ext uri="{FF2B5EF4-FFF2-40B4-BE49-F238E27FC236}">
                <a16:creationId xmlns:a16="http://schemas.microsoft.com/office/drawing/2014/main" id="{F11472E9-C49E-B147-461A-8D551FB6DA7C}"/>
              </a:ext>
            </a:extLst>
          </p:cNvPr>
          <p:cNvCxnSpPr>
            <a:cxnSpLocks/>
            <a:stCxn id="28" idx="6"/>
            <a:endCxn id="31" idx="6"/>
          </p:cNvCxnSpPr>
          <p:nvPr userDrawn="1"/>
        </p:nvCxnSpPr>
        <p:spPr>
          <a:xfrm flipV="1">
            <a:off x="9372988" y="844787"/>
            <a:ext cx="1890523" cy="371962"/>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944E20D4-2301-D74E-A4A6-FCC5B15D06A7}"/>
              </a:ext>
            </a:extLst>
          </p:cNvPr>
          <p:cNvCxnSpPr>
            <a:cxnSpLocks/>
            <a:stCxn id="32" idx="1"/>
            <a:endCxn id="31" idx="5"/>
          </p:cNvCxnSpPr>
          <p:nvPr userDrawn="1"/>
        </p:nvCxnSpPr>
        <p:spPr>
          <a:xfrm flipH="1" flipV="1">
            <a:off x="11253431" y="869121"/>
            <a:ext cx="387184" cy="369588"/>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3CC8E8A0-5F2B-6546-DFCC-91D41C9BBDE9}"/>
              </a:ext>
            </a:extLst>
          </p:cNvPr>
          <p:cNvSpPr/>
          <p:nvPr userDrawn="1"/>
        </p:nvSpPr>
        <p:spPr>
          <a:xfrm>
            <a:off x="2981430" y="5548986"/>
            <a:ext cx="68829" cy="68829"/>
          </a:xfrm>
          <a:prstGeom prst="ellipse">
            <a:avLst/>
          </a:prstGeom>
          <a:solidFill>
            <a:schemeClr val="bg1"/>
          </a:solidFill>
          <a:ln>
            <a:noFill/>
          </a:ln>
          <a:effectLst>
            <a:glow rad="228600">
              <a:schemeClr val="bg1">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96F2802E-2F2A-7A02-24C0-956FAA0CB089}"/>
              </a:ext>
            </a:extLst>
          </p:cNvPr>
          <p:cNvSpPr/>
          <p:nvPr userDrawn="1"/>
        </p:nvSpPr>
        <p:spPr>
          <a:xfrm>
            <a:off x="9304159" y="1182334"/>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182FF09C-A4C0-1022-7B89-42E18CE911B9}"/>
              </a:ext>
            </a:extLst>
          </p:cNvPr>
          <p:cNvSpPr/>
          <p:nvPr userDrawn="1"/>
        </p:nvSpPr>
        <p:spPr>
          <a:xfrm>
            <a:off x="10773676" y="5461797"/>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A3783072-5181-C3ED-8594-F3A5F4D268AD}"/>
              </a:ext>
            </a:extLst>
          </p:cNvPr>
          <p:cNvSpPr/>
          <p:nvPr userDrawn="1"/>
        </p:nvSpPr>
        <p:spPr>
          <a:xfrm>
            <a:off x="9500237" y="5027873"/>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llipse 30">
            <a:extLst>
              <a:ext uri="{FF2B5EF4-FFF2-40B4-BE49-F238E27FC236}">
                <a16:creationId xmlns:a16="http://schemas.microsoft.com/office/drawing/2014/main" id="{A4557A09-CA88-E5EB-1A07-2BE4D2F09585}"/>
              </a:ext>
            </a:extLst>
          </p:cNvPr>
          <p:cNvSpPr/>
          <p:nvPr userDrawn="1"/>
        </p:nvSpPr>
        <p:spPr>
          <a:xfrm>
            <a:off x="11194682" y="810372"/>
            <a:ext cx="68829" cy="68829"/>
          </a:xfrm>
          <a:prstGeom prst="ellipse">
            <a:avLst/>
          </a:prstGeom>
          <a:solidFill>
            <a:schemeClr val="accent6"/>
          </a:solidFill>
          <a:ln w="3175">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807DC371-8AA1-1D42-5232-E411B75F097E}"/>
              </a:ext>
            </a:extLst>
          </p:cNvPr>
          <p:cNvSpPr/>
          <p:nvPr userDrawn="1"/>
        </p:nvSpPr>
        <p:spPr>
          <a:xfrm>
            <a:off x="11630535" y="1228629"/>
            <a:ext cx="68829" cy="68829"/>
          </a:xfrm>
          <a:prstGeom prst="ellipse">
            <a:avLst/>
          </a:prstGeom>
          <a:solidFill>
            <a:schemeClr val="accent3"/>
          </a:solidFill>
          <a:ln w="3175">
            <a:solidFill>
              <a:schemeClr val="bg1"/>
            </a:solidFill>
          </a:ln>
          <a:effectLst>
            <a:glow rad="228600">
              <a:schemeClr val="accent3">
                <a:alpha val="1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4405C183-9AFC-AF90-C1D2-A772C919F646}"/>
              </a:ext>
            </a:extLst>
          </p:cNvPr>
          <p:cNvSpPr/>
          <p:nvPr userDrawn="1"/>
        </p:nvSpPr>
        <p:spPr>
          <a:xfrm>
            <a:off x="3308214" y="625379"/>
            <a:ext cx="68829" cy="68829"/>
          </a:xfrm>
          <a:prstGeom prst="ellipse">
            <a:avLst/>
          </a:prstGeom>
          <a:solidFill>
            <a:schemeClr val="bg1"/>
          </a:solidFill>
          <a:ln>
            <a:noFill/>
          </a:ln>
          <a:effectLst>
            <a:glow rad="2286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7" name="Connecteur droit 36">
            <a:extLst>
              <a:ext uri="{FF2B5EF4-FFF2-40B4-BE49-F238E27FC236}">
                <a16:creationId xmlns:a16="http://schemas.microsoft.com/office/drawing/2014/main" id="{2A59B863-1470-4081-8B77-9CC115D832A1}"/>
              </a:ext>
            </a:extLst>
          </p:cNvPr>
          <p:cNvCxnSpPr>
            <a:cxnSpLocks/>
            <a:stCxn id="40" idx="2"/>
            <a:endCxn id="39" idx="6"/>
          </p:cNvCxnSpPr>
          <p:nvPr userDrawn="1"/>
        </p:nvCxnSpPr>
        <p:spPr>
          <a:xfrm flipH="1" flipV="1">
            <a:off x="634488" y="1110266"/>
            <a:ext cx="713534" cy="80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E764CA5E-198E-EAEB-3C77-6A1797DB743F}"/>
              </a:ext>
            </a:extLst>
          </p:cNvPr>
          <p:cNvCxnSpPr>
            <a:cxnSpLocks/>
            <a:stCxn id="40" idx="6"/>
            <a:endCxn id="33" idx="2"/>
          </p:cNvCxnSpPr>
          <p:nvPr userDrawn="1"/>
        </p:nvCxnSpPr>
        <p:spPr>
          <a:xfrm flipV="1">
            <a:off x="1416851" y="659794"/>
            <a:ext cx="1891363" cy="53071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11CE9FCF-FFC1-D36B-1050-56748E07DA9A}"/>
              </a:ext>
            </a:extLst>
          </p:cNvPr>
          <p:cNvSpPr/>
          <p:nvPr userDrawn="1"/>
        </p:nvSpPr>
        <p:spPr>
          <a:xfrm>
            <a:off x="565659" y="1075851"/>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Ellipse 39">
            <a:extLst>
              <a:ext uri="{FF2B5EF4-FFF2-40B4-BE49-F238E27FC236}">
                <a16:creationId xmlns:a16="http://schemas.microsoft.com/office/drawing/2014/main" id="{F442D76C-4192-FCB2-566B-2018A8CDABE4}"/>
              </a:ext>
            </a:extLst>
          </p:cNvPr>
          <p:cNvSpPr/>
          <p:nvPr userDrawn="1"/>
        </p:nvSpPr>
        <p:spPr>
          <a:xfrm>
            <a:off x="1348022" y="1156089"/>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40">
            <a:extLst>
              <a:ext uri="{FF2B5EF4-FFF2-40B4-BE49-F238E27FC236}">
                <a16:creationId xmlns:a16="http://schemas.microsoft.com/office/drawing/2014/main" id="{4CD96367-1171-2CCA-5E80-561060C52ED2}"/>
              </a:ext>
            </a:extLst>
          </p:cNvPr>
          <p:cNvCxnSpPr>
            <a:cxnSpLocks/>
            <a:stCxn id="43" idx="4"/>
            <a:endCxn id="44" idx="4"/>
          </p:cNvCxnSpPr>
          <p:nvPr userDrawn="1"/>
        </p:nvCxnSpPr>
        <p:spPr>
          <a:xfrm flipV="1">
            <a:off x="531245" y="3429000"/>
            <a:ext cx="387335" cy="1945958"/>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41DE9866-E679-4721-503F-1B00C3813A51}"/>
              </a:ext>
            </a:extLst>
          </p:cNvPr>
          <p:cNvCxnSpPr>
            <a:cxnSpLocks/>
            <a:stCxn id="45" idx="3"/>
            <a:endCxn id="44" idx="3"/>
          </p:cNvCxnSpPr>
          <p:nvPr userDrawn="1"/>
        </p:nvCxnSpPr>
        <p:spPr>
          <a:xfrm flipH="1">
            <a:off x="894245" y="2639731"/>
            <a:ext cx="1409538" cy="779189"/>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3" name="Ellipse 42">
            <a:extLst>
              <a:ext uri="{FF2B5EF4-FFF2-40B4-BE49-F238E27FC236}">
                <a16:creationId xmlns:a16="http://schemas.microsoft.com/office/drawing/2014/main" id="{D5EFF1E5-73BD-16CC-6DD1-5B6698792B03}"/>
              </a:ext>
            </a:extLst>
          </p:cNvPr>
          <p:cNvSpPr/>
          <p:nvPr userDrawn="1"/>
        </p:nvSpPr>
        <p:spPr>
          <a:xfrm>
            <a:off x="496830" y="5306129"/>
            <a:ext cx="68829" cy="68829"/>
          </a:xfrm>
          <a:prstGeom prst="ellipse">
            <a:avLst/>
          </a:prstGeom>
          <a:solidFill>
            <a:schemeClr val="bg1"/>
          </a:solidFill>
          <a:ln w="3175">
            <a:solidFill>
              <a:schemeClr val="accent3"/>
            </a:solid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llipse 43">
            <a:extLst>
              <a:ext uri="{FF2B5EF4-FFF2-40B4-BE49-F238E27FC236}">
                <a16:creationId xmlns:a16="http://schemas.microsoft.com/office/drawing/2014/main" id="{CAE89EE8-EF05-0A4E-ABAA-DA5CF71F4635}"/>
              </a:ext>
            </a:extLst>
          </p:cNvPr>
          <p:cNvSpPr/>
          <p:nvPr userDrawn="1"/>
        </p:nvSpPr>
        <p:spPr>
          <a:xfrm>
            <a:off x="884165" y="3360171"/>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Ellipse 44">
            <a:extLst>
              <a:ext uri="{FF2B5EF4-FFF2-40B4-BE49-F238E27FC236}">
                <a16:creationId xmlns:a16="http://schemas.microsoft.com/office/drawing/2014/main" id="{5731D624-8ADA-DB99-B621-FED45C9BB3A2}"/>
              </a:ext>
            </a:extLst>
          </p:cNvPr>
          <p:cNvSpPr/>
          <p:nvPr userDrawn="1"/>
        </p:nvSpPr>
        <p:spPr>
          <a:xfrm>
            <a:off x="2293703" y="2580982"/>
            <a:ext cx="68829" cy="68829"/>
          </a:xfrm>
          <a:prstGeom prst="ellipse">
            <a:avLst/>
          </a:prstGeom>
          <a:solidFill>
            <a:schemeClr val="accent6"/>
          </a:solidFill>
          <a:ln w="3175">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Ellipse 45">
            <a:extLst>
              <a:ext uri="{FF2B5EF4-FFF2-40B4-BE49-F238E27FC236}">
                <a16:creationId xmlns:a16="http://schemas.microsoft.com/office/drawing/2014/main" id="{515AB072-91CB-C4D9-0F63-958381E190B6}"/>
              </a:ext>
            </a:extLst>
          </p:cNvPr>
          <p:cNvSpPr/>
          <p:nvPr userDrawn="1"/>
        </p:nvSpPr>
        <p:spPr>
          <a:xfrm>
            <a:off x="2991339" y="5577848"/>
            <a:ext cx="68829" cy="68829"/>
          </a:xfrm>
          <a:prstGeom prst="ellipse">
            <a:avLst/>
          </a:prstGeom>
          <a:solidFill>
            <a:schemeClr val="tx2"/>
          </a:solidFill>
          <a:ln>
            <a:no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llipse 46">
            <a:extLst>
              <a:ext uri="{FF2B5EF4-FFF2-40B4-BE49-F238E27FC236}">
                <a16:creationId xmlns:a16="http://schemas.microsoft.com/office/drawing/2014/main" id="{D6F9DCB9-2556-783C-2A97-5407E04DB686}"/>
              </a:ext>
            </a:extLst>
          </p:cNvPr>
          <p:cNvSpPr/>
          <p:nvPr userDrawn="1"/>
        </p:nvSpPr>
        <p:spPr>
          <a:xfrm>
            <a:off x="9697151" y="1959737"/>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Forme libre 33">
            <a:extLst>
              <a:ext uri="{FF2B5EF4-FFF2-40B4-BE49-F238E27FC236}">
                <a16:creationId xmlns:a16="http://schemas.microsoft.com/office/drawing/2014/main" id="{F85269D2-E34F-3495-D06D-B726B14D277E}"/>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85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3" name="Rectangle 62">
            <a:extLst>
              <a:ext uri="{FF2B5EF4-FFF2-40B4-BE49-F238E27FC236}">
                <a16:creationId xmlns:a16="http://schemas.microsoft.com/office/drawing/2014/main" id="{75D76499-9EFF-16AB-277A-69F5ED2C87B8}"/>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8" name="Groupe 7">
            <a:extLst>
              <a:ext uri="{FF2B5EF4-FFF2-40B4-BE49-F238E27FC236}">
                <a16:creationId xmlns:a16="http://schemas.microsoft.com/office/drawing/2014/main" id="{53D040DC-5B6B-F3F7-7895-F5887A81330B}"/>
              </a:ext>
            </a:extLst>
          </p:cNvPr>
          <p:cNvGrpSpPr/>
          <p:nvPr userDrawn="1"/>
        </p:nvGrpSpPr>
        <p:grpSpPr>
          <a:xfrm>
            <a:off x="359170" y="6153060"/>
            <a:ext cx="781291" cy="704939"/>
            <a:chOff x="2295604" y="0"/>
            <a:chExt cx="7600791" cy="6858000"/>
          </a:xfrm>
        </p:grpSpPr>
        <p:sp>
          <p:nvSpPr>
            <p:cNvPr id="9" name="Forme libre 8">
              <a:extLst>
                <a:ext uri="{FF2B5EF4-FFF2-40B4-BE49-F238E27FC236}">
                  <a16:creationId xmlns:a16="http://schemas.microsoft.com/office/drawing/2014/main" id="{F4C55857-50C3-ED57-137C-58D2F9B4316F}"/>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0" name="Graphique 12">
              <a:extLst>
                <a:ext uri="{FF2B5EF4-FFF2-40B4-BE49-F238E27FC236}">
                  <a16:creationId xmlns:a16="http://schemas.microsoft.com/office/drawing/2014/main" id="{E7B1557C-EF98-C996-E1A5-8EC83F938014}"/>
                </a:ext>
              </a:extLst>
            </p:cNvPr>
            <p:cNvGrpSpPr/>
            <p:nvPr/>
          </p:nvGrpSpPr>
          <p:grpSpPr>
            <a:xfrm>
              <a:off x="3189814" y="894132"/>
              <a:ext cx="2464444" cy="894132"/>
              <a:chOff x="3189814" y="894132"/>
              <a:chExt cx="2464444" cy="894132"/>
            </a:xfrm>
          </p:grpSpPr>
          <p:sp>
            <p:nvSpPr>
              <p:cNvPr id="13" name="Forme libre 12">
                <a:extLst>
                  <a:ext uri="{FF2B5EF4-FFF2-40B4-BE49-F238E27FC236}">
                    <a16:creationId xmlns:a16="http://schemas.microsoft.com/office/drawing/2014/main" id="{66CF7951-E36E-6B8B-D87A-EA7DDECC3A4E}"/>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4" name="Forme libre 13">
                <a:extLst>
                  <a:ext uri="{FF2B5EF4-FFF2-40B4-BE49-F238E27FC236}">
                    <a16:creationId xmlns:a16="http://schemas.microsoft.com/office/drawing/2014/main" id="{8848E769-CA89-7864-D8F9-888F4F8708F5}"/>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5" name="Forme libre 14">
                <a:extLst>
                  <a:ext uri="{FF2B5EF4-FFF2-40B4-BE49-F238E27FC236}">
                    <a16:creationId xmlns:a16="http://schemas.microsoft.com/office/drawing/2014/main" id="{75A5FCDA-66B5-E55B-A1A4-35F43A47C9CF}"/>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11" name="Forme libre 10">
              <a:extLst>
                <a:ext uri="{FF2B5EF4-FFF2-40B4-BE49-F238E27FC236}">
                  <a16:creationId xmlns:a16="http://schemas.microsoft.com/office/drawing/2014/main" id="{332EA334-E317-F50A-24E3-9C244CE77801}"/>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33E5F696-9588-5349-05AA-9086ADE1351A}"/>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6" name="Connecteur droit 55">
            <a:extLst>
              <a:ext uri="{FF2B5EF4-FFF2-40B4-BE49-F238E27FC236}">
                <a16:creationId xmlns:a16="http://schemas.microsoft.com/office/drawing/2014/main" id="{5BC41463-7940-7662-74B8-D423B93E7B2E}"/>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Espace réservé du numéro de diapositive 5">
            <a:extLst>
              <a:ext uri="{FF2B5EF4-FFF2-40B4-BE49-F238E27FC236}">
                <a16:creationId xmlns:a16="http://schemas.microsoft.com/office/drawing/2014/main" id="{DCDE0B2C-6A6E-80D0-E7B7-1B979CF6CDDA}"/>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59" name="Forme libre 58">
            <a:extLst>
              <a:ext uri="{FF2B5EF4-FFF2-40B4-BE49-F238E27FC236}">
                <a16:creationId xmlns:a16="http://schemas.microsoft.com/office/drawing/2014/main" id="{847D6DBA-4E61-C18E-1496-9D20BA571DF4}"/>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4" name="Connecteur droit 3">
            <a:extLst>
              <a:ext uri="{FF2B5EF4-FFF2-40B4-BE49-F238E27FC236}">
                <a16:creationId xmlns:a16="http://schemas.microsoft.com/office/drawing/2014/main" id="{48A4B313-5D97-35F6-44DF-C9753CA18386}"/>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e 4">
            <a:extLst>
              <a:ext uri="{FF2B5EF4-FFF2-40B4-BE49-F238E27FC236}">
                <a16:creationId xmlns:a16="http://schemas.microsoft.com/office/drawing/2014/main" id="{26A6AED9-CC25-0FD8-4BAC-5CA0F6C985B9}"/>
              </a:ext>
            </a:extLst>
          </p:cNvPr>
          <p:cNvGrpSpPr/>
          <p:nvPr userDrawn="1"/>
        </p:nvGrpSpPr>
        <p:grpSpPr>
          <a:xfrm>
            <a:off x="1274524" y="6279025"/>
            <a:ext cx="517010" cy="449924"/>
            <a:chOff x="1301606" y="6252162"/>
            <a:chExt cx="462845" cy="402788"/>
          </a:xfrm>
          <a:solidFill>
            <a:srgbClr val="004F91"/>
          </a:solidFill>
        </p:grpSpPr>
        <p:sp>
          <p:nvSpPr>
            <p:cNvPr id="16" name="Forme libre 15">
              <a:extLst>
                <a:ext uri="{FF2B5EF4-FFF2-40B4-BE49-F238E27FC236}">
                  <a16:creationId xmlns:a16="http://schemas.microsoft.com/office/drawing/2014/main" id="{C8262654-C8ED-3A22-60C3-C1A995CD7408}"/>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17" name="Forme libre 16">
              <a:extLst>
                <a:ext uri="{FF2B5EF4-FFF2-40B4-BE49-F238E27FC236}">
                  <a16:creationId xmlns:a16="http://schemas.microsoft.com/office/drawing/2014/main" id="{C41C66F7-9F13-7D8D-6175-D61B4017E048}"/>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AB16BA5B-8A66-BB27-5D63-E53EBBAC94F1}"/>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7632ED0A-9198-A2D2-ED6A-5B5FE3E0A222}"/>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CCC71951-9353-BE5F-099C-F3FDD73DABA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49876229-DA26-14ED-96CA-800A61466ABD}"/>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35" name="Titre 1">
            <a:extLst>
              <a:ext uri="{FF2B5EF4-FFF2-40B4-BE49-F238E27FC236}">
                <a16:creationId xmlns:a16="http://schemas.microsoft.com/office/drawing/2014/main" id="{C9407B49-6728-C38A-5A7B-4E2073027215}"/>
              </a:ext>
            </a:extLst>
          </p:cNvPr>
          <p:cNvSpPr>
            <a:spLocks noGrp="1"/>
          </p:cNvSpPr>
          <p:nvPr>
            <p:ph type="ctrTitle" hasCustomPrompt="1"/>
          </p:nvPr>
        </p:nvSpPr>
        <p:spPr>
          <a:xfrm>
            <a:off x="1035586" y="4630680"/>
            <a:ext cx="10168568" cy="725835"/>
          </a:xfrm>
        </p:spPr>
        <p:txBody>
          <a:bodyPr anchor="t">
            <a:normAutofit/>
          </a:bodyPr>
          <a:lstStyle>
            <a:lvl1pPr algn="ctr">
              <a:defRPr sz="2400" b="0" i="0" cap="all" baseline="0">
                <a:solidFill>
                  <a:schemeClr val="tx1"/>
                </a:solidFill>
                <a:latin typeface="CNES Sans ExtraLight" pitchFamily="2" charset="77"/>
              </a:defRPr>
            </a:lvl1pPr>
          </a:lstStyle>
          <a:p>
            <a:r>
              <a:rPr lang="fr-FR" dirty="0"/>
              <a:t>STYLE DU SOUS-TITRE</a:t>
            </a:r>
          </a:p>
        </p:txBody>
      </p:sp>
      <p:sp>
        <p:nvSpPr>
          <p:cNvPr id="36" name="Sous-titre 2">
            <a:extLst>
              <a:ext uri="{FF2B5EF4-FFF2-40B4-BE49-F238E27FC236}">
                <a16:creationId xmlns:a16="http://schemas.microsoft.com/office/drawing/2014/main" id="{2076D4A0-7966-25F8-35F9-F6C6F27AF212}"/>
              </a:ext>
            </a:extLst>
          </p:cNvPr>
          <p:cNvSpPr>
            <a:spLocks noGrp="1"/>
          </p:cNvSpPr>
          <p:nvPr>
            <p:ph type="subTitle" idx="1" hasCustomPrompt="1"/>
          </p:nvPr>
        </p:nvSpPr>
        <p:spPr>
          <a:xfrm>
            <a:off x="1035593" y="3439518"/>
            <a:ext cx="10159090" cy="873222"/>
          </a:xfrm>
        </p:spPr>
        <p:txBody>
          <a:bodyPr tIns="144000" anchor="t">
            <a:noAutofit/>
          </a:bodyPr>
          <a:lstStyle>
            <a:lvl1pPr marL="0" indent="0" algn="ctr">
              <a:lnSpc>
                <a:spcPct val="70000"/>
              </a:lnSpc>
              <a:buNone/>
              <a:defRPr sz="4800" cap="all" baseline="0">
                <a:ln w="12700">
                  <a:noFill/>
                </a:ln>
                <a:solidFill>
                  <a:schemeClr val="tx1"/>
                </a:solidFill>
                <a:latin typeface="CNES Poster"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INSÉREZ LE TITRE </a:t>
            </a:r>
            <a:br>
              <a:rPr lang="fr-FR" dirty="0"/>
            </a:br>
            <a:r>
              <a:rPr lang="fr-FR" dirty="0"/>
              <a:t>DE VOTRE PARTIE</a:t>
            </a:r>
          </a:p>
        </p:txBody>
      </p:sp>
      <p:sp>
        <p:nvSpPr>
          <p:cNvPr id="48" name="Espace réservé du texte 60">
            <a:extLst>
              <a:ext uri="{FF2B5EF4-FFF2-40B4-BE49-F238E27FC236}">
                <a16:creationId xmlns:a16="http://schemas.microsoft.com/office/drawing/2014/main" id="{C10315D9-1EF7-3E8C-8836-178FF2DB3C8B}"/>
              </a:ext>
            </a:extLst>
          </p:cNvPr>
          <p:cNvSpPr>
            <a:spLocks noGrp="1"/>
          </p:cNvSpPr>
          <p:nvPr>
            <p:ph type="body" sz="quarter" idx="13" hasCustomPrompt="1"/>
          </p:nvPr>
        </p:nvSpPr>
        <p:spPr>
          <a:xfrm>
            <a:off x="3241699" y="959616"/>
            <a:ext cx="5746879" cy="2471482"/>
          </a:xfrm>
        </p:spPr>
        <p:txBody>
          <a:bodyPr tIns="0" anchor="t">
            <a:noAutofit/>
          </a:bodyPr>
          <a:lstStyle>
            <a:lvl1pPr algn="ctr">
              <a:defRPr sz="20800" cap="all" baseline="0">
                <a:ln w="15875">
                  <a:noFill/>
                </a:ln>
                <a:gradFill>
                  <a:gsLst>
                    <a:gs pos="12000">
                      <a:schemeClr val="accent4"/>
                    </a:gs>
                    <a:gs pos="29000">
                      <a:schemeClr val="accent3"/>
                    </a:gs>
                    <a:gs pos="73000">
                      <a:schemeClr val="tx2"/>
                    </a:gs>
                    <a:gs pos="56000">
                      <a:schemeClr val="bg2"/>
                    </a:gs>
                  </a:gsLst>
                  <a:lin ang="13500000" scaled="1"/>
                </a:gradFill>
                <a:latin typeface="CNES Poster" pitchFamily="2" charset="77"/>
              </a:defRPr>
            </a:lvl1pPr>
          </a:lstStyle>
          <a:p>
            <a:pPr lvl="0"/>
            <a:r>
              <a:rPr lang="fr-FR" dirty="0"/>
              <a:t>00</a:t>
            </a:r>
          </a:p>
        </p:txBody>
      </p:sp>
      <p:cxnSp>
        <p:nvCxnSpPr>
          <p:cNvPr id="49" name="Connecteur droit 48">
            <a:extLst>
              <a:ext uri="{FF2B5EF4-FFF2-40B4-BE49-F238E27FC236}">
                <a16:creationId xmlns:a16="http://schemas.microsoft.com/office/drawing/2014/main" id="{CCDF6B26-A83B-6476-CC14-C2E57A0989DC}"/>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8868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TEXTE DEUX BLOC CLAIR">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BF99B84A-DC2A-1A22-02D5-98E7BA9850A3}"/>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8AE8E2CD-FAA1-7703-C8A1-3E037A144160}"/>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 name="Espace réservé du texte 24">
            <a:extLst>
              <a:ext uri="{FF2B5EF4-FFF2-40B4-BE49-F238E27FC236}">
                <a16:creationId xmlns:a16="http://schemas.microsoft.com/office/drawing/2014/main" id="{BB575548-2049-7829-3DEA-3813EDB9F166}"/>
              </a:ext>
            </a:extLst>
          </p:cNvPr>
          <p:cNvSpPr>
            <a:spLocks noGrp="1"/>
          </p:cNvSpPr>
          <p:nvPr>
            <p:ph type="body" sz="quarter" idx="17"/>
          </p:nvPr>
        </p:nvSpPr>
        <p:spPr>
          <a:xfrm>
            <a:off x="346075" y="1806575"/>
            <a:ext cx="11318875" cy="4184650"/>
          </a:xfrm>
        </p:spPr>
        <p:txBody>
          <a:bodyPr numCol="2" spcCol="36000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29" name="Connecteur droit 28">
            <a:extLst>
              <a:ext uri="{FF2B5EF4-FFF2-40B4-BE49-F238E27FC236}">
                <a16:creationId xmlns:a16="http://schemas.microsoft.com/office/drawing/2014/main" id="{A5525062-E29E-C95A-73B9-5128769D233F}"/>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 name="Groupe 29">
            <a:extLst>
              <a:ext uri="{FF2B5EF4-FFF2-40B4-BE49-F238E27FC236}">
                <a16:creationId xmlns:a16="http://schemas.microsoft.com/office/drawing/2014/main" id="{7F25AEF5-3DF6-E9D5-C707-7CE300022B16}"/>
              </a:ext>
            </a:extLst>
          </p:cNvPr>
          <p:cNvGrpSpPr/>
          <p:nvPr userDrawn="1"/>
        </p:nvGrpSpPr>
        <p:grpSpPr>
          <a:xfrm>
            <a:off x="1274524" y="6279025"/>
            <a:ext cx="517010" cy="449924"/>
            <a:chOff x="1301606" y="6252162"/>
            <a:chExt cx="462845" cy="402788"/>
          </a:xfrm>
          <a:solidFill>
            <a:srgbClr val="004F91"/>
          </a:solidFill>
        </p:grpSpPr>
        <p:sp>
          <p:nvSpPr>
            <p:cNvPr id="31" name="Forme libre 30">
              <a:extLst>
                <a:ext uri="{FF2B5EF4-FFF2-40B4-BE49-F238E27FC236}">
                  <a16:creationId xmlns:a16="http://schemas.microsoft.com/office/drawing/2014/main" id="{DFA88CD1-4553-FF43-E33D-6F86DD887341}"/>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32" name="Forme libre 31">
              <a:extLst>
                <a:ext uri="{FF2B5EF4-FFF2-40B4-BE49-F238E27FC236}">
                  <a16:creationId xmlns:a16="http://schemas.microsoft.com/office/drawing/2014/main" id="{1FB9EBC5-903F-8A4B-26E6-B0CFE2E60973}"/>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3" name="Forme libre 32">
              <a:extLst>
                <a:ext uri="{FF2B5EF4-FFF2-40B4-BE49-F238E27FC236}">
                  <a16:creationId xmlns:a16="http://schemas.microsoft.com/office/drawing/2014/main" id="{EEDB41D9-1B69-5394-6865-6129C880237D}"/>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34" name="Forme libre 33">
              <a:extLst>
                <a:ext uri="{FF2B5EF4-FFF2-40B4-BE49-F238E27FC236}">
                  <a16:creationId xmlns:a16="http://schemas.microsoft.com/office/drawing/2014/main" id="{59B2CB4E-0767-8AB6-8F34-F5CA4B79E650}"/>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5" name="Forme libre 34">
              <a:extLst>
                <a:ext uri="{FF2B5EF4-FFF2-40B4-BE49-F238E27FC236}">
                  <a16:creationId xmlns:a16="http://schemas.microsoft.com/office/drawing/2014/main" id="{B2FC7A03-DE80-494B-B8FF-5EF1FA055261}"/>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6" name="Forme libre 35">
              <a:extLst>
                <a:ext uri="{FF2B5EF4-FFF2-40B4-BE49-F238E27FC236}">
                  <a16:creationId xmlns:a16="http://schemas.microsoft.com/office/drawing/2014/main" id="{7C730240-DF9A-7E6A-9982-99D2AB009500}"/>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7" name="Espace réservé du pied de page 4">
            <a:extLst>
              <a:ext uri="{FF2B5EF4-FFF2-40B4-BE49-F238E27FC236}">
                <a16:creationId xmlns:a16="http://schemas.microsoft.com/office/drawing/2014/main" id="{7B273BAE-7DD9-A9E3-E0A0-8180D4461662}"/>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52E2E62F-B2CC-CC9A-003E-8DA9D68BD118}"/>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2" name="Connecteur droit 1">
            <a:extLst>
              <a:ext uri="{FF2B5EF4-FFF2-40B4-BE49-F238E27FC236}">
                <a16:creationId xmlns:a16="http://schemas.microsoft.com/office/drawing/2014/main" id="{A8809AD8-0751-CADD-BDEA-FFBF4168517E}"/>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CEE82BB2-D520-20D5-265A-1A466D736400}"/>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134194525"/>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TITRE UNIQUEMENT">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CAAB5EB-9C22-3437-D94D-32C4A774F539}"/>
              </a:ext>
            </a:extLst>
          </p:cNvPr>
          <p:cNvGrpSpPr/>
          <p:nvPr userDrawn="1"/>
        </p:nvGrpSpPr>
        <p:grpSpPr>
          <a:xfrm>
            <a:off x="359170" y="6153060"/>
            <a:ext cx="781291" cy="704939"/>
            <a:chOff x="2295604" y="0"/>
            <a:chExt cx="7600791" cy="6858000"/>
          </a:xfrm>
        </p:grpSpPr>
        <p:sp>
          <p:nvSpPr>
            <p:cNvPr id="6" name="Forme libre 5">
              <a:extLst>
                <a:ext uri="{FF2B5EF4-FFF2-40B4-BE49-F238E27FC236}">
                  <a16:creationId xmlns:a16="http://schemas.microsoft.com/office/drawing/2014/main" id="{2AF54BE1-2B64-7CC1-B499-1C1514F96209}"/>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7" name="Graphique 12">
              <a:extLst>
                <a:ext uri="{FF2B5EF4-FFF2-40B4-BE49-F238E27FC236}">
                  <a16:creationId xmlns:a16="http://schemas.microsoft.com/office/drawing/2014/main" id="{230D0D24-96CD-491C-8B48-64B4172B8A80}"/>
                </a:ext>
              </a:extLst>
            </p:cNvPr>
            <p:cNvGrpSpPr/>
            <p:nvPr/>
          </p:nvGrpSpPr>
          <p:grpSpPr>
            <a:xfrm>
              <a:off x="3189814" y="894132"/>
              <a:ext cx="2464444" cy="894132"/>
              <a:chOff x="3189814" y="894132"/>
              <a:chExt cx="2464444" cy="894132"/>
            </a:xfrm>
          </p:grpSpPr>
          <p:sp>
            <p:nvSpPr>
              <p:cNvPr id="10" name="Forme libre 9">
                <a:extLst>
                  <a:ext uri="{FF2B5EF4-FFF2-40B4-BE49-F238E27FC236}">
                    <a16:creationId xmlns:a16="http://schemas.microsoft.com/office/drawing/2014/main" id="{B61906F8-6E65-0945-933A-1AB7E5EC4D30}"/>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19497B61-1444-6ACD-9373-4506BA6DA70B}"/>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F1CAF52E-F37C-D341-08D5-C687A5441082}"/>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8" name="Forme libre 7">
              <a:extLst>
                <a:ext uri="{FF2B5EF4-FFF2-40B4-BE49-F238E27FC236}">
                  <a16:creationId xmlns:a16="http://schemas.microsoft.com/office/drawing/2014/main" id="{9FA5455C-E39F-9FDE-E321-12891E195B33}"/>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9" name="Forme libre 8">
              <a:extLst>
                <a:ext uri="{FF2B5EF4-FFF2-40B4-BE49-F238E27FC236}">
                  <a16:creationId xmlns:a16="http://schemas.microsoft.com/office/drawing/2014/main" id="{332100D1-A0F3-FF6D-0A6C-2352A7FDA4B5}"/>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3" name="Connecteur droit 52">
            <a:extLst>
              <a:ext uri="{FF2B5EF4-FFF2-40B4-BE49-F238E27FC236}">
                <a16:creationId xmlns:a16="http://schemas.microsoft.com/office/drawing/2014/main" id="{F568F134-F47D-3AD0-FDA4-E2326194FC10}"/>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Titre 1">
            <a:extLst>
              <a:ext uri="{FF2B5EF4-FFF2-40B4-BE49-F238E27FC236}">
                <a16:creationId xmlns:a16="http://schemas.microsoft.com/office/drawing/2014/main" id="{5D805806-8445-FB4B-27F4-35FA59ACB6B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sp>
        <p:nvSpPr>
          <p:cNvPr id="4" name="Espace réservé du numéro de diapositive 5">
            <a:extLst>
              <a:ext uri="{FF2B5EF4-FFF2-40B4-BE49-F238E27FC236}">
                <a16:creationId xmlns:a16="http://schemas.microsoft.com/office/drawing/2014/main" id="{5ADACF6E-17C9-B664-F42B-F82D4F7794E2}"/>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58" name="Forme libre 57">
            <a:extLst>
              <a:ext uri="{FF2B5EF4-FFF2-40B4-BE49-F238E27FC236}">
                <a16:creationId xmlns:a16="http://schemas.microsoft.com/office/drawing/2014/main" id="{2ADE32E6-18D0-DA1F-C51A-061FA5F6655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3" name="Connecteur droit 12">
            <a:extLst>
              <a:ext uri="{FF2B5EF4-FFF2-40B4-BE49-F238E27FC236}">
                <a16:creationId xmlns:a16="http://schemas.microsoft.com/office/drawing/2014/main" id="{F6665F74-EC5A-32B0-5D3C-1244716B4C81}"/>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e 14">
            <a:extLst>
              <a:ext uri="{FF2B5EF4-FFF2-40B4-BE49-F238E27FC236}">
                <a16:creationId xmlns:a16="http://schemas.microsoft.com/office/drawing/2014/main" id="{CFA37BA5-FD6E-79CD-8C82-085D15164946}"/>
              </a:ext>
            </a:extLst>
          </p:cNvPr>
          <p:cNvGrpSpPr/>
          <p:nvPr userDrawn="1"/>
        </p:nvGrpSpPr>
        <p:grpSpPr>
          <a:xfrm>
            <a:off x="1274524" y="6279025"/>
            <a:ext cx="517010" cy="449924"/>
            <a:chOff x="1301606" y="6252162"/>
            <a:chExt cx="462845" cy="402788"/>
          </a:xfrm>
          <a:solidFill>
            <a:srgbClr val="004F91"/>
          </a:solidFill>
        </p:grpSpPr>
        <p:sp>
          <p:nvSpPr>
            <p:cNvPr id="16" name="Forme libre 15">
              <a:extLst>
                <a:ext uri="{FF2B5EF4-FFF2-40B4-BE49-F238E27FC236}">
                  <a16:creationId xmlns:a16="http://schemas.microsoft.com/office/drawing/2014/main" id="{B29F5DBF-7B9A-DF39-066F-1CE8295842B9}"/>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17" name="Forme libre 16">
              <a:extLst>
                <a:ext uri="{FF2B5EF4-FFF2-40B4-BE49-F238E27FC236}">
                  <a16:creationId xmlns:a16="http://schemas.microsoft.com/office/drawing/2014/main" id="{8B078D05-D824-9068-847F-99A10C6EBB05}"/>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5C958672-C181-5535-C5B4-DD88DE7F7BB4}"/>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C3ED88BE-9EA7-8DE8-D2E4-6C0A1900D601}"/>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EDB1DE15-B655-38E8-BF9C-960EFAD840F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94C2CD9D-5549-0EA7-6840-C8F68B1E6343}"/>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22" name="Espace réservé du pied de page 4">
            <a:extLst>
              <a:ext uri="{FF2B5EF4-FFF2-40B4-BE49-F238E27FC236}">
                <a16:creationId xmlns:a16="http://schemas.microsoft.com/office/drawing/2014/main" id="{CC632443-5F89-972A-A594-1E0D62E57178}"/>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cxnSp>
        <p:nvCxnSpPr>
          <p:cNvPr id="3" name="Connecteur droit 2">
            <a:extLst>
              <a:ext uri="{FF2B5EF4-FFF2-40B4-BE49-F238E27FC236}">
                <a16:creationId xmlns:a16="http://schemas.microsoft.com/office/drawing/2014/main" id="{F03C5BA4-E087-5F69-BB16-C1CFA60C2136}"/>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3" name="Espace réservé du texte 14">
            <a:extLst>
              <a:ext uri="{FF2B5EF4-FFF2-40B4-BE49-F238E27FC236}">
                <a16:creationId xmlns:a16="http://schemas.microsoft.com/office/drawing/2014/main" id="{006ADACC-AFCC-9A20-CD3D-6271760A3D78}"/>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9417813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6 POINTS NUMEROTES CLAIR">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7514ABB5-8C45-A88B-0542-5206182E7886}"/>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61D5E7DA-F8B6-B0F6-7154-39CCF7436BF3}"/>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Espace réservé du texte 17">
            <a:extLst>
              <a:ext uri="{FF2B5EF4-FFF2-40B4-BE49-F238E27FC236}">
                <a16:creationId xmlns:a16="http://schemas.microsoft.com/office/drawing/2014/main" id="{1065410F-F013-80F6-76B1-5D6B53B0DEC7}"/>
              </a:ext>
            </a:extLst>
          </p:cNvPr>
          <p:cNvSpPr>
            <a:spLocks noGrp="1"/>
          </p:cNvSpPr>
          <p:nvPr>
            <p:ph type="body" sz="quarter" idx="41" hasCustomPrompt="1"/>
          </p:nvPr>
        </p:nvSpPr>
        <p:spPr>
          <a:xfrm>
            <a:off x="1155247" y="1920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45" name="Espace réservé du texte 41">
            <a:extLst>
              <a:ext uri="{FF2B5EF4-FFF2-40B4-BE49-F238E27FC236}">
                <a16:creationId xmlns:a16="http://schemas.microsoft.com/office/drawing/2014/main" id="{FC37DD8B-ACC9-7EDC-DBAB-42B20FDCD843}"/>
              </a:ext>
            </a:extLst>
          </p:cNvPr>
          <p:cNvSpPr>
            <a:spLocks noGrp="1"/>
          </p:cNvSpPr>
          <p:nvPr>
            <p:ph type="body" sz="quarter" idx="42"/>
          </p:nvPr>
        </p:nvSpPr>
        <p:spPr>
          <a:xfrm>
            <a:off x="1155247" y="2601912"/>
            <a:ext cx="2717797" cy="1127071"/>
          </a:xfrm>
        </p:spPr>
        <p:txBody>
          <a:bodyPr/>
          <a:lstStyle/>
          <a:p>
            <a:pPr lvl="0"/>
            <a:r>
              <a:rPr lang="fr-FR" dirty="0"/>
              <a:t>Cliquez pour modifier les styles du texte du masque</a:t>
            </a:r>
          </a:p>
        </p:txBody>
      </p:sp>
      <p:sp>
        <p:nvSpPr>
          <p:cNvPr id="50" name="Espace réservé du texte 17">
            <a:extLst>
              <a:ext uri="{FF2B5EF4-FFF2-40B4-BE49-F238E27FC236}">
                <a16:creationId xmlns:a16="http://schemas.microsoft.com/office/drawing/2014/main" id="{D9E07F6B-DA3E-41CB-42E6-9DE496F07516}"/>
              </a:ext>
            </a:extLst>
          </p:cNvPr>
          <p:cNvSpPr>
            <a:spLocks noGrp="1"/>
          </p:cNvSpPr>
          <p:nvPr>
            <p:ph type="body" sz="quarter" idx="43" hasCustomPrompt="1"/>
          </p:nvPr>
        </p:nvSpPr>
        <p:spPr>
          <a:xfrm>
            <a:off x="1155247" y="3846587"/>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1" name="Espace réservé du texte 41">
            <a:extLst>
              <a:ext uri="{FF2B5EF4-FFF2-40B4-BE49-F238E27FC236}">
                <a16:creationId xmlns:a16="http://schemas.microsoft.com/office/drawing/2014/main" id="{63BF6000-3B6E-A2D2-2DFB-323211453453}"/>
              </a:ext>
            </a:extLst>
          </p:cNvPr>
          <p:cNvSpPr>
            <a:spLocks noGrp="1"/>
          </p:cNvSpPr>
          <p:nvPr>
            <p:ph type="body" sz="quarter" idx="44"/>
          </p:nvPr>
        </p:nvSpPr>
        <p:spPr>
          <a:xfrm>
            <a:off x="1155247" y="4528101"/>
            <a:ext cx="2717797" cy="1127071"/>
          </a:xfrm>
        </p:spPr>
        <p:txBody>
          <a:bodyPr/>
          <a:lstStyle/>
          <a:p>
            <a:pPr lvl="0"/>
            <a:r>
              <a:rPr lang="fr-FR" dirty="0"/>
              <a:t>Cliquez pour modifier les styles du texte du masque</a:t>
            </a:r>
          </a:p>
        </p:txBody>
      </p:sp>
      <p:sp>
        <p:nvSpPr>
          <p:cNvPr id="52" name="Espace réservé du texte 17">
            <a:extLst>
              <a:ext uri="{FF2B5EF4-FFF2-40B4-BE49-F238E27FC236}">
                <a16:creationId xmlns:a16="http://schemas.microsoft.com/office/drawing/2014/main" id="{DE93F381-54D8-FDEC-EE8E-8FD2DF5C91A7}"/>
              </a:ext>
            </a:extLst>
          </p:cNvPr>
          <p:cNvSpPr>
            <a:spLocks noGrp="1"/>
          </p:cNvSpPr>
          <p:nvPr>
            <p:ph type="body" sz="quarter" idx="45" hasCustomPrompt="1"/>
          </p:nvPr>
        </p:nvSpPr>
        <p:spPr>
          <a:xfrm>
            <a:off x="5053377" y="1922825"/>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3" name="Espace réservé du texte 41">
            <a:extLst>
              <a:ext uri="{FF2B5EF4-FFF2-40B4-BE49-F238E27FC236}">
                <a16:creationId xmlns:a16="http://schemas.microsoft.com/office/drawing/2014/main" id="{AD0B8F82-CA25-A2F3-B85D-388B06125568}"/>
              </a:ext>
            </a:extLst>
          </p:cNvPr>
          <p:cNvSpPr>
            <a:spLocks noGrp="1"/>
          </p:cNvSpPr>
          <p:nvPr>
            <p:ph type="body" sz="quarter" idx="46"/>
          </p:nvPr>
        </p:nvSpPr>
        <p:spPr>
          <a:xfrm>
            <a:off x="5053377" y="2604339"/>
            <a:ext cx="2717797" cy="1127071"/>
          </a:xfrm>
        </p:spPr>
        <p:txBody>
          <a:bodyPr/>
          <a:lstStyle/>
          <a:p>
            <a:pPr lvl="0"/>
            <a:r>
              <a:rPr lang="fr-FR" dirty="0"/>
              <a:t>Cliquez pour modifier les styles du texte du masque</a:t>
            </a:r>
          </a:p>
        </p:txBody>
      </p:sp>
      <p:sp>
        <p:nvSpPr>
          <p:cNvPr id="54" name="Espace réservé du texte 17">
            <a:extLst>
              <a:ext uri="{FF2B5EF4-FFF2-40B4-BE49-F238E27FC236}">
                <a16:creationId xmlns:a16="http://schemas.microsoft.com/office/drawing/2014/main" id="{29ADB64B-3DB1-B8C8-4050-8043EB416585}"/>
              </a:ext>
            </a:extLst>
          </p:cNvPr>
          <p:cNvSpPr>
            <a:spLocks noGrp="1"/>
          </p:cNvSpPr>
          <p:nvPr>
            <p:ph type="body" sz="quarter" idx="47" hasCustomPrompt="1"/>
          </p:nvPr>
        </p:nvSpPr>
        <p:spPr>
          <a:xfrm>
            <a:off x="5053377" y="3849014"/>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5" name="Espace réservé du texte 41">
            <a:extLst>
              <a:ext uri="{FF2B5EF4-FFF2-40B4-BE49-F238E27FC236}">
                <a16:creationId xmlns:a16="http://schemas.microsoft.com/office/drawing/2014/main" id="{95BD4B18-C1FD-F590-6699-B9BAE0525856}"/>
              </a:ext>
            </a:extLst>
          </p:cNvPr>
          <p:cNvSpPr>
            <a:spLocks noGrp="1"/>
          </p:cNvSpPr>
          <p:nvPr>
            <p:ph type="body" sz="quarter" idx="48"/>
          </p:nvPr>
        </p:nvSpPr>
        <p:spPr>
          <a:xfrm>
            <a:off x="5053377" y="4530528"/>
            <a:ext cx="2717797" cy="1127071"/>
          </a:xfrm>
        </p:spPr>
        <p:txBody>
          <a:bodyPr/>
          <a:lstStyle/>
          <a:p>
            <a:pPr lvl="0"/>
            <a:r>
              <a:rPr lang="fr-FR" dirty="0"/>
              <a:t>Cliquez pour modifier les styles du texte du masque</a:t>
            </a:r>
          </a:p>
        </p:txBody>
      </p:sp>
      <p:sp>
        <p:nvSpPr>
          <p:cNvPr id="56" name="Espace réservé du texte 17">
            <a:extLst>
              <a:ext uri="{FF2B5EF4-FFF2-40B4-BE49-F238E27FC236}">
                <a16:creationId xmlns:a16="http://schemas.microsoft.com/office/drawing/2014/main" id="{ADC41E37-05A0-B70D-BFDE-E64ADB32B072}"/>
              </a:ext>
            </a:extLst>
          </p:cNvPr>
          <p:cNvSpPr>
            <a:spLocks noGrp="1"/>
          </p:cNvSpPr>
          <p:nvPr>
            <p:ph type="body" sz="quarter" idx="49" hasCustomPrompt="1"/>
          </p:nvPr>
        </p:nvSpPr>
        <p:spPr>
          <a:xfrm>
            <a:off x="8935529" y="1925209"/>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7" name="Espace réservé du texte 41">
            <a:extLst>
              <a:ext uri="{FF2B5EF4-FFF2-40B4-BE49-F238E27FC236}">
                <a16:creationId xmlns:a16="http://schemas.microsoft.com/office/drawing/2014/main" id="{1C7D2D23-0972-523B-9221-69338F8220D9}"/>
              </a:ext>
            </a:extLst>
          </p:cNvPr>
          <p:cNvSpPr>
            <a:spLocks noGrp="1"/>
          </p:cNvSpPr>
          <p:nvPr>
            <p:ph type="body" sz="quarter" idx="50"/>
          </p:nvPr>
        </p:nvSpPr>
        <p:spPr>
          <a:xfrm>
            <a:off x="8935529" y="2606723"/>
            <a:ext cx="2717797" cy="1127071"/>
          </a:xfrm>
        </p:spPr>
        <p:txBody>
          <a:bodyPr/>
          <a:lstStyle/>
          <a:p>
            <a:pPr lvl="0"/>
            <a:r>
              <a:rPr lang="fr-FR" dirty="0"/>
              <a:t>Cliquez pour modifier les styles du texte du masque</a:t>
            </a:r>
          </a:p>
        </p:txBody>
      </p:sp>
      <p:sp>
        <p:nvSpPr>
          <p:cNvPr id="58" name="Espace réservé du texte 17">
            <a:extLst>
              <a:ext uri="{FF2B5EF4-FFF2-40B4-BE49-F238E27FC236}">
                <a16:creationId xmlns:a16="http://schemas.microsoft.com/office/drawing/2014/main" id="{6063B0F2-B7BA-E6FE-2A8C-3848D743A107}"/>
              </a:ext>
            </a:extLst>
          </p:cNvPr>
          <p:cNvSpPr>
            <a:spLocks noGrp="1"/>
          </p:cNvSpPr>
          <p:nvPr>
            <p:ph type="body" sz="quarter" idx="51" hasCustomPrompt="1"/>
          </p:nvPr>
        </p:nvSpPr>
        <p:spPr>
          <a:xfrm>
            <a:off x="8935529" y="3851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9" name="Espace réservé du texte 41">
            <a:extLst>
              <a:ext uri="{FF2B5EF4-FFF2-40B4-BE49-F238E27FC236}">
                <a16:creationId xmlns:a16="http://schemas.microsoft.com/office/drawing/2014/main" id="{FC9EE90A-A06A-81C3-0C43-004FBA7B2B1F}"/>
              </a:ext>
            </a:extLst>
          </p:cNvPr>
          <p:cNvSpPr>
            <a:spLocks noGrp="1"/>
          </p:cNvSpPr>
          <p:nvPr>
            <p:ph type="body" sz="quarter" idx="52"/>
          </p:nvPr>
        </p:nvSpPr>
        <p:spPr>
          <a:xfrm>
            <a:off x="8935529" y="4532912"/>
            <a:ext cx="2717797" cy="1127071"/>
          </a:xfrm>
        </p:spPr>
        <p:txBody>
          <a:bodyPr/>
          <a:lstStyle/>
          <a:p>
            <a:pPr lvl="0"/>
            <a:r>
              <a:rPr lang="fr-FR" dirty="0"/>
              <a:t>Cliquez pour modifier les styles du texte du masque</a:t>
            </a:r>
          </a:p>
        </p:txBody>
      </p:sp>
      <p:sp>
        <p:nvSpPr>
          <p:cNvPr id="3" name="Espace réservé du texte 31">
            <a:extLst>
              <a:ext uri="{FF2B5EF4-FFF2-40B4-BE49-F238E27FC236}">
                <a16:creationId xmlns:a16="http://schemas.microsoft.com/office/drawing/2014/main" id="{6A9A3F81-984B-4AFC-08E0-E08C2F864CB2}"/>
              </a:ext>
            </a:extLst>
          </p:cNvPr>
          <p:cNvSpPr>
            <a:spLocks noGrp="1"/>
          </p:cNvSpPr>
          <p:nvPr>
            <p:ph type="body" sz="quarter" idx="33" hasCustomPrompt="1"/>
          </p:nvPr>
        </p:nvSpPr>
        <p:spPr>
          <a:xfrm>
            <a:off x="8184156" y="3844402"/>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9" name="Espace réservé du texte 31">
            <a:extLst>
              <a:ext uri="{FF2B5EF4-FFF2-40B4-BE49-F238E27FC236}">
                <a16:creationId xmlns:a16="http://schemas.microsoft.com/office/drawing/2014/main" id="{48C40023-4D70-CD14-0740-BBE30CE27384}"/>
              </a:ext>
            </a:extLst>
          </p:cNvPr>
          <p:cNvSpPr>
            <a:spLocks noGrp="1"/>
          </p:cNvSpPr>
          <p:nvPr>
            <p:ph type="body" sz="quarter" idx="36" hasCustomPrompt="1"/>
          </p:nvPr>
        </p:nvSpPr>
        <p:spPr>
          <a:xfrm>
            <a:off x="8184156" y="1907728"/>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0" name="Espace réservé du texte 31">
            <a:extLst>
              <a:ext uri="{FF2B5EF4-FFF2-40B4-BE49-F238E27FC236}">
                <a16:creationId xmlns:a16="http://schemas.microsoft.com/office/drawing/2014/main" id="{552A54CE-3C28-35E0-FBCB-8CF55CE4BC3E}"/>
              </a:ext>
            </a:extLst>
          </p:cNvPr>
          <p:cNvSpPr>
            <a:spLocks noGrp="1"/>
          </p:cNvSpPr>
          <p:nvPr>
            <p:ph type="body" sz="quarter" idx="37" hasCustomPrompt="1"/>
          </p:nvPr>
        </p:nvSpPr>
        <p:spPr>
          <a:xfrm>
            <a:off x="4297956" y="3844402"/>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5" name="Espace réservé du texte 31">
            <a:extLst>
              <a:ext uri="{FF2B5EF4-FFF2-40B4-BE49-F238E27FC236}">
                <a16:creationId xmlns:a16="http://schemas.microsoft.com/office/drawing/2014/main" id="{77D2F004-253C-E122-0FE1-8A4D965AFE53}"/>
              </a:ext>
            </a:extLst>
          </p:cNvPr>
          <p:cNvSpPr>
            <a:spLocks noGrp="1"/>
          </p:cNvSpPr>
          <p:nvPr>
            <p:ph type="body" sz="quarter" idx="38" hasCustomPrompt="1"/>
          </p:nvPr>
        </p:nvSpPr>
        <p:spPr>
          <a:xfrm>
            <a:off x="4297956" y="1907728"/>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7" name="Espace réservé du texte 31">
            <a:extLst>
              <a:ext uri="{FF2B5EF4-FFF2-40B4-BE49-F238E27FC236}">
                <a16:creationId xmlns:a16="http://schemas.microsoft.com/office/drawing/2014/main" id="{318D9A38-5114-0FD0-AE89-544CE5D3170E}"/>
              </a:ext>
            </a:extLst>
          </p:cNvPr>
          <p:cNvSpPr>
            <a:spLocks noGrp="1"/>
          </p:cNvSpPr>
          <p:nvPr>
            <p:ph type="body" sz="quarter" idx="39" hasCustomPrompt="1"/>
          </p:nvPr>
        </p:nvSpPr>
        <p:spPr>
          <a:xfrm>
            <a:off x="400174" y="3844402"/>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8" name="Espace réservé du texte 31">
            <a:extLst>
              <a:ext uri="{FF2B5EF4-FFF2-40B4-BE49-F238E27FC236}">
                <a16:creationId xmlns:a16="http://schemas.microsoft.com/office/drawing/2014/main" id="{DF46BB10-D28B-78C0-1288-556D8546482D}"/>
              </a:ext>
            </a:extLst>
          </p:cNvPr>
          <p:cNvSpPr>
            <a:spLocks noGrp="1"/>
          </p:cNvSpPr>
          <p:nvPr>
            <p:ph type="body" sz="quarter" idx="40" hasCustomPrompt="1"/>
          </p:nvPr>
        </p:nvSpPr>
        <p:spPr>
          <a:xfrm>
            <a:off x="400174" y="1907728"/>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cxnSp>
        <p:nvCxnSpPr>
          <p:cNvPr id="19" name="Connecteur droit 18">
            <a:extLst>
              <a:ext uri="{FF2B5EF4-FFF2-40B4-BE49-F238E27FC236}">
                <a16:creationId xmlns:a16="http://schemas.microsoft.com/office/drawing/2014/main" id="{24D17B00-2DA6-BF26-8248-B14226F7F584}"/>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Groupe 20">
            <a:extLst>
              <a:ext uri="{FF2B5EF4-FFF2-40B4-BE49-F238E27FC236}">
                <a16:creationId xmlns:a16="http://schemas.microsoft.com/office/drawing/2014/main" id="{54E0DA03-C9FA-4369-D7E6-914A7A0228F0}"/>
              </a:ext>
            </a:extLst>
          </p:cNvPr>
          <p:cNvGrpSpPr/>
          <p:nvPr userDrawn="1"/>
        </p:nvGrpSpPr>
        <p:grpSpPr>
          <a:xfrm>
            <a:off x="1274524" y="6279025"/>
            <a:ext cx="517010" cy="449924"/>
            <a:chOff x="1301606" y="6252162"/>
            <a:chExt cx="462845" cy="402788"/>
          </a:xfrm>
          <a:solidFill>
            <a:srgbClr val="004F91"/>
          </a:solidFill>
        </p:grpSpPr>
        <p:sp>
          <p:nvSpPr>
            <p:cNvPr id="22" name="Forme libre 21">
              <a:extLst>
                <a:ext uri="{FF2B5EF4-FFF2-40B4-BE49-F238E27FC236}">
                  <a16:creationId xmlns:a16="http://schemas.microsoft.com/office/drawing/2014/main" id="{CB36E962-370B-3B65-FA79-3DCF41D90FF1}"/>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3" name="Forme libre 22">
              <a:extLst>
                <a:ext uri="{FF2B5EF4-FFF2-40B4-BE49-F238E27FC236}">
                  <a16:creationId xmlns:a16="http://schemas.microsoft.com/office/drawing/2014/main" id="{BF743F12-5F24-7B05-E043-A5D8E0815C50}"/>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40B941B-9969-7624-6483-98619590CD8B}"/>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4019D7C0-06B2-44D7-D0E9-7115C5A3D65F}"/>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269B3DD8-22EE-BF70-3C19-34D4AB3A419E}"/>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477FE9B-96AF-EA35-52B6-9265B12AE6CC}"/>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4" name="Espace réservé du pied de page 4">
            <a:extLst>
              <a:ext uri="{FF2B5EF4-FFF2-40B4-BE49-F238E27FC236}">
                <a16:creationId xmlns:a16="http://schemas.microsoft.com/office/drawing/2014/main" id="{BFF319D9-2316-735A-8D1A-1D4CEF710D34}"/>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2" name="Titre 1">
            <a:extLst>
              <a:ext uri="{FF2B5EF4-FFF2-40B4-BE49-F238E27FC236}">
                <a16:creationId xmlns:a16="http://schemas.microsoft.com/office/drawing/2014/main" id="{90C51472-1E40-E431-F583-2DD3C3C0311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5" name="Connecteur droit 4">
            <a:extLst>
              <a:ext uri="{FF2B5EF4-FFF2-40B4-BE49-F238E27FC236}">
                <a16:creationId xmlns:a16="http://schemas.microsoft.com/office/drawing/2014/main" id="{B9D7D508-7E6A-1DA6-7A08-6B98F24F1494}"/>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Espace réservé du texte 14">
            <a:extLst>
              <a:ext uri="{FF2B5EF4-FFF2-40B4-BE49-F238E27FC236}">
                <a16:creationId xmlns:a16="http://schemas.microsoft.com/office/drawing/2014/main" id="{228E83B4-87CC-661D-5652-413AACF2ACF1}"/>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1511464135"/>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guide id="3"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6 POINTS ILLUSTRES CLAIRE">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7514ABB5-8C45-A88B-0542-5206182E7886}"/>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61D5E7DA-F8B6-B0F6-7154-39CCF7436BF3}"/>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Espace réservé du texte 17">
            <a:extLst>
              <a:ext uri="{FF2B5EF4-FFF2-40B4-BE49-F238E27FC236}">
                <a16:creationId xmlns:a16="http://schemas.microsoft.com/office/drawing/2014/main" id="{1065410F-F013-80F6-76B1-5D6B53B0DEC7}"/>
              </a:ext>
            </a:extLst>
          </p:cNvPr>
          <p:cNvSpPr>
            <a:spLocks noGrp="1"/>
          </p:cNvSpPr>
          <p:nvPr>
            <p:ph type="body" sz="quarter" idx="41" hasCustomPrompt="1"/>
          </p:nvPr>
        </p:nvSpPr>
        <p:spPr>
          <a:xfrm>
            <a:off x="1155247" y="1920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45" name="Espace réservé du texte 41">
            <a:extLst>
              <a:ext uri="{FF2B5EF4-FFF2-40B4-BE49-F238E27FC236}">
                <a16:creationId xmlns:a16="http://schemas.microsoft.com/office/drawing/2014/main" id="{FC37DD8B-ACC9-7EDC-DBAB-42B20FDCD843}"/>
              </a:ext>
            </a:extLst>
          </p:cNvPr>
          <p:cNvSpPr>
            <a:spLocks noGrp="1"/>
          </p:cNvSpPr>
          <p:nvPr>
            <p:ph type="body" sz="quarter" idx="42"/>
          </p:nvPr>
        </p:nvSpPr>
        <p:spPr>
          <a:xfrm>
            <a:off x="1155247" y="2601912"/>
            <a:ext cx="2717797" cy="1127071"/>
          </a:xfrm>
        </p:spPr>
        <p:txBody>
          <a:bodyPr/>
          <a:lstStyle/>
          <a:p>
            <a:pPr lvl="0"/>
            <a:r>
              <a:rPr lang="fr-FR" dirty="0"/>
              <a:t>Cliquez pour modifier les styles du texte du masque</a:t>
            </a:r>
          </a:p>
        </p:txBody>
      </p:sp>
      <p:sp>
        <p:nvSpPr>
          <p:cNvPr id="50" name="Espace réservé du texte 17">
            <a:extLst>
              <a:ext uri="{FF2B5EF4-FFF2-40B4-BE49-F238E27FC236}">
                <a16:creationId xmlns:a16="http://schemas.microsoft.com/office/drawing/2014/main" id="{D9E07F6B-DA3E-41CB-42E6-9DE496F07516}"/>
              </a:ext>
            </a:extLst>
          </p:cNvPr>
          <p:cNvSpPr>
            <a:spLocks noGrp="1"/>
          </p:cNvSpPr>
          <p:nvPr>
            <p:ph type="body" sz="quarter" idx="43" hasCustomPrompt="1"/>
          </p:nvPr>
        </p:nvSpPr>
        <p:spPr>
          <a:xfrm>
            <a:off x="1155247" y="3846587"/>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1" name="Espace réservé du texte 41">
            <a:extLst>
              <a:ext uri="{FF2B5EF4-FFF2-40B4-BE49-F238E27FC236}">
                <a16:creationId xmlns:a16="http://schemas.microsoft.com/office/drawing/2014/main" id="{63BF6000-3B6E-A2D2-2DFB-323211453453}"/>
              </a:ext>
            </a:extLst>
          </p:cNvPr>
          <p:cNvSpPr>
            <a:spLocks noGrp="1"/>
          </p:cNvSpPr>
          <p:nvPr>
            <p:ph type="body" sz="quarter" idx="44"/>
          </p:nvPr>
        </p:nvSpPr>
        <p:spPr>
          <a:xfrm>
            <a:off x="1155247" y="4528101"/>
            <a:ext cx="2717797" cy="1127071"/>
          </a:xfrm>
        </p:spPr>
        <p:txBody>
          <a:bodyPr/>
          <a:lstStyle/>
          <a:p>
            <a:pPr lvl="0"/>
            <a:r>
              <a:rPr lang="fr-FR" dirty="0"/>
              <a:t>Cliquez pour modifier les styles du texte du masque</a:t>
            </a:r>
          </a:p>
        </p:txBody>
      </p:sp>
      <p:sp>
        <p:nvSpPr>
          <p:cNvPr id="52" name="Espace réservé du texte 17">
            <a:extLst>
              <a:ext uri="{FF2B5EF4-FFF2-40B4-BE49-F238E27FC236}">
                <a16:creationId xmlns:a16="http://schemas.microsoft.com/office/drawing/2014/main" id="{DE93F381-54D8-FDEC-EE8E-8FD2DF5C91A7}"/>
              </a:ext>
            </a:extLst>
          </p:cNvPr>
          <p:cNvSpPr>
            <a:spLocks noGrp="1"/>
          </p:cNvSpPr>
          <p:nvPr>
            <p:ph type="body" sz="quarter" idx="45" hasCustomPrompt="1"/>
          </p:nvPr>
        </p:nvSpPr>
        <p:spPr>
          <a:xfrm>
            <a:off x="5053377" y="1922825"/>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3" name="Espace réservé du texte 41">
            <a:extLst>
              <a:ext uri="{FF2B5EF4-FFF2-40B4-BE49-F238E27FC236}">
                <a16:creationId xmlns:a16="http://schemas.microsoft.com/office/drawing/2014/main" id="{AD0B8F82-CA25-A2F3-B85D-388B06125568}"/>
              </a:ext>
            </a:extLst>
          </p:cNvPr>
          <p:cNvSpPr>
            <a:spLocks noGrp="1"/>
          </p:cNvSpPr>
          <p:nvPr>
            <p:ph type="body" sz="quarter" idx="46"/>
          </p:nvPr>
        </p:nvSpPr>
        <p:spPr>
          <a:xfrm>
            <a:off x="5053377" y="2604339"/>
            <a:ext cx="2717797" cy="1127071"/>
          </a:xfrm>
        </p:spPr>
        <p:txBody>
          <a:bodyPr/>
          <a:lstStyle/>
          <a:p>
            <a:pPr lvl="0"/>
            <a:r>
              <a:rPr lang="fr-FR" dirty="0"/>
              <a:t>Cliquez pour modifier les styles du texte du masque</a:t>
            </a:r>
          </a:p>
        </p:txBody>
      </p:sp>
      <p:sp>
        <p:nvSpPr>
          <p:cNvPr id="54" name="Espace réservé du texte 17">
            <a:extLst>
              <a:ext uri="{FF2B5EF4-FFF2-40B4-BE49-F238E27FC236}">
                <a16:creationId xmlns:a16="http://schemas.microsoft.com/office/drawing/2014/main" id="{29ADB64B-3DB1-B8C8-4050-8043EB416585}"/>
              </a:ext>
            </a:extLst>
          </p:cNvPr>
          <p:cNvSpPr>
            <a:spLocks noGrp="1"/>
          </p:cNvSpPr>
          <p:nvPr>
            <p:ph type="body" sz="quarter" idx="47" hasCustomPrompt="1"/>
          </p:nvPr>
        </p:nvSpPr>
        <p:spPr>
          <a:xfrm>
            <a:off x="5053377" y="3849014"/>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5" name="Espace réservé du texte 41">
            <a:extLst>
              <a:ext uri="{FF2B5EF4-FFF2-40B4-BE49-F238E27FC236}">
                <a16:creationId xmlns:a16="http://schemas.microsoft.com/office/drawing/2014/main" id="{95BD4B18-C1FD-F590-6699-B9BAE0525856}"/>
              </a:ext>
            </a:extLst>
          </p:cNvPr>
          <p:cNvSpPr>
            <a:spLocks noGrp="1"/>
          </p:cNvSpPr>
          <p:nvPr>
            <p:ph type="body" sz="quarter" idx="48"/>
          </p:nvPr>
        </p:nvSpPr>
        <p:spPr>
          <a:xfrm>
            <a:off x="5053377" y="4530528"/>
            <a:ext cx="2717797" cy="1127071"/>
          </a:xfrm>
        </p:spPr>
        <p:txBody>
          <a:bodyPr/>
          <a:lstStyle/>
          <a:p>
            <a:pPr lvl="0"/>
            <a:r>
              <a:rPr lang="fr-FR" dirty="0"/>
              <a:t>Cliquez pour modifier les styles du texte du masque</a:t>
            </a:r>
          </a:p>
        </p:txBody>
      </p:sp>
      <p:sp>
        <p:nvSpPr>
          <p:cNvPr id="56" name="Espace réservé du texte 17">
            <a:extLst>
              <a:ext uri="{FF2B5EF4-FFF2-40B4-BE49-F238E27FC236}">
                <a16:creationId xmlns:a16="http://schemas.microsoft.com/office/drawing/2014/main" id="{ADC41E37-05A0-B70D-BFDE-E64ADB32B072}"/>
              </a:ext>
            </a:extLst>
          </p:cNvPr>
          <p:cNvSpPr>
            <a:spLocks noGrp="1"/>
          </p:cNvSpPr>
          <p:nvPr>
            <p:ph type="body" sz="quarter" idx="49" hasCustomPrompt="1"/>
          </p:nvPr>
        </p:nvSpPr>
        <p:spPr>
          <a:xfrm>
            <a:off x="8935529" y="1925209"/>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7" name="Espace réservé du texte 41">
            <a:extLst>
              <a:ext uri="{FF2B5EF4-FFF2-40B4-BE49-F238E27FC236}">
                <a16:creationId xmlns:a16="http://schemas.microsoft.com/office/drawing/2014/main" id="{1C7D2D23-0972-523B-9221-69338F8220D9}"/>
              </a:ext>
            </a:extLst>
          </p:cNvPr>
          <p:cNvSpPr>
            <a:spLocks noGrp="1"/>
          </p:cNvSpPr>
          <p:nvPr>
            <p:ph type="body" sz="quarter" idx="50"/>
          </p:nvPr>
        </p:nvSpPr>
        <p:spPr>
          <a:xfrm>
            <a:off x="8935529" y="2606723"/>
            <a:ext cx="2717797" cy="1127071"/>
          </a:xfrm>
        </p:spPr>
        <p:txBody>
          <a:bodyPr/>
          <a:lstStyle/>
          <a:p>
            <a:pPr lvl="0"/>
            <a:r>
              <a:rPr lang="fr-FR" dirty="0"/>
              <a:t>Cliquez pour modifier les styles du texte du masque</a:t>
            </a:r>
          </a:p>
        </p:txBody>
      </p:sp>
      <p:sp>
        <p:nvSpPr>
          <p:cNvPr id="58" name="Espace réservé du texte 17">
            <a:extLst>
              <a:ext uri="{FF2B5EF4-FFF2-40B4-BE49-F238E27FC236}">
                <a16:creationId xmlns:a16="http://schemas.microsoft.com/office/drawing/2014/main" id="{6063B0F2-B7BA-E6FE-2A8C-3848D743A107}"/>
              </a:ext>
            </a:extLst>
          </p:cNvPr>
          <p:cNvSpPr>
            <a:spLocks noGrp="1"/>
          </p:cNvSpPr>
          <p:nvPr>
            <p:ph type="body" sz="quarter" idx="51" hasCustomPrompt="1"/>
          </p:nvPr>
        </p:nvSpPr>
        <p:spPr>
          <a:xfrm>
            <a:off x="8935529" y="3851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9" name="Espace réservé du texte 41">
            <a:extLst>
              <a:ext uri="{FF2B5EF4-FFF2-40B4-BE49-F238E27FC236}">
                <a16:creationId xmlns:a16="http://schemas.microsoft.com/office/drawing/2014/main" id="{FC9EE90A-A06A-81C3-0C43-004FBA7B2B1F}"/>
              </a:ext>
            </a:extLst>
          </p:cNvPr>
          <p:cNvSpPr>
            <a:spLocks noGrp="1"/>
          </p:cNvSpPr>
          <p:nvPr>
            <p:ph type="body" sz="quarter" idx="52"/>
          </p:nvPr>
        </p:nvSpPr>
        <p:spPr>
          <a:xfrm>
            <a:off x="8935529" y="4532912"/>
            <a:ext cx="2717797" cy="1127071"/>
          </a:xfrm>
        </p:spPr>
        <p:txBody>
          <a:bodyPr/>
          <a:lstStyle/>
          <a:p>
            <a:pPr lvl="0"/>
            <a:r>
              <a:rPr lang="fr-FR" dirty="0"/>
              <a:t>Cliquez pour modifier les styles du texte du masque</a:t>
            </a:r>
          </a:p>
        </p:txBody>
      </p:sp>
      <p:sp>
        <p:nvSpPr>
          <p:cNvPr id="17" name="Ellipse 16">
            <a:extLst>
              <a:ext uri="{FF2B5EF4-FFF2-40B4-BE49-F238E27FC236}">
                <a16:creationId xmlns:a16="http://schemas.microsoft.com/office/drawing/2014/main" id="{C6B6CAA5-164F-CA4F-F36F-F17E259C5E14}"/>
              </a:ext>
            </a:extLst>
          </p:cNvPr>
          <p:cNvSpPr/>
          <p:nvPr userDrawn="1"/>
        </p:nvSpPr>
        <p:spPr>
          <a:xfrm>
            <a:off x="4298695" y="189994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18" name="Ellipse 17">
            <a:extLst>
              <a:ext uri="{FF2B5EF4-FFF2-40B4-BE49-F238E27FC236}">
                <a16:creationId xmlns:a16="http://schemas.microsoft.com/office/drawing/2014/main" id="{ADC589A6-E578-48CC-D8C7-C89258A26CF4}"/>
              </a:ext>
            </a:extLst>
          </p:cNvPr>
          <p:cNvSpPr/>
          <p:nvPr userDrawn="1"/>
        </p:nvSpPr>
        <p:spPr>
          <a:xfrm>
            <a:off x="4297957" y="384440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2" name="Ellipse 21">
            <a:extLst>
              <a:ext uri="{FF2B5EF4-FFF2-40B4-BE49-F238E27FC236}">
                <a16:creationId xmlns:a16="http://schemas.microsoft.com/office/drawing/2014/main" id="{2927F1D1-AB8E-94D3-C922-A5A2BBDC8920}"/>
              </a:ext>
            </a:extLst>
          </p:cNvPr>
          <p:cNvSpPr/>
          <p:nvPr userDrawn="1"/>
        </p:nvSpPr>
        <p:spPr>
          <a:xfrm>
            <a:off x="8184157" y="189994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3" name="Ellipse 22">
            <a:extLst>
              <a:ext uri="{FF2B5EF4-FFF2-40B4-BE49-F238E27FC236}">
                <a16:creationId xmlns:a16="http://schemas.microsoft.com/office/drawing/2014/main" id="{F2AFC405-FACA-B943-98DA-B08795D14B05}"/>
              </a:ext>
            </a:extLst>
          </p:cNvPr>
          <p:cNvSpPr/>
          <p:nvPr userDrawn="1"/>
        </p:nvSpPr>
        <p:spPr>
          <a:xfrm>
            <a:off x="8183419" y="384440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4" name="Ellipse 23">
            <a:extLst>
              <a:ext uri="{FF2B5EF4-FFF2-40B4-BE49-F238E27FC236}">
                <a16:creationId xmlns:a16="http://schemas.microsoft.com/office/drawing/2014/main" id="{FEFA2441-4F31-6A13-1387-1142FA0175AB}"/>
              </a:ext>
            </a:extLst>
          </p:cNvPr>
          <p:cNvSpPr/>
          <p:nvPr userDrawn="1"/>
        </p:nvSpPr>
        <p:spPr>
          <a:xfrm>
            <a:off x="400174" y="1904554"/>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5" name="Ellipse 24">
            <a:extLst>
              <a:ext uri="{FF2B5EF4-FFF2-40B4-BE49-F238E27FC236}">
                <a16:creationId xmlns:a16="http://schemas.microsoft.com/office/drawing/2014/main" id="{D9F3354E-08DB-0AB5-27EA-7F79937FEF7D}"/>
              </a:ext>
            </a:extLst>
          </p:cNvPr>
          <p:cNvSpPr/>
          <p:nvPr userDrawn="1"/>
        </p:nvSpPr>
        <p:spPr>
          <a:xfrm>
            <a:off x="399436" y="3849014"/>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cxnSp>
        <p:nvCxnSpPr>
          <p:cNvPr id="31" name="Connecteur droit 30">
            <a:extLst>
              <a:ext uri="{FF2B5EF4-FFF2-40B4-BE49-F238E27FC236}">
                <a16:creationId xmlns:a16="http://schemas.microsoft.com/office/drawing/2014/main" id="{9858A767-156B-794C-DE05-7D0FE7AAFAC5}"/>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Groupe 33">
            <a:extLst>
              <a:ext uri="{FF2B5EF4-FFF2-40B4-BE49-F238E27FC236}">
                <a16:creationId xmlns:a16="http://schemas.microsoft.com/office/drawing/2014/main" id="{1074F824-1D68-2B97-DC37-E16CFD379FCB}"/>
              </a:ext>
            </a:extLst>
          </p:cNvPr>
          <p:cNvGrpSpPr/>
          <p:nvPr userDrawn="1"/>
        </p:nvGrpSpPr>
        <p:grpSpPr>
          <a:xfrm>
            <a:off x="1274524" y="6279025"/>
            <a:ext cx="517010" cy="449924"/>
            <a:chOff x="1301606" y="6252162"/>
            <a:chExt cx="462845" cy="402788"/>
          </a:xfrm>
          <a:solidFill>
            <a:srgbClr val="004F91"/>
          </a:solidFill>
        </p:grpSpPr>
        <p:sp>
          <p:nvSpPr>
            <p:cNvPr id="35" name="Forme libre 34">
              <a:extLst>
                <a:ext uri="{FF2B5EF4-FFF2-40B4-BE49-F238E27FC236}">
                  <a16:creationId xmlns:a16="http://schemas.microsoft.com/office/drawing/2014/main" id="{E43668FE-F73D-ACAB-17DE-886655A93FCA}"/>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36" name="Forme libre 35">
              <a:extLst>
                <a:ext uri="{FF2B5EF4-FFF2-40B4-BE49-F238E27FC236}">
                  <a16:creationId xmlns:a16="http://schemas.microsoft.com/office/drawing/2014/main" id="{A28D745F-D6AC-C53A-0FEF-FF4A938C19A6}"/>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7" name="Forme libre 36">
              <a:extLst>
                <a:ext uri="{FF2B5EF4-FFF2-40B4-BE49-F238E27FC236}">
                  <a16:creationId xmlns:a16="http://schemas.microsoft.com/office/drawing/2014/main" id="{B1F5D09B-D998-E733-CF98-6F68FAA3039E}"/>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41" name="Forme libre 40">
              <a:extLst>
                <a:ext uri="{FF2B5EF4-FFF2-40B4-BE49-F238E27FC236}">
                  <a16:creationId xmlns:a16="http://schemas.microsoft.com/office/drawing/2014/main" id="{7B6C179B-EB46-F111-CAB1-82B39088F358}"/>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42" name="Forme libre 41">
              <a:extLst>
                <a:ext uri="{FF2B5EF4-FFF2-40B4-BE49-F238E27FC236}">
                  <a16:creationId xmlns:a16="http://schemas.microsoft.com/office/drawing/2014/main" id="{146248D2-9710-4E35-0B8F-1EFF5B78FD0A}"/>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43" name="Forme libre 42">
              <a:extLst>
                <a:ext uri="{FF2B5EF4-FFF2-40B4-BE49-F238E27FC236}">
                  <a16:creationId xmlns:a16="http://schemas.microsoft.com/office/drawing/2014/main" id="{188B4E3D-F2BC-F0C9-3B42-3A6D01A782EF}"/>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3" name="Espace réservé du pied de page 4">
            <a:extLst>
              <a:ext uri="{FF2B5EF4-FFF2-40B4-BE49-F238E27FC236}">
                <a16:creationId xmlns:a16="http://schemas.microsoft.com/office/drawing/2014/main" id="{0876A618-C67E-FA4A-F1F4-176554974371}"/>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2" name="Titre 1">
            <a:extLst>
              <a:ext uri="{FF2B5EF4-FFF2-40B4-BE49-F238E27FC236}">
                <a16:creationId xmlns:a16="http://schemas.microsoft.com/office/drawing/2014/main" id="{58892B57-7B9B-97C7-9D03-4A3F7CEED7D9}"/>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4" name="Connecteur droit 3">
            <a:extLst>
              <a:ext uri="{FF2B5EF4-FFF2-40B4-BE49-F238E27FC236}">
                <a16:creationId xmlns:a16="http://schemas.microsoft.com/office/drawing/2014/main" id="{785CD0F1-1920-3847-2C19-B8A21E4264A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892C75C9-8E9E-BE81-97B3-9C746C4563D2}"/>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349974117"/>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guide id="3"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4 IMAGES + TEXTE CLAIR">
    <p:spTree>
      <p:nvGrpSpPr>
        <p:cNvPr id="1" name=""/>
        <p:cNvGrpSpPr/>
        <p:nvPr/>
      </p:nvGrpSpPr>
      <p:grpSpPr>
        <a:xfrm>
          <a:off x="0" y="0"/>
          <a:ext cx="0" cy="0"/>
          <a:chOff x="0" y="0"/>
          <a:chExt cx="0" cy="0"/>
        </a:xfrm>
      </p:grpSpPr>
      <p:sp>
        <p:nvSpPr>
          <p:cNvPr id="16" name="Espace réservé pour une image  13">
            <a:extLst>
              <a:ext uri="{FF2B5EF4-FFF2-40B4-BE49-F238E27FC236}">
                <a16:creationId xmlns:a16="http://schemas.microsoft.com/office/drawing/2014/main" id="{5812DABB-1D3B-C73C-9B8C-4434B0B25969}"/>
              </a:ext>
            </a:extLst>
          </p:cNvPr>
          <p:cNvSpPr>
            <a:spLocks noGrp="1"/>
          </p:cNvSpPr>
          <p:nvPr>
            <p:ph type="pic" sz="quarter" idx="22"/>
          </p:nvPr>
        </p:nvSpPr>
        <p:spPr>
          <a:xfrm>
            <a:off x="618980" y="2074741"/>
            <a:ext cx="2261109" cy="1700389"/>
          </a:xfrm>
          <a:solidFill>
            <a:schemeClr val="bg1">
              <a:lumMod val="85000"/>
            </a:schemeClr>
          </a:solidFill>
        </p:spPr>
        <p:txBody>
          <a:bodyPr/>
          <a:lstStyle/>
          <a:p>
            <a:endParaRPr lang="fr-FR"/>
          </a:p>
        </p:txBody>
      </p:sp>
      <p:sp>
        <p:nvSpPr>
          <p:cNvPr id="26" name="Espace réservé pour une image  13">
            <a:extLst>
              <a:ext uri="{FF2B5EF4-FFF2-40B4-BE49-F238E27FC236}">
                <a16:creationId xmlns:a16="http://schemas.microsoft.com/office/drawing/2014/main" id="{51AAD11E-4E36-F38B-F722-7BAEBEDAE272}"/>
              </a:ext>
            </a:extLst>
          </p:cNvPr>
          <p:cNvSpPr>
            <a:spLocks noGrp="1"/>
          </p:cNvSpPr>
          <p:nvPr>
            <p:ph type="pic" sz="quarter" idx="25"/>
          </p:nvPr>
        </p:nvSpPr>
        <p:spPr>
          <a:xfrm>
            <a:off x="3446586" y="2074741"/>
            <a:ext cx="2261109" cy="1700389"/>
          </a:xfrm>
          <a:solidFill>
            <a:schemeClr val="bg1">
              <a:lumMod val="85000"/>
            </a:schemeClr>
          </a:solidFill>
        </p:spPr>
        <p:txBody>
          <a:bodyPr/>
          <a:lstStyle/>
          <a:p>
            <a:endParaRPr lang="fr-FR"/>
          </a:p>
        </p:txBody>
      </p:sp>
      <p:sp>
        <p:nvSpPr>
          <p:cNvPr id="29" name="Espace réservé pour une image  13">
            <a:extLst>
              <a:ext uri="{FF2B5EF4-FFF2-40B4-BE49-F238E27FC236}">
                <a16:creationId xmlns:a16="http://schemas.microsoft.com/office/drawing/2014/main" id="{F325FDF3-80F2-7684-432F-0D2E2047F433}"/>
              </a:ext>
            </a:extLst>
          </p:cNvPr>
          <p:cNvSpPr>
            <a:spLocks noGrp="1"/>
          </p:cNvSpPr>
          <p:nvPr>
            <p:ph type="pic" sz="quarter" idx="28"/>
          </p:nvPr>
        </p:nvSpPr>
        <p:spPr>
          <a:xfrm>
            <a:off x="6274192" y="2074741"/>
            <a:ext cx="2261109" cy="1700389"/>
          </a:xfrm>
          <a:solidFill>
            <a:schemeClr val="bg1">
              <a:lumMod val="85000"/>
            </a:schemeClr>
          </a:solidFill>
        </p:spPr>
        <p:txBody>
          <a:bodyPr/>
          <a:lstStyle/>
          <a:p>
            <a:endParaRPr lang="fr-FR"/>
          </a:p>
        </p:txBody>
      </p:sp>
      <p:sp>
        <p:nvSpPr>
          <p:cNvPr id="32" name="Espace réservé pour une image  13">
            <a:extLst>
              <a:ext uri="{FF2B5EF4-FFF2-40B4-BE49-F238E27FC236}">
                <a16:creationId xmlns:a16="http://schemas.microsoft.com/office/drawing/2014/main" id="{F51202DA-FB6B-329C-9204-1DCDA7E15831}"/>
              </a:ext>
            </a:extLst>
          </p:cNvPr>
          <p:cNvSpPr>
            <a:spLocks noGrp="1"/>
          </p:cNvSpPr>
          <p:nvPr>
            <p:ph type="pic" sz="quarter" idx="31"/>
          </p:nvPr>
        </p:nvSpPr>
        <p:spPr>
          <a:xfrm>
            <a:off x="9101798" y="2074741"/>
            <a:ext cx="2261109" cy="1700389"/>
          </a:xfrm>
          <a:solidFill>
            <a:schemeClr val="bg1">
              <a:lumMod val="85000"/>
            </a:schemeClr>
          </a:solidFill>
        </p:spPr>
        <p:txBody>
          <a:bodyPr/>
          <a:lstStyle/>
          <a:p>
            <a:endParaRPr lang="fr-FR"/>
          </a:p>
        </p:txBody>
      </p:sp>
      <p:grpSp>
        <p:nvGrpSpPr>
          <p:cNvPr id="35" name="Groupe 34">
            <a:extLst>
              <a:ext uri="{FF2B5EF4-FFF2-40B4-BE49-F238E27FC236}">
                <a16:creationId xmlns:a16="http://schemas.microsoft.com/office/drawing/2014/main" id="{5DE35347-8014-985C-6919-2978394B24E2}"/>
              </a:ext>
            </a:extLst>
          </p:cNvPr>
          <p:cNvGrpSpPr/>
          <p:nvPr userDrawn="1"/>
        </p:nvGrpSpPr>
        <p:grpSpPr>
          <a:xfrm>
            <a:off x="359170" y="6153060"/>
            <a:ext cx="781291" cy="704939"/>
            <a:chOff x="2295604" y="0"/>
            <a:chExt cx="7600791" cy="6858000"/>
          </a:xfrm>
        </p:grpSpPr>
        <p:sp>
          <p:nvSpPr>
            <p:cNvPr id="36" name="Forme libre 35">
              <a:extLst>
                <a:ext uri="{FF2B5EF4-FFF2-40B4-BE49-F238E27FC236}">
                  <a16:creationId xmlns:a16="http://schemas.microsoft.com/office/drawing/2014/main" id="{789BA598-6C58-6C8E-0FDE-B92AE1B0C176}"/>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37" name="Graphique 12">
              <a:extLst>
                <a:ext uri="{FF2B5EF4-FFF2-40B4-BE49-F238E27FC236}">
                  <a16:creationId xmlns:a16="http://schemas.microsoft.com/office/drawing/2014/main" id="{78E20E2E-E490-5D56-DA91-6FD09D4D4DB6}"/>
                </a:ext>
              </a:extLst>
            </p:cNvPr>
            <p:cNvGrpSpPr/>
            <p:nvPr/>
          </p:nvGrpSpPr>
          <p:grpSpPr>
            <a:xfrm>
              <a:off x="3189814" y="894132"/>
              <a:ext cx="2464444" cy="894132"/>
              <a:chOff x="3189814" y="894132"/>
              <a:chExt cx="2464444" cy="894132"/>
            </a:xfrm>
          </p:grpSpPr>
          <p:sp>
            <p:nvSpPr>
              <p:cNvPr id="40" name="Forme libre 39">
                <a:extLst>
                  <a:ext uri="{FF2B5EF4-FFF2-40B4-BE49-F238E27FC236}">
                    <a16:creationId xmlns:a16="http://schemas.microsoft.com/office/drawing/2014/main" id="{57EE361D-5C42-528B-98B4-712341BC876E}"/>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41" name="Forme libre 40">
                <a:extLst>
                  <a:ext uri="{FF2B5EF4-FFF2-40B4-BE49-F238E27FC236}">
                    <a16:creationId xmlns:a16="http://schemas.microsoft.com/office/drawing/2014/main" id="{0F48E3AE-04B0-7945-6703-5F9B9CB96465}"/>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42" name="Forme libre 41">
                <a:extLst>
                  <a:ext uri="{FF2B5EF4-FFF2-40B4-BE49-F238E27FC236}">
                    <a16:creationId xmlns:a16="http://schemas.microsoft.com/office/drawing/2014/main" id="{35712302-AC55-4977-E4F7-9216D101B8D7}"/>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38" name="Forme libre 37">
              <a:extLst>
                <a:ext uri="{FF2B5EF4-FFF2-40B4-BE49-F238E27FC236}">
                  <a16:creationId xmlns:a16="http://schemas.microsoft.com/office/drawing/2014/main" id="{E7869F75-A1B2-F1CC-ACE2-7557BD100CE2}"/>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39" name="Forme libre 38">
              <a:extLst>
                <a:ext uri="{FF2B5EF4-FFF2-40B4-BE49-F238E27FC236}">
                  <a16:creationId xmlns:a16="http://schemas.microsoft.com/office/drawing/2014/main" id="{95D15255-15BF-357C-06F8-F51F45853917}"/>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83" name="Connecteur droit 82">
            <a:extLst>
              <a:ext uri="{FF2B5EF4-FFF2-40B4-BE49-F238E27FC236}">
                <a16:creationId xmlns:a16="http://schemas.microsoft.com/office/drawing/2014/main" id="{1217129B-6381-2429-B07E-B890650DCA5F}"/>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Espace réservé du numéro de diapositive 5">
            <a:extLst>
              <a:ext uri="{FF2B5EF4-FFF2-40B4-BE49-F238E27FC236}">
                <a16:creationId xmlns:a16="http://schemas.microsoft.com/office/drawing/2014/main" id="{33EDF1BB-9AB6-9597-6101-D6E7538BF178}"/>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25389F2D-0A5B-0293-0A7B-FDE8F63A3DD9}"/>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exte 17">
            <a:extLst>
              <a:ext uri="{FF2B5EF4-FFF2-40B4-BE49-F238E27FC236}">
                <a16:creationId xmlns:a16="http://schemas.microsoft.com/office/drawing/2014/main" id="{1830F6FA-94F4-BA59-2E49-56811854422F}"/>
              </a:ext>
            </a:extLst>
          </p:cNvPr>
          <p:cNvSpPr>
            <a:spLocks noGrp="1"/>
          </p:cNvSpPr>
          <p:nvPr>
            <p:ph type="body" sz="quarter" idx="41" hasCustomPrompt="1"/>
          </p:nvPr>
        </p:nvSpPr>
        <p:spPr>
          <a:xfrm>
            <a:off x="616069"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4" name="Espace réservé du texte 41">
            <a:extLst>
              <a:ext uri="{FF2B5EF4-FFF2-40B4-BE49-F238E27FC236}">
                <a16:creationId xmlns:a16="http://schemas.microsoft.com/office/drawing/2014/main" id="{58BC7343-DF12-8EBF-91E9-064C97AB30BB}"/>
              </a:ext>
            </a:extLst>
          </p:cNvPr>
          <p:cNvSpPr>
            <a:spLocks noGrp="1"/>
          </p:cNvSpPr>
          <p:nvPr>
            <p:ph type="body" sz="quarter" idx="42"/>
          </p:nvPr>
        </p:nvSpPr>
        <p:spPr>
          <a:xfrm>
            <a:off x="616069" y="4587276"/>
            <a:ext cx="2261724" cy="1182336"/>
          </a:xfrm>
        </p:spPr>
        <p:txBody>
          <a:bodyPr/>
          <a:lstStyle/>
          <a:p>
            <a:pPr lvl="0"/>
            <a:r>
              <a:rPr lang="fr-FR" dirty="0"/>
              <a:t>Cliquez pour modifier les styles du texte du masque</a:t>
            </a:r>
          </a:p>
        </p:txBody>
      </p:sp>
      <p:sp>
        <p:nvSpPr>
          <p:cNvPr id="18" name="Espace réservé du texte 17">
            <a:extLst>
              <a:ext uri="{FF2B5EF4-FFF2-40B4-BE49-F238E27FC236}">
                <a16:creationId xmlns:a16="http://schemas.microsoft.com/office/drawing/2014/main" id="{983AF3E8-4A70-9B7B-DCA9-EB4606AFE2E6}"/>
              </a:ext>
            </a:extLst>
          </p:cNvPr>
          <p:cNvSpPr>
            <a:spLocks noGrp="1"/>
          </p:cNvSpPr>
          <p:nvPr>
            <p:ph type="body" sz="quarter" idx="43" hasCustomPrompt="1"/>
          </p:nvPr>
        </p:nvSpPr>
        <p:spPr>
          <a:xfrm>
            <a:off x="3443675"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19" name="Espace réservé du texte 41">
            <a:extLst>
              <a:ext uri="{FF2B5EF4-FFF2-40B4-BE49-F238E27FC236}">
                <a16:creationId xmlns:a16="http://schemas.microsoft.com/office/drawing/2014/main" id="{FB63DE4C-FD18-71D8-C43D-C68EF034C7A8}"/>
              </a:ext>
            </a:extLst>
          </p:cNvPr>
          <p:cNvSpPr>
            <a:spLocks noGrp="1"/>
          </p:cNvSpPr>
          <p:nvPr>
            <p:ph type="body" sz="quarter" idx="44"/>
          </p:nvPr>
        </p:nvSpPr>
        <p:spPr>
          <a:xfrm>
            <a:off x="3443675" y="4587276"/>
            <a:ext cx="2261724" cy="1182336"/>
          </a:xfrm>
        </p:spPr>
        <p:txBody>
          <a:bodyPr/>
          <a:lstStyle/>
          <a:p>
            <a:pPr lvl="0"/>
            <a:r>
              <a:rPr lang="fr-FR" dirty="0"/>
              <a:t>Cliquez pour modifier les styles du texte du masque</a:t>
            </a:r>
          </a:p>
        </p:txBody>
      </p:sp>
      <p:sp>
        <p:nvSpPr>
          <p:cNvPr id="20" name="Espace réservé du texte 17">
            <a:extLst>
              <a:ext uri="{FF2B5EF4-FFF2-40B4-BE49-F238E27FC236}">
                <a16:creationId xmlns:a16="http://schemas.microsoft.com/office/drawing/2014/main" id="{6B86BCFB-95A9-4833-5A9E-B560495FB52D}"/>
              </a:ext>
            </a:extLst>
          </p:cNvPr>
          <p:cNvSpPr>
            <a:spLocks noGrp="1"/>
          </p:cNvSpPr>
          <p:nvPr>
            <p:ph type="body" sz="quarter" idx="45" hasCustomPrompt="1"/>
          </p:nvPr>
        </p:nvSpPr>
        <p:spPr>
          <a:xfrm>
            <a:off x="6273577"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21" name="Espace réservé du texte 41">
            <a:extLst>
              <a:ext uri="{FF2B5EF4-FFF2-40B4-BE49-F238E27FC236}">
                <a16:creationId xmlns:a16="http://schemas.microsoft.com/office/drawing/2014/main" id="{6AACFDF6-AE51-C0ED-CE95-279F2ADCE764}"/>
              </a:ext>
            </a:extLst>
          </p:cNvPr>
          <p:cNvSpPr>
            <a:spLocks noGrp="1"/>
          </p:cNvSpPr>
          <p:nvPr>
            <p:ph type="body" sz="quarter" idx="46"/>
          </p:nvPr>
        </p:nvSpPr>
        <p:spPr>
          <a:xfrm>
            <a:off x="6273577" y="4587276"/>
            <a:ext cx="2261724" cy="1182336"/>
          </a:xfrm>
        </p:spPr>
        <p:txBody>
          <a:bodyPr/>
          <a:lstStyle/>
          <a:p>
            <a:pPr lvl="0"/>
            <a:r>
              <a:rPr lang="fr-FR" dirty="0"/>
              <a:t>Cliquez pour modifier les styles du texte du masque</a:t>
            </a:r>
          </a:p>
        </p:txBody>
      </p:sp>
      <p:sp>
        <p:nvSpPr>
          <p:cNvPr id="22" name="Espace réservé du texte 17">
            <a:extLst>
              <a:ext uri="{FF2B5EF4-FFF2-40B4-BE49-F238E27FC236}">
                <a16:creationId xmlns:a16="http://schemas.microsoft.com/office/drawing/2014/main" id="{CC201C73-E563-168F-4B32-C44EC492367D}"/>
              </a:ext>
            </a:extLst>
          </p:cNvPr>
          <p:cNvSpPr>
            <a:spLocks noGrp="1"/>
          </p:cNvSpPr>
          <p:nvPr>
            <p:ph type="body" sz="quarter" idx="47" hasCustomPrompt="1"/>
          </p:nvPr>
        </p:nvSpPr>
        <p:spPr>
          <a:xfrm>
            <a:off x="9101183"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23" name="Espace réservé du texte 41">
            <a:extLst>
              <a:ext uri="{FF2B5EF4-FFF2-40B4-BE49-F238E27FC236}">
                <a16:creationId xmlns:a16="http://schemas.microsoft.com/office/drawing/2014/main" id="{16C79258-803E-5DDD-9A85-0177316EE0A2}"/>
              </a:ext>
            </a:extLst>
          </p:cNvPr>
          <p:cNvSpPr>
            <a:spLocks noGrp="1"/>
          </p:cNvSpPr>
          <p:nvPr>
            <p:ph type="body" sz="quarter" idx="48"/>
          </p:nvPr>
        </p:nvSpPr>
        <p:spPr>
          <a:xfrm>
            <a:off x="9101183" y="4587276"/>
            <a:ext cx="2261724" cy="1191224"/>
          </a:xfrm>
        </p:spPr>
        <p:txBody>
          <a:bodyPr/>
          <a:lstStyle/>
          <a:p>
            <a:pPr lvl="0"/>
            <a:r>
              <a:rPr lang="fr-FR" dirty="0"/>
              <a:t>Cliquez pour modifier les styles du texte du masque</a:t>
            </a:r>
          </a:p>
        </p:txBody>
      </p:sp>
      <p:cxnSp>
        <p:nvCxnSpPr>
          <p:cNvPr id="5" name="Connecteur droit 4">
            <a:extLst>
              <a:ext uri="{FF2B5EF4-FFF2-40B4-BE49-F238E27FC236}">
                <a16:creationId xmlns:a16="http://schemas.microsoft.com/office/drawing/2014/main" id="{55458977-428A-E518-97BB-5C9D9A98613C}"/>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e 5">
            <a:extLst>
              <a:ext uri="{FF2B5EF4-FFF2-40B4-BE49-F238E27FC236}">
                <a16:creationId xmlns:a16="http://schemas.microsoft.com/office/drawing/2014/main" id="{230F12AD-2B94-0284-D245-7C14661FDCCE}"/>
              </a:ext>
            </a:extLst>
          </p:cNvPr>
          <p:cNvGrpSpPr/>
          <p:nvPr userDrawn="1"/>
        </p:nvGrpSpPr>
        <p:grpSpPr>
          <a:xfrm>
            <a:off x="1274524" y="6279025"/>
            <a:ext cx="517010" cy="449924"/>
            <a:chOff x="1301606" y="6252162"/>
            <a:chExt cx="462845" cy="402788"/>
          </a:xfrm>
          <a:solidFill>
            <a:srgbClr val="004F91"/>
          </a:solidFill>
        </p:grpSpPr>
        <p:sp>
          <p:nvSpPr>
            <p:cNvPr id="24" name="Forme libre 23">
              <a:extLst>
                <a:ext uri="{FF2B5EF4-FFF2-40B4-BE49-F238E27FC236}">
                  <a16:creationId xmlns:a16="http://schemas.microsoft.com/office/drawing/2014/main" id="{9F481219-0F80-A759-681F-E7B6265C387E}"/>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5" name="Forme libre 24">
              <a:extLst>
                <a:ext uri="{FF2B5EF4-FFF2-40B4-BE49-F238E27FC236}">
                  <a16:creationId xmlns:a16="http://schemas.microsoft.com/office/drawing/2014/main" id="{ADAB9866-9546-7852-F0D5-55F84AE0D6B7}"/>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F903C93-5D8E-ACF2-0E0A-31ABC3DF94A7}"/>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C554C8E7-4DF0-419D-79A5-7A3AD188EAC9}"/>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0" name="Forme libre 29">
              <a:extLst>
                <a:ext uri="{FF2B5EF4-FFF2-40B4-BE49-F238E27FC236}">
                  <a16:creationId xmlns:a16="http://schemas.microsoft.com/office/drawing/2014/main" id="{3CBC9CF5-C42F-1BA8-2762-A267B5E8E7E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1" name="Forme libre 30">
              <a:extLst>
                <a:ext uri="{FF2B5EF4-FFF2-40B4-BE49-F238E27FC236}">
                  <a16:creationId xmlns:a16="http://schemas.microsoft.com/office/drawing/2014/main" id="{4BC42DA5-17E0-95EE-5BB0-2E5E485F6AB6}"/>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0" name="Espace réservé du pied de page 4">
            <a:extLst>
              <a:ext uri="{FF2B5EF4-FFF2-40B4-BE49-F238E27FC236}">
                <a16:creationId xmlns:a16="http://schemas.microsoft.com/office/drawing/2014/main" id="{A8361E02-742B-2A44-0D77-00944841DFF2}"/>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7C646CF1-DC26-0093-F64D-6F1272507C6A}"/>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9" name="Connecteur droit 8">
            <a:extLst>
              <a:ext uri="{FF2B5EF4-FFF2-40B4-BE49-F238E27FC236}">
                <a16:creationId xmlns:a16="http://schemas.microsoft.com/office/drawing/2014/main" id="{CE72067E-F75E-6ECB-1535-DE4C9817E412}"/>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Espace réservé du texte 14">
            <a:extLst>
              <a:ext uri="{FF2B5EF4-FFF2-40B4-BE49-F238E27FC236}">
                <a16:creationId xmlns:a16="http://schemas.microsoft.com/office/drawing/2014/main" id="{DE03EEDF-CA60-9061-B6C0-C74E9204F888}"/>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12623180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LIDE DOUBLE BLOC TEXTE CLAIR">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A471F423-33E8-3044-7F33-10BD42710263}"/>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6" name="Forme libre 5">
            <a:extLst>
              <a:ext uri="{FF2B5EF4-FFF2-40B4-BE49-F238E27FC236}">
                <a16:creationId xmlns:a16="http://schemas.microsoft.com/office/drawing/2014/main" id="{8A21CC8D-31B5-CA7C-9F55-26E03484E068}"/>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Espace réservé du texte 24">
            <a:extLst>
              <a:ext uri="{FF2B5EF4-FFF2-40B4-BE49-F238E27FC236}">
                <a16:creationId xmlns:a16="http://schemas.microsoft.com/office/drawing/2014/main" id="{2857E1A8-7AA9-652D-B6F6-8DC9311E744A}"/>
              </a:ext>
            </a:extLst>
          </p:cNvPr>
          <p:cNvSpPr>
            <a:spLocks noGrp="1"/>
          </p:cNvSpPr>
          <p:nvPr>
            <p:ph type="body" sz="quarter" idx="45"/>
          </p:nvPr>
        </p:nvSpPr>
        <p:spPr>
          <a:xfrm>
            <a:off x="346075" y="2609850"/>
            <a:ext cx="5554663" cy="3381375"/>
          </a:xfrm>
        </p:spPr>
        <p:txBody>
          <a:bodyPr/>
          <a:lstStyle>
            <a:lvl3pPr>
              <a:buClr>
                <a:schemeClr val="bg2"/>
              </a:buClr>
              <a:defRPr/>
            </a:lvl3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29" name="Espace réservé du texte 17">
            <a:extLst>
              <a:ext uri="{FF2B5EF4-FFF2-40B4-BE49-F238E27FC236}">
                <a16:creationId xmlns:a16="http://schemas.microsoft.com/office/drawing/2014/main" id="{D589EF94-83B2-1D4C-DD15-C3321E225B06}"/>
              </a:ext>
            </a:extLst>
          </p:cNvPr>
          <p:cNvSpPr>
            <a:spLocks noGrp="1"/>
          </p:cNvSpPr>
          <p:nvPr>
            <p:ph type="body" sz="quarter" idx="43" hasCustomPrompt="1"/>
          </p:nvPr>
        </p:nvSpPr>
        <p:spPr>
          <a:xfrm>
            <a:off x="346075" y="1827681"/>
            <a:ext cx="5554663" cy="690260"/>
          </a:xfrm>
        </p:spPr>
        <p:txBody>
          <a:bodyPr>
            <a:noAutofit/>
          </a:bodyPr>
          <a:lstStyle>
            <a:lvl1pPr algn="l">
              <a:defRPr sz="1800" b="0" i="0" cap="all" baseline="0">
                <a:solidFill>
                  <a:schemeClr val="tx1"/>
                </a:solidFill>
                <a:latin typeface="CNES Sans Light" pitchFamily="2" charset="77"/>
              </a:defRPr>
            </a:lvl1pPr>
            <a:lvl2pPr marL="9525" indent="0">
              <a:buNone/>
              <a:defRPr sz="1600"/>
            </a:lvl2pPr>
          </a:lstStyle>
          <a:p>
            <a:pPr lvl="0"/>
            <a:r>
              <a:rPr lang="fr-FR" dirty="0"/>
              <a:t>INSÉREZ VOTRE TEXTE</a:t>
            </a:r>
          </a:p>
        </p:txBody>
      </p:sp>
      <p:sp>
        <p:nvSpPr>
          <p:cNvPr id="30" name="Espace réservé du texte 24">
            <a:extLst>
              <a:ext uri="{FF2B5EF4-FFF2-40B4-BE49-F238E27FC236}">
                <a16:creationId xmlns:a16="http://schemas.microsoft.com/office/drawing/2014/main" id="{0B65758A-3158-8A60-F2FA-ADE09BF2EA2B}"/>
              </a:ext>
            </a:extLst>
          </p:cNvPr>
          <p:cNvSpPr>
            <a:spLocks noGrp="1"/>
          </p:cNvSpPr>
          <p:nvPr>
            <p:ph type="body" sz="quarter" idx="46"/>
          </p:nvPr>
        </p:nvSpPr>
        <p:spPr>
          <a:xfrm>
            <a:off x="6110287" y="2607953"/>
            <a:ext cx="5554663" cy="33813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31" name="Espace réservé du texte 17">
            <a:extLst>
              <a:ext uri="{FF2B5EF4-FFF2-40B4-BE49-F238E27FC236}">
                <a16:creationId xmlns:a16="http://schemas.microsoft.com/office/drawing/2014/main" id="{BF857484-FC2B-8CDC-7E17-AF39A1E75FF1}"/>
              </a:ext>
            </a:extLst>
          </p:cNvPr>
          <p:cNvSpPr>
            <a:spLocks noGrp="1"/>
          </p:cNvSpPr>
          <p:nvPr>
            <p:ph type="body" sz="quarter" idx="47" hasCustomPrompt="1"/>
          </p:nvPr>
        </p:nvSpPr>
        <p:spPr>
          <a:xfrm>
            <a:off x="6110287" y="1825784"/>
            <a:ext cx="5554663" cy="690260"/>
          </a:xfrm>
        </p:spPr>
        <p:txBody>
          <a:bodyPr>
            <a:noAutofit/>
          </a:bodyPr>
          <a:lstStyle>
            <a:lvl1pPr algn="l">
              <a:defRPr sz="1800" b="0" i="0" cap="all" baseline="0">
                <a:solidFill>
                  <a:schemeClr val="tx1"/>
                </a:solidFill>
                <a:latin typeface="CNES Sans Light" pitchFamily="2" charset="77"/>
              </a:defRPr>
            </a:lvl1pPr>
            <a:lvl2pPr marL="9525" indent="0">
              <a:buNone/>
              <a:defRPr sz="1600"/>
            </a:lvl2pPr>
          </a:lstStyle>
          <a:p>
            <a:pPr lvl="0"/>
            <a:r>
              <a:rPr lang="fr-FR" dirty="0"/>
              <a:t>INSÉREZ VOTRE TEXTE</a:t>
            </a:r>
          </a:p>
        </p:txBody>
      </p:sp>
      <p:cxnSp>
        <p:nvCxnSpPr>
          <p:cNvPr id="3" name="Connecteur droit 2">
            <a:extLst>
              <a:ext uri="{FF2B5EF4-FFF2-40B4-BE49-F238E27FC236}">
                <a16:creationId xmlns:a16="http://schemas.microsoft.com/office/drawing/2014/main" id="{8AC86753-4B1F-F14E-74C2-76D7043EA720}"/>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e 3">
            <a:extLst>
              <a:ext uri="{FF2B5EF4-FFF2-40B4-BE49-F238E27FC236}">
                <a16:creationId xmlns:a16="http://schemas.microsoft.com/office/drawing/2014/main" id="{AF144756-92B4-6D88-92F9-D65C284B453D}"/>
              </a:ext>
            </a:extLst>
          </p:cNvPr>
          <p:cNvGrpSpPr/>
          <p:nvPr userDrawn="1"/>
        </p:nvGrpSpPr>
        <p:grpSpPr>
          <a:xfrm>
            <a:off x="1274524" y="6279025"/>
            <a:ext cx="517010" cy="449924"/>
            <a:chOff x="1301606" y="6252162"/>
            <a:chExt cx="462845" cy="402788"/>
          </a:xfrm>
          <a:solidFill>
            <a:srgbClr val="004F91"/>
          </a:solidFill>
        </p:grpSpPr>
        <p:sp>
          <p:nvSpPr>
            <p:cNvPr id="7" name="Forme libre 6">
              <a:extLst>
                <a:ext uri="{FF2B5EF4-FFF2-40B4-BE49-F238E27FC236}">
                  <a16:creationId xmlns:a16="http://schemas.microsoft.com/office/drawing/2014/main" id="{026A9B31-7ECB-BFD1-0C2B-8F3F5B63470D}"/>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9" name="Forme libre 8">
              <a:extLst>
                <a:ext uri="{FF2B5EF4-FFF2-40B4-BE49-F238E27FC236}">
                  <a16:creationId xmlns:a16="http://schemas.microsoft.com/office/drawing/2014/main" id="{1286C591-DC11-CE91-8BC7-8737EF8576D0}"/>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14" name="Forme libre 13">
              <a:extLst>
                <a:ext uri="{FF2B5EF4-FFF2-40B4-BE49-F238E27FC236}">
                  <a16:creationId xmlns:a16="http://schemas.microsoft.com/office/drawing/2014/main" id="{F641081E-079F-3880-4D77-DD3CEA219DE5}"/>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996161E6-2DAC-2E64-B917-EBC21FDF1698}"/>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18526CC1-AED1-1CBD-B4CE-693214B3606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59ED27E8-AB72-715A-94A9-73AA80B5E468}"/>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6" name="Espace réservé du pied de page 4">
            <a:extLst>
              <a:ext uri="{FF2B5EF4-FFF2-40B4-BE49-F238E27FC236}">
                <a16:creationId xmlns:a16="http://schemas.microsoft.com/office/drawing/2014/main" id="{B95C2719-BEA0-FFC7-8C7E-5BC639FED47C}"/>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5" name="Titre 1">
            <a:extLst>
              <a:ext uri="{FF2B5EF4-FFF2-40B4-BE49-F238E27FC236}">
                <a16:creationId xmlns:a16="http://schemas.microsoft.com/office/drawing/2014/main" id="{EB97FC96-65D9-93CA-00A0-A27FDB4F517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8" name="Connecteur droit 7">
            <a:extLst>
              <a:ext uri="{FF2B5EF4-FFF2-40B4-BE49-F238E27FC236}">
                <a16:creationId xmlns:a16="http://schemas.microsoft.com/office/drawing/2014/main" id="{768B0BDF-456C-86BC-1866-90E8B159AC80}"/>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Espace réservé du texte 14">
            <a:extLst>
              <a:ext uri="{FF2B5EF4-FFF2-40B4-BE49-F238E27FC236}">
                <a16:creationId xmlns:a16="http://schemas.microsoft.com/office/drawing/2014/main" id="{304FD5EF-2E6D-33C7-96E7-766BF42E190E}"/>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2897736920"/>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UNE IMAGE + TEXTE CLAIR">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0EA642-94AF-4EF7-C1D4-7CF473DBA549}"/>
              </a:ext>
            </a:extLst>
          </p:cNvPr>
          <p:cNvSpPr>
            <a:spLocks noGrp="1"/>
          </p:cNvSpPr>
          <p:nvPr>
            <p:ph type="title" hasCustomPrompt="1"/>
          </p:nvPr>
        </p:nvSpPr>
        <p:spPr>
          <a:xfrm>
            <a:off x="365125" y="365125"/>
            <a:ext cx="5730875" cy="1325563"/>
          </a:xfrm>
        </p:spPr>
        <p:txBody>
          <a:bodyPr anchor="t">
            <a:normAutofit/>
          </a:bodyPr>
          <a:lstStyle>
            <a:lvl1pPr algn="l">
              <a:defRPr sz="2800">
                <a:solidFill>
                  <a:schemeClr val="tx1"/>
                </a:solidFill>
                <a:latin typeface="CNES Poster" pitchFamily="2" charset="77"/>
              </a:defRPr>
            </a:lvl1pPr>
          </a:lstStyle>
          <a:p>
            <a:r>
              <a:rPr lang="fr-FR" dirty="0"/>
              <a:t>MODIFIEZ LE STYLE </a:t>
            </a:r>
            <a:br>
              <a:rPr lang="fr-FR" dirty="0"/>
            </a:br>
            <a:r>
              <a:rPr lang="fr-FR" dirty="0"/>
              <a:t>DU TITRE</a:t>
            </a:r>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Espace réservé pour une image  8">
            <a:extLst>
              <a:ext uri="{FF2B5EF4-FFF2-40B4-BE49-F238E27FC236}">
                <a16:creationId xmlns:a16="http://schemas.microsoft.com/office/drawing/2014/main" id="{BA55CAEE-C49A-BFA7-3E76-681BAA431AF4}"/>
              </a:ext>
            </a:extLst>
          </p:cNvPr>
          <p:cNvSpPr>
            <a:spLocks noGrp="1"/>
          </p:cNvSpPr>
          <p:nvPr>
            <p:ph type="pic" sz="quarter" idx="14"/>
          </p:nvPr>
        </p:nvSpPr>
        <p:spPr>
          <a:xfrm>
            <a:off x="6294922" y="365125"/>
            <a:ext cx="5373617" cy="5634035"/>
          </a:xfrm>
          <a:solidFill>
            <a:schemeClr val="bg1">
              <a:lumMod val="85000"/>
            </a:schemeClr>
          </a:solidFill>
        </p:spPr>
        <p:txBody>
          <a:bodyPr/>
          <a:lstStyle/>
          <a:p>
            <a:endParaRPr lang="fr-FR" dirty="0"/>
          </a:p>
        </p:txBody>
      </p:sp>
      <p:sp>
        <p:nvSpPr>
          <p:cNvPr id="6" name="Espace réservé du numéro de diapositive 5">
            <a:extLst>
              <a:ext uri="{FF2B5EF4-FFF2-40B4-BE49-F238E27FC236}">
                <a16:creationId xmlns:a16="http://schemas.microsoft.com/office/drawing/2014/main" id="{19D35F3B-B88B-6257-E779-8E313D975080}"/>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FEEF07B0-130F-9322-8AFC-C6617DDE9EA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 name="Espace réservé du texte 24">
            <a:extLst>
              <a:ext uri="{FF2B5EF4-FFF2-40B4-BE49-F238E27FC236}">
                <a16:creationId xmlns:a16="http://schemas.microsoft.com/office/drawing/2014/main" id="{2FFD16B1-F5AA-247F-1FE8-E96F90759D9C}"/>
              </a:ext>
            </a:extLst>
          </p:cNvPr>
          <p:cNvSpPr>
            <a:spLocks noGrp="1"/>
          </p:cNvSpPr>
          <p:nvPr>
            <p:ph type="body" sz="quarter" idx="45"/>
          </p:nvPr>
        </p:nvSpPr>
        <p:spPr>
          <a:xfrm>
            <a:off x="346075" y="1806576"/>
            <a:ext cx="5749925" cy="41846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3" name="Connecteur droit 2">
            <a:extLst>
              <a:ext uri="{FF2B5EF4-FFF2-40B4-BE49-F238E27FC236}">
                <a16:creationId xmlns:a16="http://schemas.microsoft.com/office/drawing/2014/main" id="{84CC95E4-78D0-8167-B5E6-C19F6D117AB8}"/>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e 6">
            <a:extLst>
              <a:ext uri="{FF2B5EF4-FFF2-40B4-BE49-F238E27FC236}">
                <a16:creationId xmlns:a16="http://schemas.microsoft.com/office/drawing/2014/main" id="{0BA45368-06AA-97FD-FEBB-A4540D62A433}"/>
              </a:ext>
            </a:extLst>
          </p:cNvPr>
          <p:cNvGrpSpPr/>
          <p:nvPr userDrawn="1"/>
        </p:nvGrpSpPr>
        <p:grpSpPr>
          <a:xfrm>
            <a:off x="1274524" y="6279025"/>
            <a:ext cx="517010" cy="449924"/>
            <a:chOff x="1301606" y="6252162"/>
            <a:chExt cx="462845" cy="402788"/>
          </a:xfrm>
          <a:solidFill>
            <a:srgbClr val="004F91"/>
          </a:solidFill>
        </p:grpSpPr>
        <p:sp>
          <p:nvSpPr>
            <p:cNvPr id="21" name="Forme libre 20">
              <a:extLst>
                <a:ext uri="{FF2B5EF4-FFF2-40B4-BE49-F238E27FC236}">
                  <a16:creationId xmlns:a16="http://schemas.microsoft.com/office/drawing/2014/main" id="{3349942C-76DA-8609-F37A-4034426C74FE}"/>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2" name="Forme libre 21">
              <a:extLst>
                <a:ext uri="{FF2B5EF4-FFF2-40B4-BE49-F238E27FC236}">
                  <a16:creationId xmlns:a16="http://schemas.microsoft.com/office/drawing/2014/main" id="{97E24A2A-8DA1-F6A7-5972-DCC83CB222A5}"/>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CF7B17CA-3F13-3086-E8F0-C919C97926B6}"/>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A82E2334-3101-B665-CA28-450B6F6BCFD5}"/>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E16C6642-8595-F263-9B12-ED00CE3EAFF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C0FE9B43-34CF-39E3-9484-2390DC1C9F39}"/>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5" name="Espace réservé du pied de page 4">
            <a:extLst>
              <a:ext uri="{FF2B5EF4-FFF2-40B4-BE49-F238E27FC236}">
                <a16:creationId xmlns:a16="http://schemas.microsoft.com/office/drawing/2014/main" id="{76723933-DF0E-141F-79C5-2C7F6B5367AA}"/>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cxnSp>
        <p:nvCxnSpPr>
          <p:cNvPr id="5" name="Connecteur droit 4">
            <a:extLst>
              <a:ext uri="{FF2B5EF4-FFF2-40B4-BE49-F238E27FC236}">
                <a16:creationId xmlns:a16="http://schemas.microsoft.com/office/drawing/2014/main" id="{F5A3A4A9-BF73-80A8-4DF1-F48E7307580A}"/>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541334"/>
      </p:ext>
    </p:extLst>
  </p:cSld>
  <p:clrMapOvr>
    <a:masterClrMapping/>
  </p:clrMapOvr>
  <p:extLst>
    <p:ext uri="{DCECCB84-F9BA-43D5-87BE-67443E8EF086}">
      <p15:sldGuideLst xmlns:p15="http://schemas.microsoft.com/office/powerpoint/2012/main">
        <p15:guide id="1" orient="horz" pos="3861">
          <p15:clr>
            <a:srgbClr val="FBAE40"/>
          </p15:clr>
        </p15:guide>
        <p15:guide id="2" orient="horz" pos="377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MOSAÏQUE CLAIR">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64F3F87-0308-9A98-AC93-E383DE2C6721}"/>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Espace réservé pour une image  8">
            <a:extLst>
              <a:ext uri="{FF2B5EF4-FFF2-40B4-BE49-F238E27FC236}">
                <a16:creationId xmlns:a16="http://schemas.microsoft.com/office/drawing/2014/main" id="{80D71F61-AF76-A274-30DB-04E83A235FB6}"/>
              </a:ext>
            </a:extLst>
          </p:cNvPr>
          <p:cNvSpPr>
            <a:spLocks noGrp="1"/>
          </p:cNvSpPr>
          <p:nvPr>
            <p:ph type="pic" sz="quarter" idx="13"/>
          </p:nvPr>
        </p:nvSpPr>
        <p:spPr>
          <a:xfrm>
            <a:off x="346075" y="1806575"/>
            <a:ext cx="2133600" cy="2024274"/>
          </a:xfrm>
          <a:solidFill>
            <a:schemeClr val="bg1">
              <a:lumMod val="85000"/>
            </a:schemeClr>
          </a:solidFill>
        </p:spPr>
        <p:txBody>
          <a:bodyPr/>
          <a:lstStyle/>
          <a:p>
            <a:endParaRPr lang="fr-FR"/>
          </a:p>
        </p:txBody>
      </p:sp>
      <p:sp>
        <p:nvSpPr>
          <p:cNvPr id="10" name="Espace réservé pour une image  8">
            <a:extLst>
              <a:ext uri="{FF2B5EF4-FFF2-40B4-BE49-F238E27FC236}">
                <a16:creationId xmlns:a16="http://schemas.microsoft.com/office/drawing/2014/main" id="{8F7A684E-5491-17A1-88FE-6C92F0271CD6}"/>
              </a:ext>
            </a:extLst>
          </p:cNvPr>
          <p:cNvSpPr>
            <a:spLocks noGrp="1"/>
          </p:cNvSpPr>
          <p:nvPr>
            <p:ph type="pic" sz="quarter" idx="14"/>
          </p:nvPr>
        </p:nvSpPr>
        <p:spPr>
          <a:xfrm>
            <a:off x="2659698" y="1806575"/>
            <a:ext cx="2133600" cy="2024274"/>
          </a:xfrm>
          <a:solidFill>
            <a:schemeClr val="bg1">
              <a:lumMod val="85000"/>
            </a:schemeClr>
          </a:solidFill>
        </p:spPr>
        <p:txBody>
          <a:bodyPr/>
          <a:lstStyle/>
          <a:p>
            <a:endParaRPr lang="fr-FR"/>
          </a:p>
        </p:txBody>
      </p:sp>
      <p:sp>
        <p:nvSpPr>
          <p:cNvPr id="14" name="Espace réservé pour une image  8">
            <a:extLst>
              <a:ext uri="{FF2B5EF4-FFF2-40B4-BE49-F238E27FC236}">
                <a16:creationId xmlns:a16="http://schemas.microsoft.com/office/drawing/2014/main" id="{6129476B-56C5-F74F-2762-D2181C4D2543}"/>
              </a:ext>
            </a:extLst>
          </p:cNvPr>
          <p:cNvSpPr>
            <a:spLocks noGrp="1"/>
          </p:cNvSpPr>
          <p:nvPr>
            <p:ph type="pic" sz="quarter" idx="15"/>
          </p:nvPr>
        </p:nvSpPr>
        <p:spPr>
          <a:xfrm>
            <a:off x="4945620" y="1806575"/>
            <a:ext cx="2133600" cy="2024274"/>
          </a:xfrm>
          <a:solidFill>
            <a:schemeClr val="bg1">
              <a:lumMod val="85000"/>
            </a:schemeClr>
          </a:solidFill>
        </p:spPr>
        <p:txBody>
          <a:bodyPr/>
          <a:lstStyle/>
          <a:p>
            <a:endParaRPr lang="fr-FR"/>
          </a:p>
        </p:txBody>
      </p:sp>
      <p:sp>
        <p:nvSpPr>
          <p:cNvPr id="15" name="Espace réservé pour une image  8">
            <a:extLst>
              <a:ext uri="{FF2B5EF4-FFF2-40B4-BE49-F238E27FC236}">
                <a16:creationId xmlns:a16="http://schemas.microsoft.com/office/drawing/2014/main" id="{B90BC7AA-B892-80AE-8FDF-D1D82153A835}"/>
              </a:ext>
            </a:extLst>
          </p:cNvPr>
          <p:cNvSpPr>
            <a:spLocks noGrp="1"/>
          </p:cNvSpPr>
          <p:nvPr>
            <p:ph type="pic" sz="quarter" idx="16"/>
          </p:nvPr>
        </p:nvSpPr>
        <p:spPr>
          <a:xfrm>
            <a:off x="7231541" y="1811465"/>
            <a:ext cx="2133600" cy="2024274"/>
          </a:xfrm>
          <a:solidFill>
            <a:schemeClr val="bg1">
              <a:lumMod val="85000"/>
            </a:schemeClr>
          </a:solidFill>
        </p:spPr>
        <p:txBody>
          <a:bodyPr/>
          <a:lstStyle/>
          <a:p>
            <a:endParaRPr lang="fr-FR"/>
          </a:p>
        </p:txBody>
      </p:sp>
      <p:sp>
        <p:nvSpPr>
          <p:cNvPr id="16" name="Espace réservé pour une image  8">
            <a:extLst>
              <a:ext uri="{FF2B5EF4-FFF2-40B4-BE49-F238E27FC236}">
                <a16:creationId xmlns:a16="http://schemas.microsoft.com/office/drawing/2014/main" id="{219E2CBD-6589-9A19-4A08-A76E573BF539}"/>
              </a:ext>
            </a:extLst>
          </p:cNvPr>
          <p:cNvSpPr>
            <a:spLocks noGrp="1"/>
          </p:cNvSpPr>
          <p:nvPr>
            <p:ph type="pic" sz="quarter" idx="17"/>
          </p:nvPr>
        </p:nvSpPr>
        <p:spPr>
          <a:xfrm>
            <a:off x="9517463" y="1806575"/>
            <a:ext cx="2133600" cy="2024274"/>
          </a:xfrm>
          <a:solidFill>
            <a:schemeClr val="bg1">
              <a:lumMod val="85000"/>
            </a:schemeClr>
          </a:solidFill>
        </p:spPr>
        <p:txBody>
          <a:bodyPr/>
          <a:lstStyle/>
          <a:p>
            <a:endParaRPr lang="fr-FR"/>
          </a:p>
        </p:txBody>
      </p:sp>
      <p:sp>
        <p:nvSpPr>
          <p:cNvPr id="22" name="Espace réservé pour une image  8">
            <a:extLst>
              <a:ext uri="{FF2B5EF4-FFF2-40B4-BE49-F238E27FC236}">
                <a16:creationId xmlns:a16="http://schemas.microsoft.com/office/drawing/2014/main" id="{9FA58EE9-4831-7F71-EF32-465E3F6589B7}"/>
              </a:ext>
            </a:extLst>
          </p:cNvPr>
          <p:cNvSpPr>
            <a:spLocks noGrp="1"/>
          </p:cNvSpPr>
          <p:nvPr>
            <p:ph type="pic" sz="quarter" idx="18"/>
          </p:nvPr>
        </p:nvSpPr>
        <p:spPr>
          <a:xfrm>
            <a:off x="346075" y="3963466"/>
            <a:ext cx="2133600" cy="2024274"/>
          </a:xfrm>
          <a:solidFill>
            <a:schemeClr val="bg1">
              <a:lumMod val="85000"/>
            </a:schemeClr>
          </a:solidFill>
        </p:spPr>
        <p:txBody>
          <a:bodyPr/>
          <a:lstStyle/>
          <a:p>
            <a:endParaRPr lang="fr-FR"/>
          </a:p>
        </p:txBody>
      </p:sp>
      <p:sp>
        <p:nvSpPr>
          <p:cNvPr id="23" name="Espace réservé pour une image  8">
            <a:extLst>
              <a:ext uri="{FF2B5EF4-FFF2-40B4-BE49-F238E27FC236}">
                <a16:creationId xmlns:a16="http://schemas.microsoft.com/office/drawing/2014/main" id="{254266E2-C4CE-FE6B-79B7-5B321564983F}"/>
              </a:ext>
            </a:extLst>
          </p:cNvPr>
          <p:cNvSpPr>
            <a:spLocks noGrp="1"/>
          </p:cNvSpPr>
          <p:nvPr>
            <p:ph type="pic" sz="quarter" idx="19"/>
          </p:nvPr>
        </p:nvSpPr>
        <p:spPr>
          <a:xfrm>
            <a:off x="2659698" y="3963466"/>
            <a:ext cx="2133600" cy="2024274"/>
          </a:xfrm>
          <a:solidFill>
            <a:schemeClr val="bg1">
              <a:lumMod val="85000"/>
            </a:schemeClr>
          </a:solidFill>
        </p:spPr>
        <p:txBody>
          <a:bodyPr/>
          <a:lstStyle/>
          <a:p>
            <a:endParaRPr lang="fr-FR"/>
          </a:p>
        </p:txBody>
      </p:sp>
      <p:sp>
        <p:nvSpPr>
          <p:cNvPr id="24" name="Espace réservé pour une image  8">
            <a:extLst>
              <a:ext uri="{FF2B5EF4-FFF2-40B4-BE49-F238E27FC236}">
                <a16:creationId xmlns:a16="http://schemas.microsoft.com/office/drawing/2014/main" id="{D9BD41E1-624F-B784-C8B3-0A3B1C94E454}"/>
              </a:ext>
            </a:extLst>
          </p:cNvPr>
          <p:cNvSpPr>
            <a:spLocks noGrp="1"/>
          </p:cNvSpPr>
          <p:nvPr>
            <p:ph type="pic" sz="quarter" idx="20"/>
          </p:nvPr>
        </p:nvSpPr>
        <p:spPr>
          <a:xfrm>
            <a:off x="4945620" y="3963466"/>
            <a:ext cx="2133600" cy="2024274"/>
          </a:xfrm>
          <a:solidFill>
            <a:schemeClr val="bg1">
              <a:lumMod val="85000"/>
            </a:schemeClr>
          </a:solidFill>
        </p:spPr>
        <p:txBody>
          <a:bodyPr/>
          <a:lstStyle/>
          <a:p>
            <a:endParaRPr lang="fr-FR"/>
          </a:p>
        </p:txBody>
      </p:sp>
      <p:sp>
        <p:nvSpPr>
          <p:cNvPr id="25" name="Espace réservé pour une image  8">
            <a:extLst>
              <a:ext uri="{FF2B5EF4-FFF2-40B4-BE49-F238E27FC236}">
                <a16:creationId xmlns:a16="http://schemas.microsoft.com/office/drawing/2014/main" id="{100F8584-0229-5274-4830-9AD6D51DC3ED}"/>
              </a:ext>
            </a:extLst>
          </p:cNvPr>
          <p:cNvSpPr>
            <a:spLocks noGrp="1"/>
          </p:cNvSpPr>
          <p:nvPr>
            <p:ph type="pic" sz="quarter" idx="21"/>
          </p:nvPr>
        </p:nvSpPr>
        <p:spPr>
          <a:xfrm>
            <a:off x="7231541" y="3968356"/>
            <a:ext cx="2133600" cy="2024274"/>
          </a:xfrm>
          <a:solidFill>
            <a:schemeClr val="bg1">
              <a:lumMod val="85000"/>
            </a:schemeClr>
          </a:solidFill>
        </p:spPr>
        <p:txBody>
          <a:bodyPr/>
          <a:lstStyle/>
          <a:p>
            <a:endParaRPr lang="fr-FR"/>
          </a:p>
        </p:txBody>
      </p:sp>
      <p:sp>
        <p:nvSpPr>
          <p:cNvPr id="26" name="Espace réservé pour une image  8">
            <a:extLst>
              <a:ext uri="{FF2B5EF4-FFF2-40B4-BE49-F238E27FC236}">
                <a16:creationId xmlns:a16="http://schemas.microsoft.com/office/drawing/2014/main" id="{C79EFF97-EEFD-A2DD-548F-9C982F401786}"/>
              </a:ext>
            </a:extLst>
          </p:cNvPr>
          <p:cNvSpPr>
            <a:spLocks noGrp="1"/>
          </p:cNvSpPr>
          <p:nvPr>
            <p:ph type="pic" sz="quarter" idx="22"/>
          </p:nvPr>
        </p:nvSpPr>
        <p:spPr>
          <a:xfrm>
            <a:off x="9517463" y="3963466"/>
            <a:ext cx="2133600" cy="2024274"/>
          </a:xfrm>
          <a:solidFill>
            <a:schemeClr val="bg1">
              <a:lumMod val="85000"/>
            </a:schemeClr>
          </a:solidFill>
        </p:spPr>
        <p:txBody>
          <a:bodyPr/>
          <a:lstStyle/>
          <a:p>
            <a:endParaRPr lang="fr-FR"/>
          </a:p>
        </p:txBody>
      </p:sp>
      <p:sp>
        <p:nvSpPr>
          <p:cNvPr id="6" name="Espace réservé du numéro de diapositive 5">
            <a:extLst>
              <a:ext uri="{FF2B5EF4-FFF2-40B4-BE49-F238E27FC236}">
                <a16:creationId xmlns:a16="http://schemas.microsoft.com/office/drawing/2014/main" id="{F60F1592-21F6-F099-462D-A304C9FA5D1C}"/>
              </a:ext>
            </a:extLst>
          </p:cNvPr>
          <p:cNvSpPr>
            <a:spLocks noGrp="1"/>
          </p:cNvSpPr>
          <p:nvPr>
            <p:ph type="sldNum" sz="quarter" idx="12"/>
          </p:nvPr>
        </p:nvSpPr>
        <p:spPr>
          <a:xfrm>
            <a:off x="11835420" y="6319201"/>
            <a:ext cx="365127" cy="365125"/>
          </a:xfrm>
        </p:spPr>
        <p:txBody>
          <a:bodyPr/>
          <a:lstStyle>
            <a:lvl1pPr>
              <a:defRPr>
                <a:solidFill>
                  <a:schemeClr val="tx1">
                    <a:lumMod val="75000"/>
                    <a:lumOff val="2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D28CCC98-F414-F32D-1960-B82703727CAD}"/>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2" name="Connecteur droit 1">
            <a:extLst>
              <a:ext uri="{FF2B5EF4-FFF2-40B4-BE49-F238E27FC236}">
                <a16:creationId xmlns:a16="http://schemas.microsoft.com/office/drawing/2014/main" id="{450E5F84-DB72-ECC6-FF42-5BA5556399E2}"/>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e 4">
            <a:extLst>
              <a:ext uri="{FF2B5EF4-FFF2-40B4-BE49-F238E27FC236}">
                <a16:creationId xmlns:a16="http://schemas.microsoft.com/office/drawing/2014/main" id="{E0C451DE-E4A7-2F86-86E9-B351E5204E2F}"/>
              </a:ext>
            </a:extLst>
          </p:cNvPr>
          <p:cNvGrpSpPr/>
          <p:nvPr userDrawn="1"/>
        </p:nvGrpSpPr>
        <p:grpSpPr>
          <a:xfrm>
            <a:off x="1274524" y="6279025"/>
            <a:ext cx="517010" cy="449924"/>
            <a:chOff x="1301606" y="6252162"/>
            <a:chExt cx="462845" cy="402788"/>
          </a:xfrm>
          <a:solidFill>
            <a:srgbClr val="004F91"/>
          </a:solidFill>
        </p:grpSpPr>
        <p:sp>
          <p:nvSpPr>
            <p:cNvPr id="7" name="Forme libre 6">
              <a:extLst>
                <a:ext uri="{FF2B5EF4-FFF2-40B4-BE49-F238E27FC236}">
                  <a16:creationId xmlns:a16="http://schemas.microsoft.com/office/drawing/2014/main" id="{2CF5386F-E59E-2CB2-EECD-7BF2C71687E7}"/>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0" name="Forme libre 19">
              <a:extLst>
                <a:ext uri="{FF2B5EF4-FFF2-40B4-BE49-F238E27FC236}">
                  <a16:creationId xmlns:a16="http://schemas.microsoft.com/office/drawing/2014/main" id="{1F547227-40B8-D4DE-7A0C-2B781717D724}"/>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3" name="Forme libre 32">
              <a:extLst>
                <a:ext uri="{FF2B5EF4-FFF2-40B4-BE49-F238E27FC236}">
                  <a16:creationId xmlns:a16="http://schemas.microsoft.com/office/drawing/2014/main" id="{24E1D915-872C-4E59-AE49-CF007CA96D0E}"/>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34" name="Forme libre 33">
              <a:extLst>
                <a:ext uri="{FF2B5EF4-FFF2-40B4-BE49-F238E27FC236}">
                  <a16:creationId xmlns:a16="http://schemas.microsoft.com/office/drawing/2014/main" id="{0689F6DE-C6A8-1B70-C2F1-E7DBD441F620}"/>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5" name="Forme libre 34">
              <a:extLst>
                <a:ext uri="{FF2B5EF4-FFF2-40B4-BE49-F238E27FC236}">
                  <a16:creationId xmlns:a16="http://schemas.microsoft.com/office/drawing/2014/main" id="{7BE19796-41BC-8282-38CE-565488E25DF5}"/>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6" name="Forme libre 35">
              <a:extLst>
                <a:ext uri="{FF2B5EF4-FFF2-40B4-BE49-F238E27FC236}">
                  <a16:creationId xmlns:a16="http://schemas.microsoft.com/office/drawing/2014/main" id="{977CF429-BC1F-07D5-3299-6C77EA454689}"/>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27" name="Espace réservé du pied de page 4">
            <a:extLst>
              <a:ext uri="{FF2B5EF4-FFF2-40B4-BE49-F238E27FC236}">
                <a16:creationId xmlns:a16="http://schemas.microsoft.com/office/drawing/2014/main" id="{8857010D-66DE-5453-C287-9DBEED0E4D63}"/>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4" name="Titre 1">
            <a:extLst>
              <a:ext uri="{FF2B5EF4-FFF2-40B4-BE49-F238E27FC236}">
                <a16:creationId xmlns:a16="http://schemas.microsoft.com/office/drawing/2014/main" id="{79E8BE3A-D012-1650-A602-5CD0A8A0D90F}"/>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a:t>
            </a:r>
            <a:br>
              <a:rPr lang="fr-FR" dirty="0"/>
            </a:br>
            <a:r>
              <a:rPr lang="fr-FR" dirty="0"/>
              <a:t>DU TITRE</a:t>
            </a:r>
          </a:p>
        </p:txBody>
      </p:sp>
      <p:cxnSp>
        <p:nvCxnSpPr>
          <p:cNvPr id="18" name="Connecteur droit 17">
            <a:extLst>
              <a:ext uri="{FF2B5EF4-FFF2-40B4-BE49-F238E27FC236}">
                <a16:creationId xmlns:a16="http://schemas.microsoft.com/office/drawing/2014/main" id="{7BF4E1F8-ABB1-F1EC-58B4-33DD6AAB5B6E}"/>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du texte 14">
            <a:extLst>
              <a:ext uri="{FF2B5EF4-FFF2-40B4-BE49-F238E27FC236}">
                <a16:creationId xmlns:a16="http://schemas.microsoft.com/office/drawing/2014/main" id="{0076C480-A6E3-1B0C-430E-2DD6C124750A}"/>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418275721"/>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IDE 3 IMAGES CLAIR">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E8E02D-8152-5CA5-2E20-A4C1EE6299E1}"/>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Espace réservé pour une image  8">
            <a:extLst>
              <a:ext uri="{FF2B5EF4-FFF2-40B4-BE49-F238E27FC236}">
                <a16:creationId xmlns:a16="http://schemas.microsoft.com/office/drawing/2014/main" id="{80D71F61-AF76-A274-30DB-04E83A235FB6}"/>
              </a:ext>
            </a:extLst>
          </p:cNvPr>
          <p:cNvSpPr>
            <a:spLocks noGrp="1"/>
          </p:cNvSpPr>
          <p:nvPr>
            <p:ph type="pic" sz="quarter" idx="13"/>
          </p:nvPr>
        </p:nvSpPr>
        <p:spPr>
          <a:xfrm>
            <a:off x="346075" y="346075"/>
            <a:ext cx="4667469" cy="2746375"/>
          </a:xfrm>
          <a:solidFill>
            <a:schemeClr val="bg1">
              <a:lumMod val="85000"/>
            </a:schemeClr>
          </a:solidFill>
        </p:spPr>
        <p:txBody>
          <a:bodyPr/>
          <a:lstStyle/>
          <a:p>
            <a:endParaRPr lang="fr-FR"/>
          </a:p>
        </p:txBody>
      </p:sp>
      <p:sp>
        <p:nvSpPr>
          <p:cNvPr id="3" name="Espace réservé pour une image  8">
            <a:extLst>
              <a:ext uri="{FF2B5EF4-FFF2-40B4-BE49-F238E27FC236}">
                <a16:creationId xmlns:a16="http://schemas.microsoft.com/office/drawing/2014/main" id="{FCDB21D6-83E1-CA30-6311-1EAFBF6DF4EB}"/>
              </a:ext>
            </a:extLst>
          </p:cNvPr>
          <p:cNvSpPr>
            <a:spLocks noGrp="1"/>
          </p:cNvSpPr>
          <p:nvPr>
            <p:ph type="pic" sz="quarter" idx="14"/>
          </p:nvPr>
        </p:nvSpPr>
        <p:spPr>
          <a:xfrm>
            <a:off x="5168766" y="346074"/>
            <a:ext cx="6482297" cy="5646739"/>
          </a:xfrm>
          <a:solidFill>
            <a:schemeClr val="bg1">
              <a:lumMod val="85000"/>
            </a:schemeClr>
          </a:solidFill>
        </p:spPr>
        <p:txBody>
          <a:bodyPr/>
          <a:lstStyle/>
          <a:p>
            <a:endParaRPr lang="fr-FR"/>
          </a:p>
        </p:txBody>
      </p:sp>
      <p:sp>
        <p:nvSpPr>
          <p:cNvPr id="7" name="Espace réservé pour une image  8">
            <a:extLst>
              <a:ext uri="{FF2B5EF4-FFF2-40B4-BE49-F238E27FC236}">
                <a16:creationId xmlns:a16="http://schemas.microsoft.com/office/drawing/2014/main" id="{5140B622-2D8B-E737-07A0-B54F0DA8A790}"/>
              </a:ext>
            </a:extLst>
          </p:cNvPr>
          <p:cNvSpPr>
            <a:spLocks noGrp="1"/>
          </p:cNvSpPr>
          <p:nvPr>
            <p:ph type="pic" sz="quarter" idx="15"/>
          </p:nvPr>
        </p:nvSpPr>
        <p:spPr>
          <a:xfrm>
            <a:off x="346075" y="3246437"/>
            <a:ext cx="4667469" cy="2746375"/>
          </a:xfrm>
          <a:solidFill>
            <a:schemeClr val="bg1">
              <a:lumMod val="85000"/>
            </a:schemeClr>
          </a:solidFill>
        </p:spPr>
        <p:txBody>
          <a:bodyPr/>
          <a:lstStyle/>
          <a:p>
            <a:endParaRPr lang="fr-FR"/>
          </a:p>
        </p:txBody>
      </p:sp>
      <p:sp>
        <p:nvSpPr>
          <p:cNvPr id="6" name="Espace réservé du numéro de diapositive 5">
            <a:extLst>
              <a:ext uri="{FF2B5EF4-FFF2-40B4-BE49-F238E27FC236}">
                <a16:creationId xmlns:a16="http://schemas.microsoft.com/office/drawing/2014/main" id="{EA3CA2BB-57C6-CD2F-33D1-0252F043BBDC}"/>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A7E16439-A37F-235D-15EE-63C272E6DA0A}"/>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4" name="Connecteur droit 3">
            <a:extLst>
              <a:ext uri="{FF2B5EF4-FFF2-40B4-BE49-F238E27FC236}">
                <a16:creationId xmlns:a16="http://schemas.microsoft.com/office/drawing/2014/main" id="{FCCCE8A4-8F0E-A93A-583A-BB8A76575F68}"/>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e 9">
            <a:extLst>
              <a:ext uri="{FF2B5EF4-FFF2-40B4-BE49-F238E27FC236}">
                <a16:creationId xmlns:a16="http://schemas.microsoft.com/office/drawing/2014/main" id="{85B1592D-B119-CEDA-B8B3-FB62900C343B}"/>
              </a:ext>
            </a:extLst>
          </p:cNvPr>
          <p:cNvGrpSpPr/>
          <p:nvPr userDrawn="1"/>
        </p:nvGrpSpPr>
        <p:grpSpPr>
          <a:xfrm>
            <a:off x="1274524" y="6279025"/>
            <a:ext cx="517010" cy="449924"/>
            <a:chOff x="1301606" y="6252162"/>
            <a:chExt cx="462845" cy="402788"/>
          </a:xfrm>
          <a:solidFill>
            <a:srgbClr val="004F91"/>
          </a:solidFill>
        </p:grpSpPr>
        <p:sp>
          <p:nvSpPr>
            <p:cNvPr id="22" name="Forme libre 21">
              <a:extLst>
                <a:ext uri="{FF2B5EF4-FFF2-40B4-BE49-F238E27FC236}">
                  <a16:creationId xmlns:a16="http://schemas.microsoft.com/office/drawing/2014/main" id="{0543BCFF-5ED5-5170-A771-13574A7CF8D1}"/>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3" name="Forme libre 22">
              <a:extLst>
                <a:ext uri="{FF2B5EF4-FFF2-40B4-BE49-F238E27FC236}">
                  <a16:creationId xmlns:a16="http://schemas.microsoft.com/office/drawing/2014/main" id="{F117AC9E-ED99-668A-C4D3-84F5A75736B5}"/>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72035DB-6071-6FD9-57AC-4A3979472EC5}"/>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24601187-C2A5-C1C0-3154-6E72BD86DA72}"/>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AC337D0E-0F73-FC16-ACE8-9D57BC655658}"/>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BFFEB5CC-BA1C-104E-26C6-BE9F35BF2A53}"/>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6" name="Espace réservé du pied de page 4">
            <a:extLst>
              <a:ext uri="{FF2B5EF4-FFF2-40B4-BE49-F238E27FC236}">
                <a16:creationId xmlns:a16="http://schemas.microsoft.com/office/drawing/2014/main" id="{DC442DE2-92FA-23FB-0E42-132DAB29E5F1}"/>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cxnSp>
        <p:nvCxnSpPr>
          <p:cNvPr id="5" name="Connecteur droit 4">
            <a:extLst>
              <a:ext uri="{FF2B5EF4-FFF2-40B4-BE49-F238E27FC236}">
                <a16:creationId xmlns:a16="http://schemas.microsoft.com/office/drawing/2014/main" id="{69E8074C-589B-DD71-8B33-4D5C85DD7A9B}"/>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038657"/>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 CITATION">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Espace réservé du texte 14">
            <a:extLst>
              <a:ext uri="{FF2B5EF4-FFF2-40B4-BE49-F238E27FC236}">
                <a16:creationId xmlns:a16="http://schemas.microsoft.com/office/drawing/2014/main" id="{52F534B0-36F1-12CB-B821-20BF839A7694}"/>
              </a:ext>
            </a:extLst>
          </p:cNvPr>
          <p:cNvSpPr>
            <a:spLocks noGrp="1"/>
          </p:cNvSpPr>
          <p:nvPr>
            <p:ph type="body" sz="quarter" idx="14" hasCustomPrompt="1"/>
          </p:nvPr>
        </p:nvSpPr>
        <p:spPr>
          <a:xfrm>
            <a:off x="3526971" y="1268403"/>
            <a:ext cx="5181600" cy="510540"/>
          </a:xfrm>
        </p:spPr>
        <p:txBody>
          <a:bodyPr anchor="b">
            <a:normAutofit/>
          </a:bodyPr>
          <a:lstStyle>
            <a:lvl1pPr algn="ctr">
              <a:defRPr sz="2000" b="0" i="0" cap="all" spc="300" baseline="0">
                <a:solidFill>
                  <a:schemeClr val="accent3"/>
                </a:solidFill>
                <a:latin typeface="CNES Sans Light" pitchFamily="2" charset="77"/>
              </a:defRPr>
            </a:lvl1pPr>
          </a:lstStyle>
          <a:p>
            <a:pPr lvl="0"/>
            <a:r>
              <a:rPr lang="fr-FR" dirty="0"/>
              <a:t>PRÉNOM</a:t>
            </a:r>
          </a:p>
        </p:txBody>
      </p:sp>
      <p:sp>
        <p:nvSpPr>
          <p:cNvPr id="20" name="ZoneTexte 19">
            <a:extLst>
              <a:ext uri="{FF2B5EF4-FFF2-40B4-BE49-F238E27FC236}">
                <a16:creationId xmlns:a16="http://schemas.microsoft.com/office/drawing/2014/main" id="{2FF88803-7F70-6672-8224-13135BB1648C}"/>
              </a:ext>
            </a:extLst>
          </p:cNvPr>
          <p:cNvSpPr txBox="1"/>
          <p:nvPr userDrawn="1"/>
        </p:nvSpPr>
        <p:spPr>
          <a:xfrm>
            <a:off x="9850582" y="7367155"/>
            <a:ext cx="184731" cy="369332"/>
          </a:xfrm>
          <a:prstGeom prst="rect">
            <a:avLst/>
          </a:prstGeom>
          <a:noFill/>
        </p:spPr>
        <p:txBody>
          <a:bodyPr wrap="none" rtlCol="0">
            <a:spAutoFit/>
          </a:bodyPr>
          <a:lstStyle/>
          <a:p>
            <a:endParaRPr lang="fr-FR" dirty="0"/>
          </a:p>
        </p:txBody>
      </p:sp>
      <p:sp>
        <p:nvSpPr>
          <p:cNvPr id="6" name="Espace réservé du numéro de diapositive 5">
            <a:extLst>
              <a:ext uri="{FF2B5EF4-FFF2-40B4-BE49-F238E27FC236}">
                <a16:creationId xmlns:a16="http://schemas.microsoft.com/office/drawing/2014/main" id="{B1808DFE-8EA3-1E11-D65E-88A31F860948}"/>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7" name="Forme libre 6">
            <a:extLst>
              <a:ext uri="{FF2B5EF4-FFF2-40B4-BE49-F238E27FC236}">
                <a16:creationId xmlns:a16="http://schemas.microsoft.com/office/drawing/2014/main" id="{A940CBAB-5102-3AA0-6AE0-40E63F1922B6}"/>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Espace réservé du texte 27">
            <a:extLst>
              <a:ext uri="{FF2B5EF4-FFF2-40B4-BE49-F238E27FC236}">
                <a16:creationId xmlns:a16="http://schemas.microsoft.com/office/drawing/2014/main" id="{3ABDF493-D680-3A7B-8583-2FCF414C39A0}"/>
              </a:ext>
            </a:extLst>
          </p:cNvPr>
          <p:cNvSpPr>
            <a:spLocks noGrp="1"/>
          </p:cNvSpPr>
          <p:nvPr>
            <p:ph type="body" sz="quarter" idx="15" hasCustomPrompt="1"/>
          </p:nvPr>
        </p:nvSpPr>
        <p:spPr>
          <a:xfrm>
            <a:off x="2665413" y="2344738"/>
            <a:ext cx="6843712" cy="2092325"/>
          </a:xfrm>
        </p:spPr>
        <p:txBody>
          <a:bodyPr anchor="ctr">
            <a:normAutofit/>
          </a:bodyPr>
          <a:lstStyle>
            <a:lvl1pPr algn="ctr">
              <a:defRPr sz="3600" cap="all" baseline="0"/>
            </a:lvl1pPr>
          </a:lstStyle>
          <a:p>
            <a:pPr lvl="0"/>
            <a:r>
              <a:rPr lang="fr-FR" dirty="0"/>
              <a:t>CITATION</a:t>
            </a:r>
          </a:p>
        </p:txBody>
      </p:sp>
      <p:cxnSp>
        <p:nvCxnSpPr>
          <p:cNvPr id="30" name="Connecteur droit 29">
            <a:extLst>
              <a:ext uri="{FF2B5EF4-FFF2-40B4-BE49-F238E27FC236}">
                <a16:creationId xmlns:a16="http://schemas.microsoft.com/office/drawing/2014/main" id="{FDA16167-ECFF-1AF7-08FC-3F1358FDB117}"/>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e 30">
            <a:extLst>
              <a:ext uri="{FF2B5EF4-FFF2-40B4-BE49-F238E27FC236}">
                <a16:creationId xmlns:a16="http://schemas.microsoft.com/office/drawing/2014/main" id="{B2526EF6-3C1A-7227-689F-4C08BA87E20C}"/>
              </a:ext>
            </a:extLst>
          </p:cNvPr>
          <p:cNvGrpSpPr/>
          <p:nvPr userDrawn="1"/>
        </p:nvGrpSpPr>
        <p:grpSpPr>
          <a:xfrm>
            <a:off x="1274524" y="6279025"/>
            <a:ext cx="517010" cy="449924"/>
            <a:chOff x="1301606" y="6252162"/>
            <a:chExt cx="462845" cy="402788"/>
          </a:xfrm>
          <a:solidFill>
            <a:srgbClr val="004F91"/>
          </a:solidFill>
        </p:grpSpPr>
        <p:sp>
          <p:nvSpPr>
            <p:cNvPr id="32" name="Forme libre 31">
              <a:extLst>
                <a:ext uri="{FF2B5EF4-FFF2-40B4-BE49-F238E27FC236}">
                  <a16:creationId xmlns:a16="http://schemas.microsoft.com/office/drawing/2014/main" id="{EA6B9D77-5093-C8DF-1BE3-38F531C22977}"/>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33" name="Forme libre 32">
              <a:extLst>
                <a:ext uri="{FF2B5EF4-FFF2-40B4-BE49-F238E27FC236}">
                  <a16:creationId xmlns:a16="http://schemas.microsoft.com/office/drawing/2014/main" id="{C015DFE3-C899-56FA-EF0D-67D1BCA29A6B}"/>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4" name="Forme libre 33">
              <a:extLst>
                <a:ext uri="{FF2B5EF4-FFF2-40B4-BE49-F238E27FC236}">
                  <a16:creationId xmlns:a16="http://schemas.microsoft.com/office/drawing/2014/main" id="{72E1D203-FBE9-F7FC-3D67-AB9B1CE52817}"/>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35" name="Forme libre 34">
              <a:extLst>
                <a:ext uri="{FF2B5EF4-FFF2-40B4-BE49-F238E27FC236}">
                  <a16:creationId xmlns:a16="http://schemas.microsoft.com/office/drawing/2014/main" id="{691BBEDF-F315-860C-C12F-C1E4A571D8BD}"/>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6" name="Forme libre 35">
              <a:extLst>
                <a:ext uri="{FF2B5EF4-FFF2-40B4-BE49-F238E27FC236}">
                  <a16:creationId xmlns:a16="http://schemas.microsoft.com/office/drawing/2014/main" id="{66142561-5F5F-3D14-2DFD-11AC5F81B08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7" name="Forme libre 36">
              <a:extLst>
                <a:ext uri="{FF2B5EF4-FFF2-40B4-BE49-F238E27FC236}">
                  <a16:creationId xmlns:a16="http://schemas.microsoft.com/office/drawing/2014/main" id="{5903F528-C364-C0C1-5121-D46D31A705AF}"/>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38" name="Espace réservé du texte 14">
            <a:extLst>
              <a:ext uri="{FF2B5EF4-FFF2-40B4-BE49-F238E27FC236}">
                <a16:creationId xmlns:a16="http://schemas.microsoft.com/office/drawing/2014/main" id="{1FF6F9D5-3A53-8291-4C8E-21371DF5A70E}"/>
              </a:ext>
            </a:extLst>
          </p:cNvPr>
          <p:cNvSpPr>
            <a:spLocks noGrp="1"/>
          </p:cNvSpPr>
          <p:nvPr>
            <p:ph type="body" sz="quarter" idx="13" hasCustomPrompt="1"/>
          </p:nvPr>
        </p:nvSpPr>
        <p:spPr>
          <a:xfrm>
            <a:off x="3526971" y="1788657"/>
            <a:ext cx="5181600" cy="556264"/>
          </a:xfrm>
          <a:noFill/>
        </p:spPr>
        <p:txBody>
          <a:bodyPr>
            <a:normAutofit/>
          </a:bodyPr>
          <a:lstStyle>
            <a:lvl1pPr algn="ctr">
              <a:defRPr sz="2800" cap="all" baseline="0">
                <a:gradFill flip="none" rotWithShape="1">
                  <a:gsLst>
                    <a:gs pos="100000">
                      <a:schemeClr val="tx2"/>
                    </a:gs>
                    <a:gs pos="0">
                      <a:schemeClr val="accent4"/>
                    </a:gs>
                    <a:gs pos="69000">
                      <a:schemeClr val="bg2"/>
                    </a:gs>
                    <a:gs pos="31000">
                      <a:schemeClr val="accent3"/>
                    </a:gs>
                  </a:gsLst>
                  <a:path path="circle">
                    <a:fillToRect l="100000" t="100000"/>
                  </a:path>
                  <a:tileRect r="-100000" b="-100000"/>
                </a:gradFill>
                <a:latin typeface="CNES Poster" pitchFamily="2" charset="77"/>
              </a:defRPr>
            </a:lvl1pPr>
          </a:lstStyle>
          <a:p>
            <a:pPr lvl="0"/>
            <a:r>
              <a:rPr lang="fr-FR" dirty="0"/>
              <a:t>NOM</a:t>
            </a:r>
          </a:p>
        </p:txBody>
      </p:sp>
      <p:sp>
        <p:nvSpPr>
          <p:cNvPr id="4" name="Espace réservé du pied de page 4">
            <a:extLst>
              <a:ext uri="{FF2B5EF4-FFF2-40B4-BE49-F238E27FC236}">
                <a16:creationId xmlns:a16="http://schemas.microsoft.com/office/drawing/2014/main" id="{9B5E3DEC-FFF1-78AE-2A02-46AB1D76FE0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2" name="Ellipse 1">
            <a:extLst>
              <a:ext uri="{FF2B5EF4-FFF2-40B4-BE49-F238E27FC236}">
                <a16:creationId xmlns:a16="http://schemas.microsoft.com/office/drawing/2014/main" id="{F1F31F6A-D3C1-669F-C5B1-EA59DDAD322C}"/>
              </a:ext>
            </a:extLst>
          </p:cNvPr>
          <p:cNvSpPr/>
          <p:nvPr userDrawn="1"/>
        </p:nvSpPr>
        <p:spPr>
          <a:xfrm>
            <a:off x="1659303" y="720926"/>
            <a:ext cx="68829" cy="68829"/>
          </a:xfrm>
          <a:prstGeom prst="ellipse">
            <a:avLst/>
          </a:prstGeom>
          <a:solidFill>
            <a:schemeClr val="accent3"/>
          </a:solidFill>
          <a:ln>
            <a:no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70E04CD9-2042-9AED-B724-72F068950D38}"/>
              </a:ext>
            </a:extLst>
          </p:cNvPr>
          <p:cNvSpPr/>
          <p:nvPr userDrawn="1"/>
        </p:nvSpPr>
        <p:spPr>
          <a:xfrm>
            <a:off x="1117360" y="5143252"/>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4457028E-83FB-91F6-07D8-ED360342B6B4}"/>
              </a:ext>
            </a:extLst>
          </p:cNvPr>
          <p:cNvSpPr/>
          <p:nvPr userDrawn="1"/>
        </p:nvSpPr>
        <p:spPr>
          <a:xfrm>
            <a:off x="9569066" y="735124"/>
            <a:ext cx="68829" cy="68829"/>
          </a:xfrm>
          <a:prstGeom prst="ellipse">
            <a:avLst/>
          </a:prstGeom>
          <a:solidFill>
            <a:schemeClr val="bg1"/>
          </a:solidFill>
          <a:ln w="3175">
            <a:solidFill>
              <a:schemeClr val="accent3"/>
            </a:solid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0AA06870-8192-DB6A-B958-A655F5F5DD51}"/>
              </a:ext>
            </a:extLst>
          </p:cNvPr>
          <p:cNvSpPr/>
          <p:nvPr userDrawn="1"/>
        </p:nvSpPr>
        <p:spPr>
          <a:xfrm>
            <a:off x="10936273" y="5212081"/>
            <a:ext cx="68829" cy="68829"/>
          </a:xfrm>
          <a:prstGeom prst="ellipse">
            <a:avLst/>
          </a:prstGeom>
          <a:solidFill>
            <a:schemeClr val="accent3"/>
          </a:solidFill>
          <a:ln>
            <a:no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28ABCD2-1AE6-D5A0-EF18-D1ADEBB73087}"/>
              </a:ext>
            </a:extLst>
          </p:cNvPr>
          <p:cNvSpPr/>
          <p:nvPr userDrawn="1"/>
        </p:nvSpPr>
        <p:spPr>
          <a:xfrm>
            <a:off x="4352652" y="5325502"/>
            <a:ext cx="68829" cy="68829"/>
          </a:xfrm>
          <a:prstGeom prst="ellipse">
            <a:avLst/>
          </a:prstGeom>
          <a:solidFill>
            <a:schemeClr val="tx2"/>
          </a:solidFill>
          <a:ln>
            <a:no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Graphique 17">
            <a:extLst>
              <a:ext uri="{FF2B5EF4-FFF2-40B4-BE49-F238E27FC236}">
                <a16:creationId xmlns:a16="http://schemas.microsoft.com/office/drawing/2014/main" id="{165966BF-01D5-11F8-2D78-75BB8AF4A60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081461" y="4147871"/>
            <a:ext cx="1687792" cy="1125195"/>
          </a:xfrm>
          <a:prstGeom prst="rect">
            <a:avLst/>
          </a:prstGeom>
        </p:spPr>
      </p:pic>
      <p:pic>
        <p:nvPicPr>
          <p:cNvPr id="19" name="Graphique 18">
            <a:extLst>
              <a:ext uri="{FF2B5EF4-FFF2-40B4-BE49-F238E27FC236}">
                <a16:creationId xmlns:a16="http://schemas.microsoft.com/office/drawing/2014/main" id="{2D694382-1CE8-A17E-8A1B-1FB38E46B01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1457583" y="1583308"/>
            <a:ext cx="1687792" cy="1125195"/>
          </a:xfrm>
          <a:prstGeom prst="rect">
            <a:avLst/>
          </a:prstGeom>
        </p:spPr>
      </p:pic>
      <p:cxnSp>
        <p:nvCxnSpPr>
          <p:cNvPr id="21" name="Connecteur droit 20">
            <a:extLst>
              <a:ext uri="{FF2B5EF4-FFF2-40B4-BE49-F238E27FC236}">
                <a16:creationId xmlns:a16="http://schemas.microsoft.com/office/drawing/2014/main" id="{A6888600-E615-EF42-0814-4FE967B70D1C}"/>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017571"/>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3F9573-F6E3-45B0-8928-CAB3089FF40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4A016A0-E7A8-480F-A48E-C7E2184A0D1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C2D096-80C0-4B8C-96F0-A826039ED56E}"/>
              </a:ext>
            </a:extLst>
          </p:cNvPr>
          <p:cNvSpPr>
            <a:spLocks noGrp="1"/>
          </p:cNvSpPr>
          <p:nvPr>
            <p:ph type="dt" sz="half" idx="10"/>
          </p:nvPr>
        </p:nvSpPr>
        <p:spPr/>
        <p:txBody>
          <a:bodyPr/>
          <a:lstStyle/>
          <a:p>
            <a:fld id="{1BBB3859-CE1F-462B-8943-292853409E8A}" type="datetimeFigureOut">
              <a:rPr lang="fr-FR" smtClean="0"/>
              <a:t>16/09/2025</a:t>
            </a:fld>
            <a:endParaRPr lang="fr-FR"/>
          </a:p>
        </p:txBody>
      </p:sp>
      <p:sp>
        <p:nvSpPr>
          <p:cNvPr id="5" name="Espace réservé du pied de page 4">
            <a:extLst>
              <a:ext uri="{FF2B5EF4-FFF2-40B4-BE49-F238E27FC236}">
                <a16:creationId xmlns:a16="http://schemas.microsoft.com/office/drawing/2014/main" id="{C40B92EF-821B-4A55-9D10-1F1C7CA4D20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50B401A-5265-4A31-8FB5-6E518CFBA9C0}"/>
              </a:ext>
            </a:extLst>
          </p:cNvPr>
          <p:cNvSpPr>
            <a:spLocks noGrp="1"/>
          </p:cNvSpPr>
          <p:nvPr>
            <p:ph type="sldNum" sz="quarter" idx="12"/>
          </p:nvPr>
        </p:nvSpPr>
        <p:spPr/>
        <p:txBody>
          <a:bodyPr/>
          <a:lstStyle/>
          <a:p>
            <a:fld id="{8472E2DC-819A-485D-96A4-AA9F4FB6EEA4}" type="slidenum">
              <a:rPr lang="fr-FR" smtClean="0"/>
              <a:t>‹#›</a:t>
            </a:fld>
            <a:endParaRPr lang="fr-FR"/>
          </a:p>
        </p:txBody>
      </p:sp>
    </p:spTree>
    <p:extLst>
      <p:ext uri="{BB962C8B-B14F-4D97-AF65-F5344CB8AC3E}">
        <p14:creationId xmlns:p14="http://schemas.microsoft.com/office/powerpoint/2010/main" val="32256158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970143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1213872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Disposition personnalisée">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0"/>
          </p:nvPr>
        </p:nvSpPr>
        <p:spPr/>
        <p:txBody>
          <a:bodyPr/>
          <a:lstStyle/>
          <a:p>
            <a:fld id="{EB81167D-292E-8142-ABF3-3BDF0609D345}" type="slidenum">
              <a:rPr lang="fr-FR" smtClean="0"/>
              <a:pPr/>
              <a:t>‹#›</a:t>
            </a:fld>
            <a:endParaRPr lang="fr-FR" dirty="0"/>
          </a:p>
        </p:txBody>
      </p:sp>
    </p:spTree>
    <p:extLst>
      <p:ext uri="{BB962C8B-B14F-4D97-AF65-F5344CB8AC3E}">
        <p14:creationId xmlns:p14="http://schemas.microsoft.com/office/powerpoint/2010/main" val="13030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heme" Target="../theme/theme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1BBDB-10A7-F90C-1A00-4E66D858F0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102DC-6620-BF93-8111-FECAB7317A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9CE42-0B46-039A-31E5-52746FA2A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347ED4-A50A-4338-B6C1-761C90F3337F}" type="datetimeFigureOut">
              <a:rPr lang="en-US" smtClean="0"/>
              <a:t>9/16/2025</a:t>
            </a:fld>
            <a:endParaRPr lang="en-US"/>
          </a:p>
        </p:txBody>
      </p:sp>
      <p:sp>
        <p:nvSpPr>
          <p:cNvPr id="5" name="Footer Placeholder 4">
            <a:extLst>
              <a:ext uri="{FF2B5EF4-FFF2-40B4-BE49-F238E27FC236}">
                <a16:creationId xmlns:a16="http://schemas.microsoft.com/office/drawing/2014/main" id="{090EE813-38FB-3C98-EA0E-DB1BCA138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EF529E-B72B-97FA-C5B2-E4ADAA1ED0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243927-806E-4075-A08D-E55DA5CE647B}" type="slidenum">
              <a:rPr lang="en-US" smtClean="0"/>
              <a:t>‹#›</a:t>
            </a:fld>
            <a:endParaRPr lang="en-US"/>
          </a:p>
        </p:txBody>
      </p:sp>
    </p:spTree>
    <p:extLst>
      <p:ext uri="{BB962C8B-B14F-4D97-AF65-F5344CB8AC3E}">
        <p14:creationId xmlns:p14="http://schemas.microsoft.com/office/powerpoint/2010/main" val="1585505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BABC472-1A75-1EB1-9EE9-52F93E2E9623}"/>
              </a:ext>
            </a:extLst>
          </p:cNvPr>
          <p:cNvSpPr>
            <a:spLocks noGrp="1"/>
          </p:cNvSpPr>
          <p:nvPr>
            <p:ph type="title"/>
          </p:nvPr>
        </p:nvSpPr>
        <p:spPr>
          <a:xfrm>
            <a:off x="365127" y="365125"/>
            <a:ext cx="11290208" cy="1325563"/>
          </a:xfrm>
          <a:prstGeom prst="rect">
            <a:avLst/>
          </a:prstGeom>
        </p:spPr>
        <p:txBody>
          <a:bodyPr vert="horz" lIns="91440" tIns="45720" rIns="91440" bIns="45720" rtlCol="0" anchor="t">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1F4E0CCB-AD10-9591-8553-023586346A89}"/>
              </a:ext>
            </a:extLst>
          </p:cNvPr>
          <p:cNvSpPr>
            <a:spLocks noGrp="1"/>
          </p:cNvSpPr>
          <p:nvPr>
            <p:ph type="body" idx="1"/>
          </p:nvPr>
        </p:nvSpPr>
        <p:spPr>
          <a:xfrm>
            <a:off x="365126" y="1825625"/>
            <a:ext cx="11290209" cy="4165599"/>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numéro de diapositive 5">
            <a:extLst>
              <a:ext uri="{FF2B5EF4-FFF2-40B4-BE49-F238E27FC236}">
                <a16:creationId xmlns:a16="http://schemas.microsoft.com/office/drawing/2014/main" id="{DDFA3585-C39F-3054-84F0-B1EE62B19D89}"/>
              </a:ext>
            </a:extLst>
          </p:cNvPr>
          <p:cNvSpPr>
            <a:spLocks noGrp="1"/>
          </p:cNvSpPr>
          <p:nvPr>
            <p:ph type="sldNum" sz="quarter" idx="4"/>
          </p:nvPr>
        </p:nvSpPr>
        <p:spPr>
          <a:xfrm>
            <a:off x="11835420" y="6319201"/>
            <a:ext cx="365127" cy="365125"/>
          </a:xfrm>
          <a:prstGeom prst="rect">
            <a:avLst/>
          </a:prstGeom>
        </p:spPr>
        <p:txBody>
          <a:bodyPr vert="horz" lIns="91440" tIns="45720" rIns="91440" bIns="45720" rtlCol="0" anchor="ctr"/>
          <a:lstStyle>
            <a:lvl1pPr algn="ctr">
              <a:defRPr sz="800" b="0" i="0">
                <a:solidFill>
                  <a:schemeClr val="tx1">
                    <a:lumMod val="65000"/>
                    <a:lumOff val="35000"/>
                  </a:schemeClr>
                </a:solidFill>
                <a:latin typeface="CNES Sans Light" pitchFamily="2" charset="77"/>
              </a:defRPr>
            </a:lvl1pPr>
          </a:lstStyle>
          <a:p>
            <a:fld id="{6E739F3C-2768-A14F-A11C-037BCBCB7D23}" type="slidenum">
              <a:rPr lang="fr-FR" smtClean="0"/>
              <a:pPr/>
              <a:t>‹#›</a:t>
            </a:fld>
            <a:endParaRPr lang="fr-FR" dirty="0"/>
          </a:p>
        </p:txBody>
      </p:sp>
      <p:sp>
        <p:nvSpPr>
          <p:cNvPr id="4" name="Espace réservé du pied de page 4">
            <a:extLst>
              <a:ext uri="{FF2B5EF4-FFF2-40B4-BE49-F238E27FC236}">
                <a16:creationId xmlns:a16="http://schemas.microsoft.com/office/drawing/2014/main" id="{0F5C4DE5-1CD0-8E3C-2CFE-D8F39EBC64C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Tree>
    <p:extLst>
      <p:ext uri="{BB962C8B-B14F-4D97-AF65-F5344CB8AC3E}">
        <p14:creationId xmlns:p14="http://schemas.microsoft.com/office/powerpoint/2010/main" val="254725807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hdr="0" dt="0"/>
  <p:txStyles>
    <p:titleStyle>
      <a:lvl1pPr algn="l" defTabSz="914400" rtl="0" eaLnBrk="1" latinLnBrk="0" hangingPunct="1">
        <a:lnSpc>
          <a:spcPct val="90000"/>
        </a:lnSpc>
        <a:spcBef>
          <a:spcPct val="0"/>
        </a:spcBef>
        <a:buNone/>
        <a:defRPr sz="2800" b="0" i="0" kern="1200" cap="all" baseline="0">
          <a:solidFill>
            <a:schemeClr val="tx1"/>
          </a:solidFill>
          <a:latin typeface="CNES Poster" pitchFamily="2"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b="0" i="0" kern="1200">
          <a:solidFill>
            <a:schemeClr val="tx1"/>
          </a:solidFill>
          <a:latin typeface="CNES Sans Light" pitchFamily="2" charset="77"/>
          <a:ea typeface="+mn-ea"/>
          <a:cs typeface="+mn-cs"/>
        </a:defRPr>
      </a:lvl1pPr>
      <a:lvl2pPr marL="295275" indent="-285750" algn="l" defTabSz="914400" rtl="0" eaLnBrk="1" latinLnBrk="0" hangingPunct="1">
        <a:lnSpc>
          <a:spcPct val="90000"/>
        </a:lnSpc>
        <a:spcBef>
          <a:spcPts val="500"/>
        </a:spcBef>
        <a:buClr>
          <a:schemeClr val="accent3"/>
        </a:buClr>
        <a:buSzPct val="130000"/>
        <a:buFont typeface="Arial" panose="020B0604020202020204" pitchFamily="34" charset="0"/>
        <a:buChar char="•"/>
        <a:tabLst/>
        <a:defRPr sz="1400" b="0" i="0" kern="1200">
          <a:solidFill>
            <a:schemeClr val="tx1"/>
          </a:solidFill>
          <a:latin typeface="CNES Sans Light" pitchFamily="2" charset="77"/>
          <a:ea typeface="+mn-ea"/>
          <a:cs typeface="+mn-cs"/>
        </a:defRPr>
      </a:lvl2pPr>
      <a:lvl3pPr marL="585788" indent="-317500" algn="l" defTabSz="914400" rtl="0" eaLnBrk="1" latinLnBrk="0" hangingPunct="1">
        <a:lnSpc>
          <a:spcPct val="90000"/>
        </a:lnSpc>
        <a:spcBef>
          <a:spcPts val="500"/>
        </a:spcBef>
        <a:buClr>
          <a:schemeClr val="bg2"/>
        </a:buClr>
        <a:buFont typeface="Arial" panose="020B0604020202020204" pitchFamily="34" charset="0"/>
        <a:buChar char="•"/>
        <a:tabLst/>
        <a:defRPr sz="1400" b="0" i="0" kern="1200">
          <a:solidFill>
            <a:schemeClr val="tx1"/>
          </a:solidFill>
          <a:latin typeface="CNES Sans Light" pitchFamily="2" charset="77"/>
          <a:ea typeface="+mn-ea"/>
          <a:cs typeface="+mn-cs"/>
        </a:defRPr>
      </a:lvl3pPr>
      <a:lvl4pPr marL="893763" indent="-317500" algn="l" defTabSz="914400" rtl="0" eaLnBrk="1" latinLnBrk="0" hangingPunct="1">
        <a:lnSpc>
          <a:spcPct val="90000"/>
        </a:lnSpc>
        <a:spcBef>
          <a:spcPts val="500"/>
        </a:spcBef>
        <a:buClr>
          <a:schemeClr val="accent5"/>
        </a:buClr>
        <a:buSzPct val="80000"/>
        <a:buFont typeface="Arial" panose="020B0604020202020204" pitchFamily="34" charset="0"/>
        <a:buChar char="•"/>
        <a:tabLst/>
        <a:defRPr sz="1400" b="0" i="0" kern="1200">
          <a:solidFill>
            <a:schemeClr val="tx1"/>
          </a:solidFill>
          <a:latin typeface="CNES Sans Light" pitchFamily="2" charset="77"/>
          <a:ea typeface="+mn-ea"/>
          <a:cs typeface="+mn-cs"/>
        </a:defRPr>
      </a:lvl4pPr>
      <a:lvl5pPr marL="9525" indent="0" algn="l" defTabSz="914400" rtl="0" eaLnBrk="1" latinLnBrk="0" hangingPunct="1">
        <a:lnSpc>
          <a:spcPct val="90000"/>
        </a:lnSpc>
        <a:spcBef>
          <a:spcPts val="500"/>
        </a:spcBef>
        <a:buFont typeface="Arial" panose="020B0604020202020204" pitchFamily="34" charset="0"/>
        <a:buNone/>
        <a:tabLst/>
        <a:defRPr sz="1400" b="0" i="0" kern="1200">
          <a:solidFill>
            <a:schemeClr val="bg1"/>
          </a:solidFill>
          <a:latin typeface="CNES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876">
          <p15:clr>
            <a:srgbClr val="F26B43"/>
          </p15:clr>
        </p15:guide>
        <p15:guide id="4" orient="horz" pos="3774">
          <p15:clr>
            <a:srgbClr val="F26B43"/>
          </p15:clr>
        </p15:guide>
        <p15:guide id="5" pos="218">
          <p15:clr>
            <a:srgbClr val="F26B43"/>
          </p15:clr>
        </p15:guide>
        <p15:guide id="6" pos="7348">
          <p15:clr>
            <a:srgbClr val="F26B43"/>
          </p15:clr>
        </p15:guide>
        <p15:guide id="7" orient="horz" pos="1068">
          <p15:clr>
            <a:srgbClr val="F26B43"/>
          </p15:clr>
        </p15:guide>
        <p15:guide id="8" orient="horz" pos="1138">
          <p15:clr>
            <a:srgbClr val="F26B43"/>
          </p15:clr>
        </p15:guide>
        <p15:guide id="9" orient="horz" pos="2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drive.google.com/drive/folders/1etGNuR0eQdQ-TFFH7L2a6saO0IfRUu8s?usp=sharing"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7CD1-575A-C5EC-BE35-22A859A1CCC0}"/>
              </a:ext>
            </a:extLst>
          </p:cNvPr>
          <p:cNvSpPr>
            <a:spLocks noGrp="1"/>
          </p:cNvSpPr>
          <p:nvPr>
            <p:ph type="ctrTitle"/>
          </p:nvPr>
        </p:nvSpPr>
        <p:spPr>
          <a:xfrm>
            <a:off x="1524000" y="266701"/>
            <a:ext cx="9144000" cy="2011679"/>
          </a:xfrm>
        </p:spPr>
        <p:txBody>
          <a:bodyPr/>
          <a:lstStyle/>
          <a:p>
            <a:r>
              <a:rPr lang="en-US" dirty="0" err="1"/>
              <a:t>LakeSP</a:t>
            </a:r>
            <a:r>
              <a:rPr lang="en-US" dirty="0"/>
              <a:t> filtering</a:t>
            </a:r>
          </a:p>
        </p:txBody>
      </p:sp>
      <p:sp>
        <p:nvSpPr>
          <p:cNvPr id="3" name="Subtitle 2">
            <a:extLst>
              <a:ext uri="{FF2B5EF4-FFF2-40B4-BE49-F238E27FC236}">
                <a16:creationId xmlns:a16="http://schemas.microsoft.com/office/drawing/2014/main" id="{80195B7B-77F9-EAEE-0F21-33E3C0ECD048}"/>
              </a:ext>
            </a:extLst>
          </p:cNvPr>
          <p:cNvSpPr>
            <a:spLocks noGrp="1"/>
          </p:cNvSpPr>
          <p:nvPr>
            <p:ph type="subTitle" idx="1"/>
          </p:nvPr>
        </p:nvSpPr>
        <p:spPr>
          <a:xfrm>
            <a:off x="1524000" y="2476501"/>
            <a:ext cx="9144000" cy="952499"/>
          </a:xfrm>
        </p:spPr>
        <p:txBody>
          <a:bodyPr>
            <a:normAutofit/>
          </a:bodyPr>
          <a:lstStyle/>
          <a:p>
            <a:r>
              <a:rPr lang="en-US" dirty="0"/>
              <a:t>06/18/2025, </a:t>
            </a:r>
            <a:r>
              <a:rPr lang="en-US" dirty="0" err="1"/>
              <a:t>SLeW</a:t>
            </a:r>
            <a:endParaRPr lang="en-US" dirty="0"/>
          </a:p>
          <a:p>
            <a:r>
              <a:rPr lang="en-US" dirty="0" err="1"/>
              <a:t>Jida</a:t>
            </a:r>
            <a:r>
              <a:rPr lang="en-US" dirty="0"/>
              <a:t> Wang, </a:t>
            </a:r>
            <a:r>
              <a:rPr lang="en-US" dirty="0" err="1"/>
              <a:t>Mélanie</a:t>
            </a:r>
            <a:r>
              <a:rPr lang="en-US" dirty="0"/>
              <a:t> </a:t>
            </a:r>
            <a:r>
              <a:rPr lang="en-US" dirty="0" err="1"/>
              <a:t>Trudel</a:t>
            </a:r>
            <a:r>
              <a:rPr lang="en-US" dirty="0"/>
              <a:t>, Sylvain </a:t>
            </a:r>
            <a:r>
              <a:rPr lang="en-US" dirty="0" err="1"/>
              <a:t>Biancamaria</a:t>
            </a:r>
            <a:endParaRPr lang="en-US" dirty="0"/>
          </a:p>
        </p:txBody>
      </p:sp>
      <p:sp>
        <p:nvSpPr>
          <p:cNvPr id="4" name="Subtitle 2">
            <a:extLst>
              <a:ext uri="{FF2B5EF4-FFF2-40B4-BE49-F238E27FC236}">
                <a16:creationId xmlns:a16="http://schemas.microsoft.com/office/drawing/2014/main" id="{A4AB0CA2-47AE-59AC-1535-7069C0D2A222}"/>
              </a:ext>
            </a:extLst>
          </p:cNvPr>
          <p:cNvSpPr txBox="1">
            <a:spLocks/>
          </p:cNvSpPr>
          <p:nvPr/>
        </p:nvSpPr>
        <p:spPr>
          <a:xfrm>
            <a:off x="2522220" y="3802380"/>
            <a:ext cx="7208520" cy="210312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Goal: To come up with a globally-applicable filtering strategy that balances</a:t>
            </a:r>
          </a:p>
          <a:p>
            <a:pPr marL="342900" indent="-342900" algn="l">
              <a:buFont typeface="Arial" panose="020B0604020202020204" pitchFamily="34" charset="0"/>
              <a:buChar char="•"/>
            </a:pPr>
            <a:r>
              <a:rPr lang="en-US" dirty="0"/>
              <a:t>Error removal, and </a:t>
            </a:r>
          </a:p>
          <a:p>
            <a:pPr marL="342900" indent="-342900" algn="l">
              <a:buFont typeface="Arial" panose="020B0604020202020204" pitchFamily="34" charset="0"/>
              <a:buChar char="•"/>
            </a:pPr>
            <a:r>
              <a:rPr lang="en-US" dirty="0"/>
              <a:t>A good representation of the lake level hydrograph, e.g., in terms of variability, amplitude, and phenological pattern</a:t>
            </a:r>
          </a:p>
        </p:txBody>
      </p:sp>
    </p:spTree>
    <p:extLst>
      <p:ext uri="{BB962C8B-B14F-4D97-AF65-F5344CB8AC3E}">
        <p14:creationId xmlns:p14="http://schemas.microsoft.com/office/powerpoint/2010/main" val="1287024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5EECAB2-2E4B-DA09-957F-40E95F7BDB6E}"/>
              </a:ext>
            </a:extLst>
          </p:cNvPr>
          <p:cNvSpPr>
            <a:spLocks noGrp="1"/>
          </p:cNvSpPr>
          <p:nvPr>
            <p:ph type="title"/>
          </p:nvPr>
        </p:nvSpPr>
        <p:spPr/>
        <p:txBody>
          <a:bodyPr/>
          <a:lstStyle/>
          <a:p>
            <a:r>
              <a:rPr lang="en-US" cap="none" dirty="0" err="1"/>
              <a:t>LakeSP</a:t>
            </a:r>
            <a:r>
              <a:rPr lang="en-US" cap="none" dirty="0"/>
              <a:t> Filters</a:t>
            </a:r>
          </a:p>
        </p:txBody>
      </p:sp>
      <p:sp>
        <p:nvSpPr>
          <p:cNvPr id="10" name="Espace réservé du texte 9">
            <a:extLst>
              <a:ext uri="{FF2B5EF4-FFF2-40B4-BE49-F238E27FC236}">
                <a16:creationId xmlns:a16="http://schemas.microsoft.com/office/drawing/2014/main" id="{AE1C4B3A-7F3D-CE8E-AA53-0B03A6E92F45}"/>
              </a:ext>
            </a:extLst>
          </p:cNvPr>
          <p:cNvSpPr>
            <a:spLocks noGrp="1"/>
          </p:cNvSpPr>
          <p:nvPr>
            <p:ph type="body" sz="quarter" idx="23"/>
          </p:nvPr>
        </p:nvSpPr>
        <p:spPr/>
        <p:txBody>
          <a:bodyPr>
            <a:normAutofit fontScale="85000" lnSpcReduction="20000"/>
          </a:bodyPr>
          <a:lstStyle/>
          <a:p>
            <a:r>
              <a:rPr lang="en-US" dirty="0"/>
              <a:t>Lake WSE validation</a:t>
            </a:r>
          </a:p>
        </p:txBody>
      </p:sp>
      <p:graphicFrame>
        <p:nvGraphicFramePr>
          <p:cNvPr id="3" name="Tableau 2"/>
          <p:cNvGraphicFramePr>
            <a:graphicFrameLocks noGrp="1"/>
          </p:cNvGraphicFramePr>
          <p:nvPr>
            <p:extLst>
              <p:ext uri="{D42A27DB-BD31-4B8C-83A1-F6EECF244321}">
                <p14:modId xmlns:p14="http://schemas.microsoft.com/office/powerpoint/2010/main" val="154736357"/>
              </p:ext>
            </p:extLst>
          </p:nvPr>
        </p:nvGraphicFramePr>
        <p:xfrm>
          <a:off x="423949" y="1698512"/>
          <a:ext cx="11241001" cy="4135120"/>
        </p:xfrm>
        <a:graphic>
          <a:graphicData uri="http://schemas.openxmlformats.org/drawingml/2006/table">
            <a:tbl>
              <a:tblPr firstRow="1" bandRow="1">
                <a:tableStyleId>{5C22544A-7EE6-4342-B048-85BDC9FD1C3A}</a:tableStyleId>
              </a:tblPr>
              <a:tblGrid>
                <a:gridCol w="2852880">
                  <a:extLst>
                    <a:ext uri="{9D8B030D-6E8A-4147-A177-3AD203B41FA5}">
                      <a16:colId xmlns:a16="http://schemas.microsoft.com/office/drawing/2014/main" val="102251548"/>
                    </a:ext>
                  </a:extLst>
                </a:gridCol>
                <a:gridCol w="8388121">
                  <a:extLst>
                    <a:ext uri="{9D8B030D-6E8A-4147-A177-3AD203B41FA5}">
                      <a16:colId xmlns:a16="http://schemas.microsoft.com/office/drawing/2014/main" val="1590700153"/>
                    </a:ext>
                  </a:extLst>
                </a:gridCol>
              </a:tblGrid>
              <a:tr h="370840">
                <a:tc>
                  <a:txBody>
                    <a:bodyPr/>
                    <a:lstStyle/>
                    <a:p>
                      <a:r>
                        <a:rPr lang="fr-FR" dirty="0"/>
                        <a:t>Flag </a:t>
                      </a:r>
                      <a:r>
                        <a:rPr lang="fr-FR" dirty="0" err="1"/>
                        <a:t>name</a:t>
                      </a:r>
                      <a:endParaRPr lang="fr-FR" dirty="0"/>
                    </a:p>
                  </a:txBody>
                  <a:tcPr/>
                </a:tc>
                <a:tc>
                  <a:txBody>
                    <a:bodyPr/>
                    <a:lstStyle/>
                    <a:p>
                      <a:r>
                        <a:rPr lang="fr-FR" dirty="0"/>
                        <a:t>Flag </a:t>
                      </a:r>
                      <a:r>
                        <a:rPr lang="fr-FR" dirty="0" err="1"/>
                        <a:t>definition</a:t>
                      </a:r>
                      <a:endParaRPr lang="fr-FR" dirty="0"/>
                    </a:p>
                  </a:txBody>
                  <a:tcPr/>
                </a:tc>
                <a:extLst>
                  <a:ext uri="{0D108BD9-81ED-4DB2-BD59-A6C34878D82A}">
                    <a16:rowId xmlns:a16="http://schemas.microsoft.com/office/drawing/2014/main" val="66195177"/>
                  </a:ext>
                </a:extLst>
              </a:tr>
              <a:tr h="370840">
                <a:tc>
                  <a:txBody>
                    <a:bodyPr/>
                    <a:lstStyle/>
                    <a:p>
                      <a:r>
                        <a:rPr lang="fr-FR" dirty="0" err="1"/>
                        <a:t>quality_f</a:t>
                      </a:r>
                      <a:endParaRPr lang="fr-FR" dirty="0"/>
                    </a:p>
                  </a:txBody>
                  <a:tcPr/>
                </a:tc>
                <a:tc>
                  <a:txBody>
                    <a:bodyPr/>
                    <a:lstStyle/>
                    <a:p>
                      <a:r>
                        <a:rPr lang="en-US" sz="1800" kern="1200" dirty="0">
                          <a:solidFill>
                            <a:schemeClr val="dk1"/>
                          </a:solidFill>
                          <a:effectLst/>
                          <a:latin typeface="+mn-lt"/>
                          <a:ea typeface="+mn-ea"/>
                          <a:cs typeface="+mn-cs"/>
                        </a:rPr>
                        <a:t>Summary quality indicator for the lake measurement</a:t>
                      </a:r>
                    </a:p>
                    <a:p>
                      <a:pPr marL="285750" indent="-285750">
                        <a:buFont typeface="Arial" panose="020B0604020202020204" pitchFamily="34" charset="0"/>
                        <a:buChar char="•"/>
                      </a:pPr>
                      <a:r>
                        <a:rPr lang="en-US" sz="1800" kern="1200" dirty="0">
                          <a:solidFill>
                            <a:schemeClr val="dk1"/>
                          </a:solidFill>
                          <a:effectLst/>
                          <a:latin typeface="+mn-lt"/>
                          <a:ea typeface="+mn-ea"/>
                          <a:cs typeface="+mn-cs"/>
                        </a:rPr>
                        <a:t>0</a:t>
                      </a:r>
                      <a:r>
                        <a:rPr lang="en-US" sz="1800" kern="1200" baseline="0" dirty="0">
                          <a:solidFill>
                            <a:schemeClr val="dk1"/>
                          </a:solidFill>
                          <a:effectLst/>
                          <a:latin typeface="+mn-lt"/>
                          <a:ea typeface="+mn-ea"/>
                          <a:cs typeface="+mn-cs"/>
                        </a:rPr>
                        <a:t> = normal</a:t>
                      </a:r>
                    </a:p>
                    <a:p>
                      <a:pPr marL="285750" indent="-285750">
                        <a:buFont typeface="Arial" panose="020B0604020202020204" pitchFamily="34" charset="0"/>
                        <a:buChar char="•"/>
                      </a:pPr>
                      <a:r>
                        <a:rPr lang="en-US" sz="1800" kern="1200" baseline="0" dirty="0">
                          <a:solidFill>
                            <a:schemeClr val="dk1"/>
                          </a:solidFill>
                          <a:effectLst/>
                          <a:latin typeface="+mn-lt"/>
                          <a:ea typeface="+mn-ea"/>
                          <a:cs typeface="+mn-cs"/>
                        </a:rPr>
                        <a:t>1 = bad (PIC0, PGC0);</a:t>
                      </a:r>
                    </a:p>
                    <a:p>
                      <a:pPr marL="285750" indent="-285750">
                        <a:buFont typeface="Arial" panose="020B0604020202020204" pitchFamily="34" charset="0"/>
                        <a:buChar char="•"/>
                      </a:pPr>
                      <a:r>
                        <a:rPr lang="en-US" sz="1800" kern="1200" baseline="0" dirty="0">
                          <a:solidFill>
                            <a:schemeClr val="dk1"/>
                          </a:solidFill>
                          <a:effectLst/>
                          <a:latin typeface="+mn-lt"/>
                          <a:ea typeface="+mn-ea"/>
                          <a:cs typeface="+mn-cs"/>
                        </a:rPr>
                        <a:t>1 = suspect; 2 = degraded; 3 = bad (PIC2, PID0)</a:t>
                      </a:r>
                      <a:endParaRPr lang="fr-FR" dirty="0"/>
                    </a:p>
                  </a:txBody>
                  <a:tcPr/>
                </a:tc>
                <a:extLst>
                  <a:ext uri="{0D108BD9-81ED-4DB2-BD59-A6C34878D82A}">
                    <a16:rowId xmlns:a16="http://schemas.microsoft.com/office/drawing/2014/main" val="2688536334"/>
                  </a:ext>
                </a:extLst>
              </a:tr>
              <a:tr h="370840">
                <a:tc>
                  <a:txBody>
                    <a:bodyPr/>
                    <a:lstStyle/>
                    <a:p>
                      <a:r>
                        <a:rPr lang="fr-FR" sz="1800" dirty="0" err="1"/>
                        <a:t>xovr_qual_q</a:t>
                      </a:r>
                      <a:endParaRPr lang="fr-FR" dirty="0"/>
                    </a:p>
                  </a:txBody>
                  <a:tcPr/>
                </a:tc>
                <a:tc>
                  <a:txBody>
                    <a:bodyPr/>
                    <a:lstStyle/>
                    <a:p>
                      <a:r>
                        <a:rPr lang="en-US" dirty="0"/>
                        <a:t>Quality of the cross-over calibration: 0=good; 1=suspect; 2=bad</a:t>
                      </a:r>
                      <a:endParaRPr lang="fr-FR" dirty="0"/>
                    </a:p>
                  </a:txBody>
                  <a:tcPr/>
                </a:tc>
                <a:extLst>
                  <a:ext uri="{0D108BD9-81ED-4DB2-BD59-A6C34878D82A}">
                    <a16:rowId xmlns:a16="http://schemas.microsoft.com/office/drawing/2014/main" val="1095864183"/>
                  </a:ext>
                </a:extLst>
              </a:tr>
              <a:tr h="370840">
                <a:tc>
                  <a:txBody>
                    <a:bodyPr/>
                    <a:lstStyle/>
                    <a:p>
                      <a:r>
                        <a:rPr lang="fr-FR" dirty="0" err="1"/>
                        <a:t>ice_f</a:t>
                      </a:r>
                      <a:endParaRPr lang="fr-FR" dirty="0"/>
                    </a:p>
                  </a:txBody>
                  <a:tcPr/>
                </a:tc>
                <a:tc>
                  <a:txBody>
                    <a:bodyPr/>
                    <a:lstStyle/>
                    <a:p>
                      <a:r>
                        <a:rPr lang="fr-FR" dirty="0" err="1"/>
                        <a:t>Ice</a:t>
                      </a:r>
                      <a:r>
                        <a:rPr lang="fr-FR" dirty="0"/>
                        <a:t> </a:t>
                      </a:r>
                      <a:r>
                        <a:rPr lang="fr-FR" dirty="0" err="1"/>
                        <a:t>cover</a:t>
                      </a:r>
                      <a:r>
                        <a:rPr lang="fr-FR" dirty="0"/>
                        <a:t> flag, </a:t>
                      </a:r>
                      <a:r>
                        <a:rPr lang="fr-FR" dirty="0" err="1"/>
                        <a:t>from</a:t>
                      </a:r>
                      <a:r>
                        <a:rPr lang="fr-FR" dirty="0"/>
                        <a:t> in situ data, or</a:t>
                      </a:r>
                      <a:r>
                        <a:rPr lang="fr-FR" baseline="0" dirty="0"/>
                        <a:t> </a:t>
                      </a:r>
                      <a:r>
                        <a:rPr lang="fr-FR" baseline="0" dirty="0" err="1"/>
                        <a:t>climatological</a:t>
                      </a:r>
                      <a:r>
                        <a:rPr lang="fr-FR" baseline="0" dirty="0"/>
                        <a:t> flag </a:t>
                      </a:r>
                      <a:r>
                        <a:rPr lang="fr-FR" baseline="0" dirty="0" err="1"/>
                        <a:t>given</a:t>
                      </a:r>
                      <a:r>
                        <a:rPr lang="fr-FR" baseline="0" dirty="0"/>
                        <a:t> in LakeSP </a:t>
                      </a:r>
                      <a:r>
                        <a:rPr lang="fr-FR" baseline="0" dirty="0" err="1"/>
                        <a:t>products</a:t>
                      </a:r>
                      <a:r>
                        <a:rPr lang="fr-FR" baseline="0" dirty="0"/>
                        <a:t> [Yang et al. 2020]</a:t>
                      </a:r>
                    </a:p>
                    <a:p>
                      <a:pPr marL="285750" indent="-285750">
                        <a:buFont typeface="Arial" panose="020B0604020202020204" pitchFamily="34" charset="0"/>
                        <a:buChar char="•"/>
                      </a:pPr>
                      <a:r>
                        <a:rPr lang="fr-FR" baseline="0" dirty="0"/>
                        <a:t>0=no </a:t>
                      </a:r>
                      <a:r>
                        <a:rPr lang="fr-FR" baseline="0" dirty="0" err="1"/>
                        <a:t>ice</a:t>
                      </a:r>
                      <a:r>
                        <a:rPr lang="fr-FR" baseline="0" dirty="0"/>
                        <a:t> </a:t>
                      </a:r>
                      <a:r>
                        <a:rPr lang="fr-FR" baseline="0" dirty="0" err="1"/>
                        <a:t>cover</a:t>
                      </a:r>
                      <a:endParaRPr lang="fr-FR" baseline="0" dirty="0"/>
                    </a:p>
                    <a:p>
                      <a:pPr marL="285750" indent="-285750">
                        <a:buFont typeface="Arial" panose="020B0604020202020204" pitchFamily="34" charset="0"/>
                        <a:buChar char="•"/>
                      </a:pPr>
                      <a:r>
                        <a:rPr lang="fr-FR" baseline="0" dirty="0"/>
                        <a:t>1=partial </a:t>
                      </a:r>
                      <a:r>
                        <a:rPr lang="fr-FR" baseline="0" dirty="0" err="1"/>
                        <a:t>ice</a:t>
                      </a:r>
                      <a:r>
                        <a:rPr lang="fr-FR" baseline="0" dirty="0"/>
                        <a:t> cover</a:t>
                      </a:r>
                    </a:p>
                    <a:p>
                      <a:pPr marL="285750" indent="-285750">
                        <a:buFont typeface="Arial" panose="020B0604020202020204" pitchFamily="34" charset="0"/>
                        <a:buChar char="•"/>
                      </a:pPr>
                      <a:r>
                        <a:rPr lang="fr-FR" baseline="0" dirty="0"/>
                        <a:t>2=full </a:t>
                      </a:r>
                      <a:r>
                        <a:rPr lang="fr-FR" baseline="0" dirty="0" err="1"/>
                        <a:t>ice</a:t>
                      </a:r>
                      <a:r>
                        <a:rPr lang="fr-FR" baseline="0" dirty="0"/>
                        <a:t> </a:t>
                      </a:r>
                      <a:r>
                        <a:rPr lang="fr-FR" baseline="0" dirty="0" err="1"/>
                        <a:t>cover</a:t>
                      </a:r>
                      <a:endParaRPr lang="fr-FR" dirty="0"/>
                    </a:p>
                  </a:txBody>
                  <a:tcPr/>
                </a:tc>
                <a:extLst>
                  <a:ext uri="{0D108BD9-81ED-4DB2-BD59-A6C34878D82A}">
                    <a16:rowId xmlns:a16="http://schemas.microsoft.com/office/drawing/2014/main" val="2322532658"/>
                  </a:ext>
                </a:extLst>
              </a:tr>
              <a:tr h="370840">
                <a:tc>
                  <a:txBody>
                    <a:bodyPr/>
                    <a:lstStyle/>
                    <a:p>
                      <a:r>
                        <a:rPr lang="en-US" sz="1800" dirty="0" err="1"/>
                        <a:t>partial_f</a:t>
                      </a:r>
                      <a:endParaRPr lang="fr-FR" dirty="0"/>
                    </a:p>
                  </a:txBody>
                  <a:tcPr/>
                </a:tc>
                <a:tc>
                  <a:txBody>
                    <a:bodyPr/>
                    <a:lstStyle/>
                    <a:p>
                      <a:r>
                        <a:rPr lang="en-US" dirty="0"/>
                        <a:t>Flag that indicates only partial lake coverage: 0=covered; 1=partially covered</a:t>
                      </a:r>
                      <a:endParaRPr lang="fr-FR" dirty="0"/>
                    </a:p>
                  </a:txBody>
                  <a:tcPr/>
                </a:tc>
                <a:extLst>
                  <a:ext uri="{0D108BD9-81ED-4DB2-BD59-A6C34878D82A}">
                    <a16:rowId xmlns:a16="http://schemas.microsoft.com/office/drawing/2014/main" val="3619630574"/>
                  </a:ext>
                </a:extLst>
              </a:tr>
              <a:tr h="370840">
                <a:tc>
                  <a:txBody>
                    <a:bodyPr/>
                    <a:lstStyle/>
                    <a:p>
                      <a:r>
                        <a:rPr lang="fr-FR" dirty="0" err="1"/>
                        <a:t>dark_frac</a:t>
                      </a:r>
                      <a:endParaRPr lang="fr-FR" dirty="0"/>
                    </a:p>
                  </a:txBody>
                  <a:tcPr/>
                </a:tc>
                <a:tc>
                  <a:txBody>
                    <a:bodyPr/>
                    <a:lstStyle/>
                    <a:p>
                      <a:r>
                        <a:rPr lang="en-US" sz="1800" kern="1200" dirty="0">
                          <a:solidFill>
                            <a:schemeClr val="dk1"/>
                          </a:solidFill>
                          <a:effectLst/>
                          <a:latin typeface="+mn-lt"/>
                          <a:ea typeface="+mn-ea"/>
                          <a:cs typeface="+mn-cs"/>
                        </a:rPr>
                        <a:t>Fraction of lake </a:t>
                      </a:r>
                      <a:r>
                        <a:rPr lang="en-US" sz="1800" kern="1200" dirty="0" err="1">
                          <a:solidFill>
                            <a:schemeClr val="dk1"/>
                          </a:solidFill>
                          <a:effectLst/>
                          <a:latin typeface="+mn-lt"/>
                          <a:ea typeface="+mn-ea"/>
                          <a:cs typeface="+mn-cs"/>
                        </a:rPr>
                        <a:t>area_total</a:t>
                      </a:r>
                      <a:r>
                        <a:rPr lang="en-US" sz="1800" kern="1200" dirty="0">
                          <a:solidFill>
                            <a:schemeClr val="dk1"/>
                          </a:solidFill>
                          <a:effectLst/>
                          <a:latin typeface="+mn-lt"/>
                          <a:ea typeface="+mn-ea"/>
                          <a:cs typeface="+mn-cs"/>
                        </a:rPr>
                        <a:t> covered by dark water</a:t>
                      </a:r>
                      <a:endParaRPr lang="fr-FR" dirty="0"/>
                    </a:p>
                  </a:txBody>
                  <a:tcPr/>
                </a:tc>
                <a:extLst>
                  <a:ext uri="{0D108BD9-81ED-4DB2-BD59-A6C34878D82A}">
                    <a16:rowId xmlns:a16="http://schemas.microsoft.com/office/drawing/2014/main" val="4134036924"/>
                  </a:ext>
                </a:extLst>
              </a:tr>
            </a:tbl>
          </a:graphicData>
        </a:graphic>
      </p:graphicFrame>
      <p:sp>
        <p:nvSpPr>
          <p:cNvPr id="7" name="Rectangle 6"/>
          <p:cNvSpPr/>
          <p:nvPr/>
        </p:nvSpPr>
        <p:spPr>
          <a:xfrm>
            <a:off x="365123" y="1052088"/>
            <a:ext cx="10521413" cy="430887"/>
          </a:xfrm>
          <a:prstGeom prst="rect">
            <a:avLst/>
          </a:prstGeom>
        </p:spPr>
        <p:txBody>
          <a:bodyPr wrap="square">
            <a:spAutoFit/>
          </a:bodyPr>
          <a:lstStyle/>
          <a:p>
            <a:r>
              <a:rPr lang="en-US" sz="2200" dirty="0">
                <a:latin typeface="CNES Sans Light" pitchFamily="2" charset="77"/>
              </a:rPr>
              <a:t>Based on various combinations of quality flags/indicators</a:t>
            </a:r>
            <a:endParaRPr lang="en-US" sz="2200" dirty="0"/>
          </a:p>
        </p:txBody>
      </p:sp>
      <p:sp>
        <p:nvSpPr>
          <p:cNvPr id="4" name="TextBox 3">
            <a:extLst>
              <a:ext uri="{FF2B5EF4-FFF2-40B4-BE49-F238E27FC236}">
                <a16:creationId xmlns:a16="http://schemas.microsoft.com/office/drawing/2014/main" id="{8C9C9E63-E35D-A43D-7CEE-56D0D9D5A78D}"/>
              </a:ext>
            </a:extLst>
          </p:cNvPr>
          <p:cNvSpPr txBox="1"/>
          <p:nvPr/>
        </p:nvSpPr>
        <p:spPr>
          <a:xfrm>
            <a:off x="5693924" y="6188760"/>
            <a:ext cx="6400800" cy="646331"/>
          </a:xfrm>
          <a:prstGeom prst="rect">
            <a:avLst/>
          </a:prstGeom>
          <a:noFill/>
        </p:spPr>
        <p:txBody>
          <a:bodyPr wrap="square">
            <a:spAutoFit/>
          </a:bodyPr>
          <a:lstStyle/>
          <a:p>
            <a:pPr algn="ctr"/>
            <a:r>
              <a:rPr lang="en-US" sz="1800" dirty="0">
                <a:latin typeface="CNES Sans Light" pitchFamily="2" charset="77"/>
              </a:rPr>
              <a:t>Claire Pottier, Roger </a:t>
            </a:r>
            <a:r>
              <a:rPr lang="en-US" sz="1800" dirty="0" err="1">
                <a:latin typeface="CNES Sans Light" pitchFamily="2" charset="77"/>
              </a:rPr>
              <a:t>Fjørtoft</a:t>
            </a:r>
            <a:r>
              <a:rPr lang="en-US" sz="1800" dirty="0">
                <a:latin typeface="CNES Sans Light" pitchFamily="2" charset="77"/>
              </a:rPr>
              <a:t>, </a:t>
            </a:r>
            <a:br>
              <a:rPr lang="en-US" sz="1800" dirty="0">
                <a:latin typeface="CNES Sans Light" pitchFamily="2" charset="77"/>
              </a:rPr>
            </a:br>
            <a:r>
              <a:rPr lang="en-US" sz="1800" dirty="0">
                <a:latin typeface="CNES Sans Light" pitchFamily="2" charset="77"/>
              </a:rPr>
              <a:t>on behalf of the HR Cal/Val Team, 2024 SWOT ST meeting</a:t>
            </a:r>
            <a:endParaRPr lang="en-US" sz="1800" dirty="0"/>
          </a:p>
        </p:txBody>
      </p:sp>
    </p:spTree>
    <p:extLst>
      <p:ext uri="{BB962C8B-B14F-4D97-AF65-F5344CB8AC3E}">
        <p14:creationId xmlns:p14="http://schemas.microsoft.com/office/powerpoint/2010/main" val="1805149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E200D6-258E-6934-E03B-3EB3C5DCFFD9}"/>
              </a:ext>
            </a:extLst>
          </p:cNvPr>
          <p:cNvPicPr>
            <a:picLocks noChangeAspect="1"/>
          </p:cNvPicPr>
          <p:nvPr/>
        </p:nvPicPr>
        <p:blipFill>
          <a:blip r:embed="rId2"/>
          <a:stretch>
            <a:fillRect/>
          </a:stretch>
        </p:blipFill>
        <p:spPr>
          <a:xfrm>
            <a:off x="2357557" y="159958"/>
            <a:ext cx="6871659" cy="6538083"/>
          </a:xfrm>
          <a:prstGeom prst="rect">
            <a:avLst/>
          </a:prstGeom>
        </p:spPr>
      </p:pic>
      <p:sp>
        <p:nvSpPr>
          <p:cNvPr id="4" name="Titre 7">
            <a:extLst>
              <a:ext uri="{FF2B5EF4-FFF2-40B4-BE49-F238E27FC236}">
                <a16:creationId xmlns:a16="http://schemas.microsoft.com/office/drawing/2014/main" id="{52B2E726-A8CF-AEE7-6017-EB1D1EE90ADD}"/>
              </a:ext>
            </a:extLst>
          </p:cNvPr>
          <p:cNvSpPr>
            <a:spLocks noGrp="1"/>
          </p:cNvSpPr>
          <p:nvPr>
            <p:ph type="title"/>
          </p:nvPr>
        </p:nvSpPr>
        <p:spPr>
          <a:xfrm>
            <a:off x="330223" y="159958"/>
            <a:ext cx="9236076" cy="542490"/>
          </a:xfrm>
        </p:spPr>
        <p:txBody>
          <a:bodyPr>
            <a:normAutofit fontScale="90000"/>
          </a:bodyPr>
          <a:lstStyle/>
          <a:p>
            <a:r>
              <a:rPr lang="en-US" sz="3600" cap="none" dirty="0"/>
              <a:t>Updated </a:t>
            </a:r>
            <a:r>
              <a:rPr lang="en-US" sz="3600" cap="none" dirty="0" err="1"/>
              <a:t>quality_f</a:t>
            </a:r>
            <a:r>
              <a:rPr lang="en-US" sz="3600" cap="none" dirty="0"/>
              <a:t> in PIC2/PID0</a:t>
            </a:r>
          </a:p>
        </p:txBody>
      </p:sp>
    </p:spTree>
    <p:extLst>
      <p:ext uri="{BB962C8B-B14F-4D97-AF65-F5344CB8AC3E}">
        <p14:creationId xmlns:p14="http://schemas.microsoft.com/office/powerpoint/2010/main" val="95987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5EECAB2-2E4B-DA09-957F-40E95F7BDB6E}"/>
              </a:ext>
            </a:extLst>
          </p:cNvPr>
          <p:cNvSpPr>
            <a:spLocks noGrp="1"/>
          </p:cNvSpPr>
          <p:nvPr>
            <p:ph type="title"/>
          </p:nvPr>
        </p:nvSpPr>
        <p:spPr>
          <a:xfrm>
            <a:off x="365124" y="364930"/>
            <a:ext cx="9236076" cy="907689"/>
          </a:xfrm>
        </p:spPr>
        <p:txBody>
          <a:bodyPr/>
          <a:lstStyle/>
          <a:p>
            <a:r>
              <a:rPr lang="en-US" cap="none" dirty="0"/>
              <a:t>lake WSE errors</a:t>
            </a:r>
            <a:endParaRPr lang="en-US" cap="none" dirty="0">
              <a:latin typeface="CNES Sans Light" panose="00000400000000000000" pitchFamily="50" charset="0"/>
            </a:endParaRPr>
          </a:p>
        </p:txBody>
      </p:sp>
      <p:sp>
        <p:nvSpPr>
          <p:cNvPr id="10" name="Espace réservé du texte 9">
            <a:extLst>
              <a:ext uri="{FF2B5EF4-FFF2-40B4-BE49-F238E27FC236}">
                <a16:creationId xmlns:a16="http://schemas.microsoft.com/office/drawing/2014/main" id="{AE1C4B3A-7F3D-CE8E-AA53-0B03A6E92F45}"/>
              </a:ext>
            </a:extLst>
          </p:cNvPr>
          <p:cNvSpPr>
            <a:spLocks noGrp="1"/>
          </p:cNvSpPr>
          <p:nvPr>
            <p:ph type="body" sz="quarter" idx="23"/>
          </p:nvPr>
        </p:nvSpPr>
        <p:spPr/>
        <p:txBody>
          <a:bodyPr>
            <a:normAutofit fontScale="85000" lnSpcReduction="20000"/>
          </a:bodyPr>
          <a:lstStyle/>
          <a:p>
            <a:r>
              <a:rPr lang="en-US" dirty="0"/>
              <a:t>Lake WSE validation</a:t>
            </a:r>
          </a:p>
        </p:txBody>
      </p:sp>
      <p:graphicFrame>
        <p:nvGraphicFramePr>
          <p:cNvPr id="3" name="Tableau 2"/>
          <p:cNvGraphicFramePr>
            <a:graphicFrameLocks noGrp="1"/>
          </p:cNvGraphicFramePr>
          <p:nvPr/>
        </p:nvGraphicFramePr>
        <p:xfrm>
          <a:off x="875321" y="2038158"/>
          <a:ext cx="8657471" cy="3302000"/>
        </p:xfrm>
        <a:graphic>
          <a:graphicData uri="http://schemas.openxmlformats.org/drawingml/2006/table">
            <a:tbl>
              <a:tblPr firstRow="1" bandRow="1">
                <a:tableStyleId>{5C22544A-7EE6-4342-B048-85BDC9FD1C3A}</a:tableStyleId>
              </a:tblPr>
              <a:tblGrid>
                <a:gridCol w="1548892">
                  <a:extLst>
                    <a:ext uri="{9D8B030D-6E8A-4147-A177-3AD203B41FA5}">
                      <a16:colId xmlns:a16="http://schemas.microsoft.com/office/drawing/2014/main" val="102251548"/>
                    </a:ext>
                  </a:extLst>
                </a:gridCol>
                <a:gridCol w="876681">
                  <a:extLst>
                    <a:ext uri="{9D8B030D-6E8A-4147-A177-3AD203B41FA5}">
                      <a16:colId xmlns:a16="http://schemas.microsoft.com/office/drawing/2014/main" val="3641370056"/>
                    </a:ext>
                  </a:extLst>
                </a:gridCol>
                <a:gridCol w="3115949">
                  <a:extLst>
                    <a:ext uri="{9D8B030D-6E8A-4147-A177-3AD203B41FA5}">
                      <a16:colId xmlns:a16="http://schemas.microsoft.com/office/drawing/2014/main" val="1676746808"/>
                    </a:ext>
                  </a:extLst>
                </a:gridCol>
                <a:gridCol w="3115949">
                  <a:extLst>
                    <a:ext uri="{9D8B030D-6E8A-4147-A177-3AD203B41FA5}">
                      <a16:colId xmlns:a16="http://schemas.microsoft.com/office/drawing/2014/main" val="179042150"/>
                    </a:ext>
                  </a:extLst>
                </a:gridCol>
              </a:tblGrid>
              <a:tr h="370840">
                <a:tc>
                  <a:txBody>
                    <a:bodyPr/>
                    <a:lstStyle/>
                    <a:p>
                      <a:r>
                        <a:rPr lang="fr-FR" dirty="0"/>
                        <a:t>Flag</a:t>
                      </a:r>
                    </a:p>
                  </a:txBody>
                  <a:tcPr/>
                </a:tc>
                <a:tc>
                  <a:txBody>
                    <a:bodyPr/>
                    <a:lstStyle/>
                    <a:p>
                      <a:pPr algn="ctr"/>
                      <a:r>
                        <a:rPr lang="fr-FR" dirty="0"/>
                        <a:t>Value</a:t>
                      </a:r>
                    </a:p>
                  </a:txBody>
                  <a:tcPr/>
                </a:tc>
                <a:tc>
                  <a:txBody>
                    <a:bodyPr/>
                    <a:lstStyle/>
                    <a:p>
                      <a:pPr algn="ctr"/>
                      <a:r>
                        <a:rPr lang="fr-FR" dirty="0"/>
                        <a:t>1</a:t>
                      </a:r>
                      <a:r>
                        <a:rPr lang="fr-FR" dirty="0">
                          <a:sym typeface="Symbol" panose="05050102010706020507" pitchFamily="18" charset="2"/>
                        </a:rPr>
                        <a:t>|</a:t>
                      </a:r>
                      <a:r>
                        <a:rPr lang="fr-FR" dirty="0" err="1">
                          <a:sym typeface="Symbol" panose="05050102010706020507" pitchFamily="18" charset="2"/>
                        </a:rPr>
                        <a:t>error</a:t>
                      </a:r>
                      <a:r>
                        <a:rPr lang="fr-FR" dirty="0">
                          <a:sym typeface="Symbol" panose="05050102010706020507" pitchFamily="18" charset="2"/>
                        </a:rPr>
                        <a:t>| for </a:t>
                      </a:r>
                      <a:r>
                        <a:rPr lang="fr-FR" dirty="0" err="1">
                          <a:sym typeface="Symbol" panose="05050102010706020507" pitchFamily="18" charset="2"/>
                        </a:rPr>
                        <a:t>lakes</a:t>
                      </a:r>
                      <a:r>
                        <a:rPr lang="fr-FR" dirty="0">
                          <a:sym typeface="Symbol" panose="05050102010706020507" pitchFamily="18" charset="2"/>
                        </a:rPr>
                        <a:t> &lt; 1km²</a:t>
                      </a: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1</a:t>
                      </a:r>
                      <a:r>
                        <a:rPr lang="fr-FR" dirty="0">
                          <a:sym typeface="Symbol" panose="05050102010706020507" pitchFamily="18" charset="2"/>
                        </a:rPr>
                        <a:t>|</a:t>
                      </a:r>
                      <a:r>
                        <a:rPr lang="fr-FR" dirty="0" err="1">
                          <a:sym typeface="Symbol" panose="05050102010706020507" pitchFamily="18" charset="2"/>
                        </a:rPr>
                        <a:t>error</a:t>
                      </a:r>
                      <a:r>
                        <a:rPr lang="fr-FR" dirty="0">
                          <a:sym typeface="Symbol" panose="05050102010706020507" pitchFamily="18" charset="2"/>
                        </a:rPr>
                        <a:t>| for </a:t>
                      </a:r>
                      <a:r>
                        <a:rPr lang="fr-FR" dirty="0" err="1">
                          <a:sym typeface="Symbol" panose="05050102010706020507" pitchFamily="18" charset="2"/>
                        </a:rPr>
                        <a:t>lakes</a:t>
                      </a:r>
                      <a:r>
                        <a:rPr lang="fr-FR" dirty="0">
                          <a:sym typeface="Symbol" panose="05050102010706020507" pitchFamily="18" charset="2"/>
                        </a:rPr>
                        <a:t> &gt; 1km²</a:t>
                      </a:r>
                      <a:endParaRPr lang="fr-FR" dirty="0"/>
                    </a:p>
                  </a:txBody>
                  <a:tcPr/>
                </a:tc>
                <a:extLst>
                  <a:ext uri="{0D108BD9-81ED-4DB2-BD59-A6C34878D82A}">
                    <a16:rowId xmlns:a16="http://schemas.microsoft.com/office/drawing/2014/main" val="66195177"/>
                  </a:ext>
                </a:extLst>
              </a:tr>
              <a:tr h="370840">
                <a:tc>
                  <a:txBody>
                    <a:bodyPr/>
                    <a:lstStyle/>
                    <a:p>
                      <a:r>
                        <a:rPr lang="fr-FR" dirty="0" err="1"/>
                        <a:t>quality_f</a:t>
                      </a:r>
                      <a:endParaRPr lang="fr-FR" dirty="0"/>
                    </a:p>
                  </a:txBody>
                  <a:tcPr/>
                </a:tc>
                <a:tc>
                  <a:txBody>
                    <a:bodyPr/>
                    <a:lstStyle/>
                    <a:p>
                      <a:pPr algn="ctr"/>
                      <a:r>
                        <a:rPr lang="fr-FR" dirty="0"/>
                        <a:t>0</a:t>
                      </a:r>
                    </a:p>
                  </a:txBody>
                  <a:tcPr/>
                </a:tc>
                <a:tc>
                  <a:txBody>
                    <a:bodyPr/>
                    <a:lstStyle/>
                    <a:p>
                      <a:pPr algn="ctr"/>
                      <a:r>
                        <a:rPr lang="fr-FR" dirty="0"/>
                        <a:t>17cm</a:t>
                      </a:r>
                    </a:p>
                  </a:txBody>
                  <a:tcPr/>
                </a:tc>
                <a:tc>
                  <a:txBody>
                    <a:bodyPr/>
                    <a:lstStyle/>
                    <a:p>
                      <a:pPr algn="ctr"/>
                      <a:r>
                        <a:rPr lang="fr-FR" dirty="0"/>
                        <a:t>20cm</a:t>
                      </a:r>
                    </a:p>
                  </a:txBody>
                  <a:tcPr/>
                </a:tc>
                <a:extLst>
                  <a:ext uri="{0D108BD9-81ED-4DB2-BD59-A6C34878D82A}">
                    <a16:rowId xmlns:a16="http://schemas.microsoft.com/office/drawing/2014/main" val="2688536334"/>
                  </a:ext>
                </a:extLst>
              </a:tr>
              <a:tr h="370840">
                <a:tc>
                  <a:txBody>
                    <a:bodyPr/>
                    <a:lstStyle/>
                    <a:p>
                      <a:r>
                        <a:rPr lang="fr-FR" dirty="0"/>
                        <a:t>+ </a:t>
                      </a:r>
                      <a:r>
                        <a:rPr lang="fr-FR" dirty="0" err="1"/>
                        <a:t>ice_f</a:t>
                      </a:r>
                      <a:endParaRPr lang="fr-FR" dirty="0"/>
                    </a:p>
                  </a:txBody>
                  <a:tcPr/>
                </a:tc>
                <a:tc>
                  <a:txBody>
                    <a:bodyPr/>
                    <a:lstStyle/>
                    <a:p>
                      <a:pPr algn="ctr"/>
                      <a:r>
                        <a:rPr lang="fr-FR" dirty="0"/>
                        <a:t>0&amp;1</a:t>
                      </a:r>
                    </a:p>
                    <a:p>
                      <a:pPr algn="ctr"/>
                      <a:r>
                        <a:rPr lang="fr-FR" dirty="0"/>
                        <a:t>0</a:t>
                      </a:r>
                    </a:p>
                  </a:txBody>
                  <a:tcPr/>
                </a:tc>
                <a:tc>
                  <a:txBody>
                    <a:bodyPr/>
                    <a:lstStyle/>
                    <a:p>
                      <a:pPr algn="ctr"/>
                      <a:r>
                        <a:rPr lang="fr-FR" dirty="0"/>
                        <a:t>14cm</a:t>
                      </a:r>
                    </a:p>
                    <a:p>
                      <a:pPr algn="ctr"/>
                      <a:r>
                        <a:rPr lang="fr-FR" dirty="0"/>
                        <a:t>14cm</a:t>
                      </a:r>
                    </a:p>
                  </a:txBody>
                  <a:tcPr/>
                </a:tc>
                <a:tc>
                  <a:txBody>
                    <a:bodyPr/>
                    <a:lstStyle/>
                    <a:p>
                      <a:pPr algn="ctr"/>
                      <a:r>
                        <a:rPr lang="fr-FR" dirty="0"/>
                        <a:t>14cm</a:t>
                      </a:r>
                    </a:p>
                    <a:p>
                      <a:pPr algn="ctr"/>
                      <a:r>
                        <a:rPr lang="fr-FR" dirty="0"/>
                        <a:t>11cm</a:t>
                      </a:r>
                    </a:p>
                  </a:txBody>
                  <a:tcPr/>
                </a:tc>
                <a:extLst>
                  <a:ext uri="{0D108BD9-81ED-4DB2-BD59-A6C34878D82A}">
                    <a16:rowId xmlns:a16="http://schemas.microsoft.com/office/drawing/2014/main" val="2322532658"/>
                  </a:ext>
                </a:extLst>
              </a:tr>
              <a:tr h="370840">
                <a:tc>
                  <a:txBody>
                    <a:bodyPr/>
                    <a:lstStyle/>
                    <a:p>
                      <a:r>
                        <a:rPr lang="fr-FR" sz="1800" dirty="0"/>
                        <a:t>+ </a:t>
                      </a:r>
                      <a:r>
                        <a:rPr lang="fr-FR" sz="1800" dirty="0" err="1"/>
                        <a:t>xovr_qual_q</a:t>
                      </a:r>
                      <a:endParaRPr lang="fr-FR" dirty="0"/>
                    </a:p>
                  </a:txBody>
                  <a:tcPr/>
                </a:tc>
                <a:tc>
                  <a:txBody>
                    <a:bodyPr/>
                    <a:lstStyle/>
                    <a:p>
                      <a:pPr algn="ctr"/>
                      <a:r>
                        <a:rPr lang="fr-FR" dirty="0"/>
                        <a:t>0&amp;1</a:t>
                      </a:r>
                    </a:p>
                    <a:p>
                      <a:pPr algn="ctr"/>
                      <a:r>
                        <a:rPr lang="fr-FR" dirty="0"/>
                        <a:t>0</a:t>
                      </a:r>
                    </a:p>
                  </a:txBody>
                  <a:tcPr/>
                </a:tc>
                <a:tc>
                  <a:txBody>
                    <a:bodyPr/>
                    <a:lstStyle/>
                    <a:p>
                      <a:pPr algn="ctr"/>
                      <a:r>
                        <a:rPr lang="fr-FR" dirty="0"/>
                        <a:t>14cm</a:t>
                      </a:r>
                    </a:p>
                    <a:p>
                      <a:pPr algn="ctr"/>
                      <a:r>
                        <a:rPr lang="fr-FR" dirty="0"/>
                        <a:t>14cm</a:t>
                      </a:r>
                    </a:p>
                  </a:txBody>
                  <a:tcPr/>
                </a:tc>
                <a:tc>
                  <a:txBody>
                    <a:bodyPr/>
                    <a:lstStyle/>
                    <a:p>
                      <a:pPr algn="ctr"/>
                      <a:r>
                        <a:rPr lang="fr-FR" dirty="0"/>
                        <a:t>10cm</a:t>
                      </a:r>
                    </a:p>
                    <a:p>
                      <a:pPr algn="ctr"/>
                      <a:r>
                        <a:rPr lang="fr-FR" dirty="0"/>
                        <a:t>10cm</a:t>
                      </a:r>
                    </a:p>
                  </a:txBody>
                  <a:tcPr/>
                </a:tc>
                <a:extLst>
                  <a:ext uri="{0D108BD9-81ED-4DB2-BD59-A6C34878D82A}">
                    <a16:rowId xmlns:a16="http://schemas.microsoft.com/office/drawing/2014/main" val="1013577864"/>
                  </a:ext>
                </a:extLst>
              </a:tr>
              <a:tr h="370840">
                <a:tc>
                  <a:txBody>
                    <a:bodyPr/>
                    <a:lstStyle/>
                    <a:p>
                      <a:r>
                        <a:rPr lang="en-US" sz="1800" dirty="0"/>
                        <a:t>Baseline</a:t>
                      </a:r>
                    </a:p>
                    <a:p>
                      <a:r>
                        <a:rPr lang="en-US" sz="1800" dirty="0"/>
                        <a:t>+ </a:t>
                      </a:r>
                      <a:r>
                        <a:rPr lang="en-US" sz="1800" dirty="0" err="1"/>
                        <a:t>partial_f</a:t>
                      </a:r>
                      <a:endParaRPr lang="fr-FR" dirty="0"/>
                    </a:p>
                  </a:txBody>
                  <a:tcPr/>
                </a:tc>
                <a:tc>
                  <a:txBody>
                    <a:bodyPr/>
                    <a:lstStyle/>
                    <a:p>
                      <a:pPr algn="ctr"/>
                      <a:endParaRPr lang="fr-FR" dirty="0"/>
                    </a:p>
                    <a:p>
                      <a:pPr algn="ctr"/>
                      <a:r>
                        <a:rPr lang="fr-FR" dirty="0"/>
                        <a:t>0</a:t>
                      </a:r>
                    </a:p>
                  </a:txBody>
                  <a:tcPr/>
                </a:tc>
                <a:tc>
                  <a:txBody>
                    <a:bodyPr/>
                    <a:lstStyle/>
                    <a:p>
                      <a:pPr algn="ctr"/>
                      <a:endParaRPr lang="fr-FR" dirty="0"/>
                    </a:p>
                    <a:p>
                      <a:pPr algn="ctr"/>
                      <a:r>
                        <a:rPr lang="fr-FR" dirty="0"/>
                        <a:t>14cm</a:t>
                      </a:r>
                    </a:p>
                  </a:txBody>
                  <a:tcPr/>
                </a:tc>
                <a:tc>
                  <a:txBody>
                    <a:bodyPr/>
                    <a:lstStyle/>
                    <a:p>
                      <a:pPr algn="ctr"/>
                      <a:endParaRPr lang="fr-FR" dirty="0"/>
                    </a:p>
                    <a:p>
                      <a:pPr algn="ctr"/>
                      <a:r>
                        <a:rPr lang="fr-FR" dirty="0"/>
                        <a:t>9cm</a:t>
                      </a:r>
                    </a:p>
                  </a:txBody>
                  <a:tcPr/>
                </a:tc>
                <a:extLst>
                  <a:ext uri="{0D108BD9-81ED-4DB2-BD59-A6C34878D82A}">
                    <a16:rowId xmlns:a16="http://schemas.microsoft.com/office/drawing/2014/main" val="3619630574"/>
                  </a:ext>
                </a:extLst>
              </a:tr>
              <a:tr h="370840">
                <a:tc>
                  <a:txBody>
                    <a:bodyPr/>
                    <a:lstStyle/>
                    <a:p>
                      <a:r>
                        <a:rPr lang="fr-FR" dirty="0"/>
                        <a:t>Baseline</a:t>
                      </a:r>
                    </a:p>
                    <a:p>
                      <a:r>
                        <a:rPr lang="fr-FR" dirty="0"/>
                        <a:t>+ </a:t>
                      </a:r>
                      <a:r>
                        <a:rPr lang="fr-FR" dirty="0" err="1"/>
                        <a:t>dark_frac</a:t>
                      </a:r>
                      <a:endParaRPr lang="fr-FR" dirty="0"/>
                    </a:p>
                  </a:txBody>
                  <a:tcPr/>
                </a:tc>
                <a:tc>
                  <a:txBody>
                    <a:bodyPr/>
                    <a:lstStyle/>
                    <a:p>
                      <a:pPr algn="ctr"/>
                      <a:endParaRPr lang="fr-FR" dirty="0"/>
                    </a:p>
                    <a:p>
                      <a:pPr algn="ctr"/>
                      <a:r>
                        <a:rPr lang="fr-FR" dirty="0"/>
                        <a:t>&lt; 50%</a:t>
                      </a:r>
                    </a:p>
                  </a:txBody>
                  <a:tcPr/>
                </a:tc>
                <a:tc>
                  <a:txBody>
                    <a:bodyPr/>
                    <a:lstStyle/>
                    <a:p>
                      <a:pPr algn="ctr"/>
                      <a:endParaRPr lang="fr-FR" dirty="0"/>
                    </a:p>
                    <a:p>
                      <a:pPr algn="ctr"/>
                      <a:r>
                        <a:rPr lang="fr-FR" dirty="0"/>
                        <a:t>13cm</a:t>
                      </a:r>
                    </a:p>
                  </a:txBody>
                  <a:tcPr/>
                </a:tc>
                <a:tc>
                  <a:txBody>
                    <a:bodyPr/>
                    <a:lstStyle/>
                    <a:p>
                      <a:pPr algn="ctr"/>
                      <a:endParaRPr lang="fr-FR" dirty="0"/>
                    </a:p>
                    <a:p>
                      <a:pPr algn="ctr"/>
                      <a:r>
                        <a:rPr lang="fr-FR" dirty="0"/>
                        <a:t>10cm</a:t>
                      </a:r>
                    </a:p>
                  </a:txBody>
                  <a:tcPr/>
                </a:tc>
                <a:extLst>
                  <a:ext uri="{0D108BD9-81ED-4DB2-BD59-A6C34878D82A}">
                    <a16:rowId xmlns:a16="http://schemas.microsoft.com/office/drawing/2014/main" val="4134036924"/>
                  </a:ext>
                </a:extLst>
              </a:tr>
            </a:tbl>
          </a:graphicData>
        </a:graphic>
      </p:graphicFrame>
      <p:sp>
        <p:nvSpPr>
          <p:cNvPr id="9" name="Rectangle 8"/>
          <p:cNvSpPr/>
          <p:nvPr/>
        </p:nvSpPr>
        <p:spPr>
          <a:xfrm>
            <a:off x="365123" y="1052088"/>
            <a:ext cx="10521413" cy="430887"/>
          </a:xfrm>
          <a:prstGeom prst="rect">
            <a:avLst/>
          </a:prstGeom>
        </p:spPr>
        <p:txBody>
          <a:bodyPr wrap="square">
            <a:spAutoFit/>
          </a:bodyPr>
          <a:lstStyle/>
          <a:p>
            <a:r>
              <a:rPr lang="en-US" sz="2200" dirty="0">
                <a:latin typeface="CNES Sans Light" pitchFamily="2" charset="77"/>
              </a:rPr>
              <a:t>Impact of filtering of quality flags/indicators on WSE error </a:t>
            </a:r>
            <a:endParaRPr lang="en-US" sz="2200" dirty="0"/>
          </a:p>
        </p:txBody>
      </p:sp>
      <p:cxnSp>
        <p:nvCxnSpPr>
          <p:cNvPr id="14" name="Connecteur droit avec flèche 13"/>
          <p:cNvCxnSpPr/>
          <p:nvPr/>
        </p:nvCxnSpPr>
        <p:spPr>
          <a:xfrm>
            <a:off x="538176" y="2573518"/>
            <a:ext cx="3371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Connecteur droit avec flèche 14"/>
          <p:cNvCxnSpPr/>
          <p:nvPr/>
        </p:nvCxnSpPr>
        <p:spPr>
          <a:xfrm>
            <a:off x="531723" y="3898013"/>
            <a:ext cx="3371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Connecteur droit avec flèche 15"/>
          <p:cNvCxnSpPr/>
          <p:nvPr/>
        </p:nvCxnSpPr>
        <p:spPr>
          <a:xfrm>
            <a:off x="531724" y="3244078"/>
            <a:ext cx="3371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Connecteur droit 17"/>
          <p:cNvCxnSpPr/>
          <p:nvPr/>
        </p:nvCxnSpPr>
        <p:spPr>
          <a:xfrm>
            <a:off x="538176" y="2573518"/>
            <a:ext cx="0" cy="1324495"/>
          </a:xfrm>
          <a:prstGeom prst="line">
            <a:avLst/>
          </a:prstGeom>
        </p:spPr>
        <p:style>
          <a:lnRef idx="3">
            <a:schemeClr val="dk1"/>
          </a:lnRef>
          <a:fillRef idx="0">
            <a:schemeClr val="dk1"/>
          </a:fillRef>
          <a:effectRef idx="2">
            <a:schemeClr val="dk1"/>
          </a:effectRef>
          <a:fontRef idx="minor">
            <a:schemeClr val="tx1"/>
          </a:fontRef>
        </p:style>
      </p:cxnSp>
      <p:sp>
        <p:nvSpPr>
          <p:cNvPr id="20" name="ZoneTexte 19"/>
          <p:cNvSpPr txBox="1"/>
          <p:nvPr/>
        </p:nvSpPr>
        <p:spPr>
          <a:xfrm rot="16200000">
            <a:off x="-62655" y="3059412"/>
            <a:ext cx="968535" cy="369332"/>
          </a:xfrm>
          <a:prstGeom prst="rect">
            <a:avLst/>
          </a:prstGeom>
          <a:noFill/>
        </p:spPr>
        <p:txBody>
          <a:bodyPr wrap="none" rtlCol="0">
            <a:spAutoFit/>
          </a:bodyPr>
          <a:lstStyle/>
          <a:p>
            <a:r>
              <a:rPr lang="en-US" dirty="0"/>
              <a:t>Baseline</a:t>
            </a:r>
          </a:p>
        </p:txBody>
      </p:sp>
      <p:sp>
        <p:nvSpPr>
          <p:cNvPr id="21" name="ZoneTexte 20"/>
          <p:cNvSpPr txBox="1"/>
          <p:nvPr/>
        </p:nvSpPr>
        <p:spPr>
          <a:xfrm>
            <a:off x="9490457" y="4660763"/>
            <a:ext cx="2614114" cy="738664"/>
          </a:xfrm>
          <a:prstGeom prst="rect">
            <a:avLst/>
          </a:prstGeom>
          <a:noFill/>
        </p:spPr>
        <p:txBody>
          <a:bodyPr wrap="none" rtlCol="0">
            <a:spAutoFit/>
          </a:bodyPr>
          <a:lstStyle/>
          <a:p>
            <a:r>
              <a:rPr lang="en-US" sz="1400" dirty="0"/>
              <a:t>Not significant: too few </a:t>
            </a:r>
          </a:p>
          <a:p>
            <a:r>
              <a:rPr lang="en-US" sz="1400" dirty="0"/>
              <a:t>matchups with dark water &gt; 50% </a:t>
            </a:r>
          </a:p>
          <a:p>
            <a:r>
              <a:rPr lang="en-US" sz="1400" dirty="0"/>
              <a:t>(less than 100)</a:t>
            </a:r>
          </a:p>
        </p:txBody>
      </p:sp>
      <p:sp>
        <p:nvSpPr>
          <p:cNvPr id="2" name="TextBox 1">
            <a:extLst>
              <a:ext uri="{FF2B5EF4-FFF2-40B4-BE49-F238E27FC236}">
                <a16:creationId xmlns:a16="http://schemas.microsoft.com/office/drawing/2014/main" id="{58DD2ADF-3464-7261-72EF-28F0EC3AA0C7}"/>
              </a:ext>
            </a:extLst>
          </p:cNvPr>
          <p:cNvSpPr txBox="1"/>
          <p:nvPr/>
        </p:nvSpPr>
        <p:spPr>
          <a:xfrm>
            <a:off x="5693924" y="6188760"/>
            <a:ext cx="6400800" cy="646331"/>
          </a:xfrm>
          <a:prstGeom prst="rect">
            <a:avLst/>
          </a:prstGeom>
          <a:noFill/>
        </p:spPr>
        <p:txBody>
          <a:bodyPr wrap="square">
            <a:spAutoFit/>
          </a:bodyPr>
          <a:lstStyle/>
          <a:p>
            <a:pPr algn="ctr"/>
            <a:r>
              <a:rPr lang="en-US" sz="1800" dirty="0">
                <a:latin typeface="CNES Sans Light" pitchFamily="2" charset="77"/>
              </a:rPr>
              <a:t>Claire Pottier, Roger </a:t>
            </a:r>
            <a:r>
              <a:rPr lang="en-US" sz="1800" dirty="0" err="1">
                <a:latin typeface="CNES Sans Light" pitchFamily="2" charset="77"/>
              </a:rPr>
              <a:t>Fjørtoft</a:t>
            </a:r>
            <a:r>
              <a:rPr lang="en-US" sz="1800" dirty="0">
                <a:latin typeface="CNES Sans Light" pitchFamily="2" charset="77"/>
              </a:rPr>
              <a:t>, </a:t>
            </a:r>
            <a:br>
              <a:rPr lang="en-US" sz="1800" dirty="0">
                <a:latin typeface="CNES Sans Light" pitchFamily="2" charset="77"/>
              </a:rPr>
            </a:br>
            <a:r>
              <a:rPr lang="en-US" sz="1800" dirty="0">
                <a:latin typeface="CNES Sans Light" pitchFamily="2" charset="77"/>
              </a:rPr>
              <a:t>on behalf of the HR Cal/Val Team, 2024 SWOT ST meeting</a:t>
            </a:r>
            <a:endParaRPr lang="en-US" sz="1800" dirty="0"/>
          </a:p>
        </p:txBody>
      </p:sp>
    </p:spTree>
    <p:extLst>
      <p:ext uri="{BB962C8B-B14F-4D97-AF65-F5344CB8AC3E}">
        <p14:creationId xmlns:p14="http://schemas.microsoft.com/office/powerpoint/2010/main" val="2454021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6C4A5AD5-107D-1730-020A-2F4DC588422F}"/>
              </a:ext>
            </a:extLst>
          </p:cNvPr>
          <p:cNvSpPr/>
          <p:nvPr/>
        </p:nvSpPr>
        <p:spPr>
          <a:xfrm>
            <a:off x="10058400" y="2484120"/>
            <a:ext cx="1623060" cy="124968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886FF5C4-8A88-9C28-E295-FB9A4FC78CFA}"/>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10" name="Content Placeholder 2">
            <a:extLst>
              <a:ext uri="{FF2B5EF4-FFF2-40B4-BE49-F238E27FC236}">
                <a16:creationId xmlns:a16="http://schemas.microsoft.com/office/drawing/2014/main" id="{D73D90CB-55BC-3735-F016-BB5C57D41CDB}"/>
              </a:ext>
            </a:extLst>
          </p:cNvPr>
          <p:cNvSpPr txBox="1">
            <a:spLocks/>
          </p:cNvSpPr>
          <p:nvPr/>
        </p:nvSpPr>
        <p:spPr>
          <a:xfrm>
            <a:off x="1008913" y="389476"/>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6.7%</a:t>
            </a:r>
          </a:p>
        </p:txBody>
      </p:sp>
      <p:sp>
        <p:nvSpPr>
          <p:cNvPr id="31" name="Rectangle 30">
            <a:extLst>
              <a:ext uri="{FF2B5EF4-FFF2-40B4-BE49-F238E27FC236}">
                <a16:creationId xmlns:a16="http://schemas.microsoft.com/office/drawing/2014/main" id="{001E0B49-03A4-41E0-1AD3-84FC17A0B351}"/>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12E4E9C2-4054-02C4-5179-5D5D7E57013D}"/>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4003BB6C-FA3C-36DF-4013-40F5446D61CD}"/>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9FEFE629-31DC-EB91-1FCC-7D55124BCEEF}"/>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01E71C08-A4BF-605E-9852-AD0ADA0D74E6}"/>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A551962C-15B2-542F-255B-EE6AB0EAC891}"/>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7" name="TextBox 60">
            <a:extLst>
              <a:ext uri="{FF2B5EF4-FFF2-40B4-BE49-F238E27FC236}">
                <a16:creationId xmlns:a16="http://schemas.microsoft.com/office/drawing/2014/main" id="{AD2C9DEB-B89A-124B-8509-DE264395EBCE}"/>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38" name="TextBox 227">
            <a:extLst>
              <a:ext uri="{FF2B5EF4-FFF2-40B4-BE49-F238E27FC236}">
                <a16:creationId xmlns:a16="http://schemas.microsoft.com/office/drawing/2014/main" id="{F3FAD080-3147-0519-AA7B-F5F79A2E497C}"/>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39" name="TextBox 62">
            <a:extLst>
              <a:ext uri="{FF2B5EF4-FFF2-40B4-BE49-F238E27FC236}">
                <a16:creationId xmlns:a16="http://schemas.microsoft.com/office/drawing/2014/main" id="{CB656C5B-CD67-2FD3-9787-B1ADD23FAA8E}"/>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0" name="TextBox 59">
            <a:extLst>
              <a:ext uri="{FF2B5EF4-FFF2-40B4-BE49-F238E27FC236}">
                <a16:creationId xmlns:a16="http://schemas.microsoft.com/office/drawing/2014/main" id="{DA87408D-3ADF-4C56-31C7-01DD3F44903F}"/>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41" name="TextBox 60">
            <a:extLst>
              <a:ext uri="{FF2B5EF4-FFF2-40B4-BE49-F238E27FC236}">
                <a16:creationId xmlns:a16="http://schemas.microsoft.com/office/drawing/2014/main" id="{A652BD0B-BDBC-63BE-C742-9DBDCA914D4E}"/>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42" name="TextBox 227">
            <a:extLst>
              <a:ext uri="{FF2B5EF4-FFF2-40B4-BE49-F238E27FC236}">
                <a16:creationId xmlns:a16="http://schemas.microsoft.com/office/drawing/2014/main" id="{2787295E-1444-9CC4-DF1B-E8A8285A1BEE}"/>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43" name="TextBox 62">
            <a:extLst>
              <a:ext uri="{FF2B5EF4-FFF2-40B4-BE49-F238E27FC236}">
                <a16:creationId xmlns:a16="http://schemas.microsoft.com/office/drawing/2014/main" id="{CE1A308E-C2AF-5CA2-4B06-53101BEC8827}"/>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4" name="TextBox 59">
            <a:extLst>
              <a:ext uri="{FF2B5EF4-FFF2-40B4-BE49-F238E27FC236}">
                <a16:creationId xmlns:a16="http://schemas.microsoft.com/office/drawing/2014/main" id="{EFCC31AE-9881-AC68-F3EE-07BEC1190A84}"/>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30" name="Picture 29" descr="A graph with green lines and red dots&#10;&#10;AI-generated content may be incorrect.">
            <a:extLst>
              <a:ext uri="{FF2B5EF4-FFF2-40B4-BE49-F238E27FC236}">
                <a16:creationId xmlns:a16="http://schemas.microsoft.com/office/drawing/2014/main" id="{1B2B8E2A-C8D2-74B6-A100-453BE14E21FB}"/>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5"/>
            <a:ext cx="11386135" cy="6058211"/>
          </a:xfrm>
          <a:prstGeom prst="rect">
            <a:avLst/>
          </a:prstGeom>
        </p:spPr>
      </p:pic>
    </p:spTree>
    <p:extLst>
      <p:ext uri="{BB962C8B-B14F-4D97-AF65-F5344CB8AC3E}">
        <p14:creationId xmlns:p14="http://schemas.microsoft.com/office/powerpoint/2010/main" val="1826412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5848897A-4A8A-2B84-3CA8-F16468DD0202}"/>
              </a:ext>
            </a:extLst>
          </p:cNvPr>
          <p:cNvSpPr/>
          <p:nvPr/>
        </p:nvSpPr>
        <p:spPr>
          <a:xfrm>
            <a:off x="10058400" y="248412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917FA3C-2154-C3F4-DF9C-B51A18093A03}"/>
              </a:ext>
            </a:extLst>
          </p:cNvPr>
          <p:cNvSpPr/>
          <p:nvPr/>
        </p:nvSpPr>
        <p:spPr>
          <a:xfrm>
            <a:off x="10058400" y="3017657"/>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C190AE0-C8B8-9953-57ED-04A0D2173E58}"/>
              </a:ext>
            </a:extLst>
          </p:cNvPr>
          <p:cNvSpPr/>
          <p:nvPr/>
        </p:nvSpPr>
        <p:spPr>
          <a:xfrm>
            <a:off x="10058400" y="339553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ontent Placeholder 2">
            <a:extLst>
              <a:ext uri="{FF2B5EF4-FFF2-40B4-BE49-F238E27FC236}">
                <a16:creationId xmlns:a16="http://schemas.microsoft.com/office/drawing/2014/main" id="{71CC426A-E7B7-AE60-2598-E13E3FE4E2C5}"/>
              </a:ext>
            </a:extLst>
          </p:cNvPr>
          <p:cNvSpPr txBox="1">
            <a:spLocks/>
          </p:cNvSpPr>
          <p:nvPr/>
        </p:nvSpPr>
        <p:spPr>
          <a:xfrm>
            <a:off x="1012112" y="389475"/>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29.0%</a:t>
            </a:r>
          </a:p>
        </p:txBody>
      </p:sp>
      <p:sp>
        <p:nvSpPr>
          <p:cNvPr id="34" name="Title 1">
            <a:extLst>
              <a:ext uri="{FF2B5EF4-FFF2-40B4-BE49-F238E27FC236}">
                <a16:creationId xmlns:a16="http://schemas.microsoft.com/office/drawing/2014/main" id="{EC04269B-1E4F-89D2-9E60-78065DBE342F}"/>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Three Gorges Reservoir</a:t>
            </a:r>
          </a:p>
        </p:txBody>
      </p:sp>
      <p:sp>
        <p:nvSpPr>
          <p:cNvPr id="35" name="Rectangle 34">
            <a:extLst>
              <a:ext uri="{FF2B5EF4-FFF2-40B4-BE49-F238E27FC236}">
                <a16:creationId xmlns:a16="http://schemas.microsoft.com/office/drawing/2014/main" id="{001E0B49-03A4-41E0-1AD3-84FC17A0B351}"/>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12E4E9C2-4054-02C4-5179-5D5D7E57013D}"/>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4003BB6C-FA3C-36DF-4013-40F5446D61CD}"/>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9FEFE629-31DC-EB91-1FCC-7D55124BCEEF}"/>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01E71C08-A4BF-605E-9852-AD0ADA0D74E6}"/>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A551962C-15B2-542F-255B-EE6AB0EAC891}"/>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41" name="TextBox 60">
            <a:extLst>
              <a:ext uri="{FF2B5EF4-FFF2-40B4-BE49-F238E27FC236}">
                <a16:creationId xmlns:a16="http://schemas.microsoft.com/office/drawing/2014/main" id="{AD2C9DEB-B89A-124B-8509-DE264395EBCE}"/>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42" name="TextBox 227">
            <a:extLst>
              <a:ext uri="{FF2B5EF4-FFF2-40B4-BE49-F238E27FC236}">
                <a16:creationId xmlns:a16="http://schemas.microsoft.com/office/drawing/2014/main" id="{F3FAD080-3147-0519-AA7B-F5F79A2E497C}"/>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43" name="TextBox 62">
            <a:extLst>
              <a:ext uri="{FF2B5EF4-FFF2-40B4-BE49-F238E27FC236}">
                <a16:creationId xmlns:a16="http://schemas.microsoft.com/office/drawing/2014/main" id="{CB656C5B-CD67-2FD3-9787-B1ADD23FAA8E}"/>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4" name="TextBox 59">
            <a:extLst>
              <a:ext uri="{FF2B5EF4-FFF2-40B4-BE49-F238E27FC236}">
                <a16:creationId xmlns:a16="http://schemas.microsoft.com/office/drawing/2014/main" id="{DA87408D-3ADF-4C56-31C7-01DD3F44903F}"/>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46" name="TextBox 60">
            <a:extLst>
              <a:ext uri="{FF2B5EF4-FFF2-40B4-BE49-F238E27FC236}">
                <a16:creationId xmlns:a16="http://schemas.microsoft.com/office/drawing/2014/main" id="{A652BD0B-BDBC-63BE-C742-9DBDCA914D4E}"/>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47" name="TextBox 227">
            <a:extLst>
              <a:ext uri="{FF2B5EF4-FFF2-40B4-BE49-F238E27FC236}">
                <a16:creationId xmlns:a16="http://schemas.microsoft.com/office/drawing/2014/main" id="{2787295E-1444-9CC4-DF1B-E8A8285A1BEE}"/>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48" name="TextBox 62">
            <a:extLst>
              <a:ext uri="{FF2B5EF4-FFF2-40B4-BE49-F238E27FC236}">
                <a16:creationId xmlns:a16="http://schemas.microsoft.com/office/drawing/2014/main" id="{CE1A308E-C2AF-5CA2-4B06-53101BEC8827}"/>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9" name="TextBox 59">
            <a:extLst>
              <a:ext uri="{FF2B5EF4-FFF2-40B4-BE49-F238E27FC236}">
                <a16:creationId xmlns:a16="http://schemas.microsoft.com/office/drawing/2014/main" id="{EFCC31AE-9881-AC68-F3EE-07BEC1190A84}"/>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31" name="Picture 30" descr="A graph with different colored lines&#10;&#10;AI-generated content may be incorrect.">
            <a:extLst>
              <a:ext uri="{FF2B5EF4-FFF2-40B4-BE49-F238E27FC236}">
                <a16:creationId xmlns:a16="http://schemas.microsoft.com/office/drawing/2014/main" id="{925E9D86-CC6C-5C22-8392-0AD7D58A2F6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3" y="438935"/>
            <a:ext cx="11386134" cy="6058211"/>
          </a:xfrm>
          <a:prstGeom prst="rect">
            <a:avLst/>
          </a:prstGeom>
        </p:spPr>
      </p:pic>
    </p:spTree>
    <p:extLst>
      <p:ext uri="{BB962C8B-B14F-4D97-AF65-F5344CB8AC3E}">
        <p14:creationId xmlns:p14="http://schemas.microsoft.com/office/powerpoint/2010/main" val="86990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8522CD4-E965-9249-AE72-302B59E5826D}"/>
              </a:ext>
            </a:extLst>
          </p:cNvPr>
          <p:cNvSpPr txBox="1">
            <a:spLocks/>
          </p:cNvSpPr>
          <p:nvPr/>
        </p:nvSpPr>
        <p:spPr>
          <a:xfrm>
            <a:off x="1011895" y="567753"/>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33.9%</a:t>
            </a:r>
          </a:p>
        </p:txBody>
      </p:sp>
      <p:sp>
        <p:nvSpPr>
          <p:cNvPr id="12" name="Title 1">
            <a:extLst>
              <a:ext uri="{FF2B5EF4-FFF2-40B4-BE49-F238E27FC236}">
                <a16:creationId xmlns:a16="http://schemas.microsoft.com/office/drawing/2014/main" id="{A1D54C25-8251-3553-D341-DDF61A53CFE2}"/>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3" name="Rectangle 12">
            <a:extLst>
              <a:ext uri="{FF2B5EF4-FFF2-40B4-BE49-F238E27FC236}">
                <a16:creationId xmlns:a16="http://schemas.microsoft.com/office/drawing/2014/main" id="{EDCBE064-473C-1D11-F75A-9D91DE1FB2B9}"/>
              </a:ext>
            </a:extLst>
          </p:cNvPr>
          <p:cNvSpPr/>
          <p:nvPr/>
        </p:nvSpPr>
        <p:spPr>
          <a:xfrm>
            <a:off x="10050780" y="2667000"/>
            <a:ext cx="1623060" cy="124968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aph with numbers and lines&#10;&#10;AI-generated content may be incorrect.">
            <a:extLst>
              <a:ext uri="{FF2B5EF4-FFF2-40B4-BE49-F238E27FC236}">
                <a16:creationId xmlns:a16="http://schemas.microsoft.com/office/drawing/2014/main" id="{8F0F4FD7-5BDF-4C97-048A-B4B05359263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621815"/>
            <a:ext cx="11386135" cy="6058211"/>
          </a:xfrm>
          <a:prstGeom prst="rect">
            <a:avLst/>
          </a:prstGeom>
        </p:spPr>
      </p:pic>
    </p:spTree>
    <p:extLst>
      <p:ext uri="{BB962C8B-B14F-4D97-AF65-F5344CB8AC3E}">
        <p14:creationId xmlns:p14="http://schemas.microsoft.com/office/powerpoint/2010/main" val="3221646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264415-48C2-DDDE-1BC8-D5EF7A80FBCC}"/>
              </a:ext>
            </a:extLst>
          </p:cNvPr>
          <p:cNvSpPr txBox="1">
            <a:spLocks/>
          </p:cNvSpPr>
          <p:nvPr/>
        </p:nvSpPr>
        <p:spPr>
          <a:xfrm>
            <a:off x="1011895" y="567752"/>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46.1%</a:t>
            </a:r>
          </a:p>
        </p:txBody>
      </p:sp>
      <p:sp>
        <p:nvSpPr>
          <p:cNvPr id="18" name="Title 1">
            <a:extLst>
              <a:ext uri="{FF2B5EF4-FFF2-40B4-BE49-F238E27FC236}">
                <a16:creationId xmlns:a16="http://schemas.microsoft.com/office/drawing/2014/main" id="{65E29DC1-4F29-4E5E-858B-0F1B6EC7F406}"/>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9" name="Rectangle 18">
            <a:extLst>
              <a:ext uri="{FF2B5EF4-FFF2-40B4-BE49-F238E27FC236}">
                <a16:creationId xmlns:a16="http://schemas.microsoft.com/office/drawing/2014/main" id="{F64AD9A2-4AEB-4B69-02AC-2444AA2E95BD}"/>
              </a:ext>
            </a:extLst>
          </p:cNvPr>
          <p:cNvSpPr/>
          <p:nvPr/>
        </p:nvSpPr>
        <p:spPr>
          <a:xfrm>
            <a:off x="10035540" y="265938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951D016-5B4C-5E58-6DD3-9BA0E8D0027F}"/>
              </a:ext>
            </a:extLst>
          </p:cNvPr>
          <p:cNvSpPr/>
          <p:nvPr/>
        </p:nvSpPr>
        <p:spPr>
          <a:xfrm>
            <a:off x="10035540" y="3192917"/>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9572C7E-2755-208D-3144-2F7F7C77C50F}"/>
              </a:ext>
            </a:extLst>
          </p:cNvPr>
          <p:cNvSpPr/>
          <p:nvPr/>
        </p:nvSpPr>
        <p:spPr>
          <a:xfrm>
            <a:off x="10035540" y="357079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aph with numbers and lines&#10;&#10;AI-generated content may be incorrect.">
            <a:extLst>
              <a:ext uri="{FF2B5EF4-FFF2-40B4-BE49-F238E27FC236}">
                <a16:creationId xmlns:a16="http://schemas.microsoft.com/office/drawing/2014/main" id="{0810F579-4376-12FB-6A01-6ACDC1B357D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621814"/>
            <a:ext cx="11386135" cy="6058211"/>
          </a:xfrm>
          <a:prstGeom prst="rect">
            <a:avLst/>
          </a:prstGeom>
        </p:spPr>
      </p:pic>
    </p:spTree>
    <p:extLst>
      <p:ext uri="{BB962C8B-B14F-4D97-AF65-F5344CB8AC3E}">
        <p14:creationId xmlns:p14="http://schemas.microsoft.com/office/powerpoint/2010/main" val="622000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9423AA5-F384-7617-9865-F3D61E37BA16}"/>
              </a:ext>
            </a:extLst>
          </p:cNvPr>
          <p:cNvSpPr txBox="1">
            <a:spLocks/>
          </p:cNvSpPr>
          <p:nvPr/>
        </p:nvSpPr>
        <p:spPr>
          <a:xfrm>
            <a:off x="1011895" y="567751"/>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65.2%</a:t>
            </a:r>
          </a:p>
        </p:txBody>
      </p:sp>
      <p:sp>
        <p:nvSpPr>
          <p:cNvPr id="19" name="Title 1">
            <a:extLst>
              <a:ext uri="{FF2B5EF4-FFF2-40B4-BE49-F238E27FC236}">
                <a16:creationId xmlns:a16="http://schemas.microsoft.com/office/drawing/2014/main" id="{9A72EC0C-B209-9006-3893-CB1D0FB7E9D8}"/>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20" name="Rectangle 19">
            <a:extLst>
              <a:ext uri="{FF2B5EF4-FFF2-40B4-BE49-F238E27FC236}">
                <a16:creationId xmlns:a16="http://schemas.microsoft.com/office/drawing/2014/main" id="{D870640C-9F4A-19EA-FB14-5537724661CC}"/>
              </a:ext>
            </a:extLst>
          </p:cNvPr>
          <p:cNvSpPr/>
          <p:nvPr/>
        </p:nvSpPr>
        <p:spPr>
          <a:xfrm>
            <a:off x="10088880" y="2651760"/>
            <a:ext cx="1623060" cy="37338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E4B0511-AA22-C14D-0710-FF7D47C2894C}"/>
              </a:ext>
            </a:extLst>
          </p:cNvPr>
          <p:cNvSpPr/>
          <p:nvPr/>
        </p:nvSpPr>
        <p:spPr>
          <a:xfrm>
            <a:off x="10088880" y="3198700"/>
            <a:ext cx="1623060" cy="37337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graph with numbers and lines&#10;&#10;AI-generated content may be incorrect.">
            <a:extLst>
              <a:ext uri="{FF2B5EF4-FFF2-40B4-BE49-F238E27FC236}">
                <a16:creationId xmlns:a16="http://schemas.microsoft.com/office/drawing/2014/main" id="{2B347349-BBF6-9F23-C869-A169BE6EB42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621813"/>
            <a:ext cx="11386135" cy="6058211"/>
          </a:xfrm>
          <a:prstGeom prst="rect">
            <a:avLst/>
          </a:prstGeom>
        </p:spPr>
      </p:pic>
    </p:spTree>
    <p:extLst>
      <p:ext uri="{BB962C8B-B14F-4D97-AF65-F5344CB8AC3E}">
        <p14:creationId xmlns:p14="http://schemas.microsoft.com/office/powerpoint/2010/main" val="241176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A42DDFC-9938-8B0C-97E1-F1D339D0D0D2}"/>
              </a:ext>
            </a:extLst>
          </p:cNvPr>
          <p:cNvSpPr txBox="1">
            <a:spLocks/>
          </p:cNvSpPr>
          <p:nvPr/>
        </p:nvSpPr>
        <p:spPr>
          <a:xfrm>
            <a:off x="1011895" y="567751"/>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68.7%</a:t>
            </a:r>
          </a:p>
        </p:txBody>
      </p:sp>
      <p:sp>
        <p:nvSpPr>
          <p:cNvPr id="8" name="Title 1">
            <a:extLst>
              <a:ext uri="{FF2B5EF4-FFF2-40B4-BE49-F238E27FC236}">
                <a16:creationId xmlns:a16="http://schemas.microsoft.com/office/drawing/2014/main" id="{7E4FEB89-E029-85DF-3AE5-3565A7963F56}"/>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9" name="Rectangle 8">
            <a:extLst>
              <a:ext uri="{FF2B5EF4-FFF2-40B4-BE49-F238E27FC236}">
                <a16:creationId xmlns:a16="http://schemas.microsoft.com/office/drawing/2014/main" id="{248FAD9B-8E3F-48BE-A6D0-5931639AC2E3}"/>
              </a:ext>
            </a:extLst>
          </p:cNvPr>
          <p:cNvSpPr/>
          <p:nvPr/>
        </p:nvSpPr>
        <p:spPr>
          <a:xfrm>
            <a:off x="10058400" y="2670164"/>
            <a:ext cx="1623060" cy="53500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3C43944-E2A0-50B2-BCD0-9E5DD0DACB75}"/>
              </a:ext>
            </a:extLst>
          </p:cNvPr>
          <p:cNvSpPr/>
          <p:nvPr/>
        </p:nvSpPr>
        <p:spPr>
          <a:xfrm>
            <a:off x="10058400" y="3205167"/>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graph with numbers and lines&#10;&#10;AI-generated content may be incorrect.">
            <a:extLst>
              <a:ext uri="{FF2B5EF4-FFF2-40B4-BE49-F238E27FC236}">
                <a16:creationId xmlns:a16="http://schemas.microsoft.com/office/drawing/2014/main" id="{DC71770C-DB99-29A0-7169-E0A4AA36C3B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1" y="621812"/>
            <a:ext cx="11386135" cy="6058211"/>
          </a:xfrm>
          <a:prstGeom prst="rect">
            <a:avLst/>
          </a:prstGeom>
        </p:spPr>
      </p:pic>
    </p:spTree>
    <p:extLst>
      <p:ext uri="{BB962C8B-B14F-4D97-AF65-F5344CB8AC3E}">
        <p14:creationId xmlns:p14="http://schemas.microsoft.com/office/powerpoint/2010/main" val="2439532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graph with numbers and lines&#10;&#10;AI-generated content may be incorrect.">
            <a:extLst>
              <a:ext uri="{FF2B5EF4-FFF2-40B4-BE49-F238E27FC236}">
                <a16:creationId xmlns:a16="http://schemas.microsoft.com/office/drawing/2014/main" id="{DD8CEA45-A049-5286-D6D5-8A6B30F5A9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31" y="621812"/>
            <a:ext cx="11386135" cy="6058211"/>
          </a:xfrm>
          <a:prstGeom prst="rect">
            <a:avLst/>
          </a:prstGeom>
        </p:spPr>
      </p:pic>
      <p:sp>
        <p:nvSpPr>
          <p:cNvPr id="19" name="Title 1">
            <a:extLst>
              <a:ext uri="{FF2B5EF4-FFF2-40B4-BE49-F238E27FC236}">
                <a16:creationId xmlns:a16="http://schemas.microsoft.com/office/drawing/2014/main" id="{C5F20EA5-1B6E-4587-2B10-96ED59FB4485}"/>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20" name="TextBox 19">
            <a:extLst>
              <a:ext uri="{FF2B5EF4-FFF2-40B4-BE49-F238E27FC236}">
                <a16:creationId xmlns:a16="http://schemas.microsoft.com/office/drawing/2014/main" id="{A380F483-E3B8-E757-F43A-6DA66BC18CF5}"/>
              </a:ext>
            </a:extLst>
          </p:cNvPr>
          <p:cNvSpPr txBox="1"/>
          <p:nvPr/>
        </p:nvSpPr>
        <p:spPr>
          <a:xfrm>
            <a:off x="2103120" y="4953685"/>
            <a:ext cx="5029200"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Strategy: let data with good quality flags inform maximum </a:t>
            </a:r>
            <a:r>
              <a:rPr lang="en-US" i="1" dirty="0" err="1">
                <a:latin typeface="Arial" panose="020B0604020202020204" pitchFamily="34" charset="0"/>
                <a:cs typeface="Arial" panose="020B0604020202020204" pitchFamily="34" charset="0"/>
              </a:rPr>
              <a:t>wse_std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thresholds</a:t>
            </a:r>
          </a:p>
        </p:txBody>
      </p:sp>
    </p:spTree>
    <p:extLst>
      <p:ext uri="{BB962C8B-B14F-4D97-AF65-F5344CB8AC3E}">
        <p14:creationId xmlns:p14="http://schemas.microsoft.com/office/powerpoint/2010/main" val="16559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graph with numbers and lines&#10;&#10;AI-generated content may be incorrect.">
            <a:extLst>
              <a:ext uri="{FF2B5EF4-FFF2-40B4-BE49-F238E27FC236}">
                <a16:creationId xmlns:a16="http://schemas.microsoft.com/office/drawing/2014/main" id="{D4BD536C-955D-AC3F-B893-AC9237E07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31" y="621811"/>
            <a:ext cx="11386135" cy="6058211"/>
          </a:xfrm>
          <a:prstGeom prst="rect">
            <a:avLst/>
          </a:prstGeom>
        </p:spPr>
      </p:pic>
      <p:sp>
        <p:nvSpPr>
          <p:cNvPr id="6" name="Title 1">
            <a:extLst>
              <a:ext uri="{FF2B5EF4-FFF2-40B4-BE49-F238E27FC236}">
                <a16:creationId xmlns:a16="http://schemas.microsoft.com/office/drawing/2014/main" id="{7A6F126D-BF0B-6C9F-0BB9-1DB960E1BB69}"/>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3" name="TextBox 12">
            <a:extLst>
              <a:ext uri="{FF2B5EF4-FFF2-40B4-BE49-F238E27FC236}">
                <a16:creationId xmlns:a16="http://schemas.microsoft.com/office/drawing/2014/main" id="{868FB38E-AA3E-4CC2-2074-E667F58E8442}"/>
              </a:ext>
            </a:extLst>
          </p:cNvPr>
          <p:cNvSpPr txBox="1"/>
          <p:nvPr/>
        </p:nvSpPr>
        <p:spPr>
          <a:xfrm>
            <a:off x="2103120" y="4953685"/>
            <a:ext cx="3482340"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Selected data using </a:t>
            </a:r>
            <a:r>
              <a:rPr lang="en-US" i="1" dirty="0" err="1">
                <a:latin typeface="Arial" panose="020B0604020202020204" pitchFamily="34" charset="0"/>
                <a:cs typeface="Arial" panose="020B0604020202020204" pitchFamily="34" charset="0"/>
              </a:rPr>
              <a:t>wse_std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thresholds</a:t>
            </a:r>
          </a:p>
        </p:txBody>
      </p:sp>
      <p:sp>
        <p:nvSpPr>
          <p:cNvPr id="16" name="Rectangle 15">
            <a:extLst>
              <a:ext uri="{FF2B5EF4-FFF2-40B4-BE49-F238E27FC236}">
                <a16:creationId xmlns:a16="http://schemas.microsoft.com/office/drawing/2014/main" id="{29E18D51-F91C-EFB1-1FA6-D8FEBF025EA9}"/>
              </a:ext>
            </a:extLst>
          </p:cNvPr>
          <p:cNvSpPr/>
          <p:nvPr/>
        </p:nvSpPr>
        <p:spPr>
          <a:xfrm>
            <a:off x="4004310" y="629431"/>
            <a:ext cx="2830830" cy="22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84E176F-565F-6D22-EC04-FB8E8A4A5630}"/>
              </a:ext>
            </a:extLst>
          </p:cNvPr>
          <p:cNvPicPr>
            <a:picLocks noChangeAspect="1"/>
          </p:cNvPicPr>
          <p:nvPr/>
        </p:nvPicPr>
        <p:blipFill>
          <a:blip r:embed="rId4"/>
          <a:stretch>
            <a:fillRect/>
          </a:stretch>
        </p:blipFill>
        <p:spPr>
          <a:xfrm>
            <a:off x="4097062" y="652291"/>
            <a:ext cx="2660565" cy="205832"/>
          </a:xfrm>
          <a:prstGeom prst="rect">
            <a:avLst/>
          </a:prstGeom>
        </p:spPr>
      </p:pic>
    </p:spTree>
    <p:extLst>
      <p:ext uri="{BB962C8B-B14F-4D97-AF65-F5344CB8AC3E}">
        <p14:creationId xmlns:p14="http://schemas.microsoft.com/office/powerpoint/2010/main" val="341248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with numbers and lines&#10;&#10;AI-generated content may be incorrect.">
            <a:extLst>
              <a:ext uri="{FF2B5EF4-FFF2-40B4-BE49-F238E27FC236}">
                <a16:creationId xmlns:a16="http://schemas.microsoft.com/office/drawing/2014/main" id="{4C1275F0-0975-F79E-F110-BE2D8A8B2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31" y="621810"/>
            <a:ext cx="11386135" cy="6058211"/>
          </a:xfrm>
          <a:prstGeom prst="rect">
            <a:avLst/>
          </a:prstGeom>
        </p:spPr>
      </p:pic>
      <p:sp>
        <p:nvSpPr>
          <p:cNvPr id="11" name="Content Placeholder 2">
            <a:extLst>
              <a:ext uri="{FF2B5EF4-FFF2-40B4-BE49-F238E27FC236}">
                <a16:creationId xmlns:a16="http://schemas.microsoft.com/office/drawing/2014/main" id="{220EF8B7-2899-31B6-779B-EE93F72B4DA3}"/>
              </a:ext>
            </a:extLst>
          </p:cNvPr>
          <p:cNvSpPr txBox="1">
            <a:spLocks/>
          </p:cNvSpPr>
          <p:nvPr/>
        </p:nvSpPr>
        <p:spPr>
          <a:xfrm>
            <a:off x="1011895" y="567750"/>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79.1%</a:t>
            </a:r>
          </a:p>
        </p:txBody>
      </p:sp>
      <p:sp>
        <p:nvSpPr>
          <p:cNvPr id="12" name="Title 1">
            <a:extLst>
              <a:ext uri="{FF2B5EF4-FFF2-40B4-BE49-F238E27FC236}">
                <a16:creationId xmlns:a16="http://schemas.microsoft.com/office/drawing/2014/main" id="{EDE6A3D4-FFD5-AFCD-BD66-7E04257D4ED3}"/>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4" name="TextBox 13">
            <a:extLst>
              <a:ext uri="{FF2B5EF4-FFF2-40B4-BE49-F238E27FC236}">
                <a16:creationId xmlns:a16="http://schemas.microsoft.com/office/drawing/2014/main" id="{042A9053-460C-933E-D18D-5C54F88F0879}"/>
              </a:ext>
            </a:extLst>
          </p:cNvPr>
          <p:cNvSpPr txBox="1"/>
          <p:nvPr/>
        </p:nvSpPr>
        <p:spPr>
          <a:xfrm>
            <a:off x="2103120" y="4953685"/>
            <a:ext cx="2613660"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Further cleaned up using a low-pass filter</a:t>
            </a:r>
          </a:p>
        </p:txBody>
      </p:sp>
      <p:sp>
        <p:nvSpPr>
          <p:cNvPr id="15" name="Rectangle 14">
            <a:extLst>
              <a:ext uri="{FF2B5EF4-FFF2-40B4-BE49-F238E27FC236}">
                <a16:creationId xmlns:a16="http://schemas.microsoft.com/office/drawing/2014/main" id="{EDC47A8D-4FD3-B8A7-B824-A181A815DAF2}"/>
              </a:ext>
            </a:extLst>
          </p:cNvPr>
          <p:cNvSpPr/>
          <p:nvPr/>
        </p:nvSpPr>
        <p:spPr>
          <a:xfrm>
            <a:off x="3750200" y="629431"/>
            <a:ext cx="3389740" cy="22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A2798171-C52B-FEFF-5283-A90CB53B5741}"/>
              </a:ext>
            </a:extLst>
          </p:cNvPr>
          <p:cNvPicPr>
            <a:picLocks noChangeAspect="1"/>
          </p:cNvPicPr>
          <p:nvPr/>
        </p:nvPicPr>
        <p:blipFill>
          <a:blip r:embed="rId4"/>
          <a:stretch>
            <a:fillRect/>
          </a:stretch>
        </p:blipFill>
        <p:spPr>
          <a:xfrm>
            <a:off x="4097062" y="652291"/>
            <a:ext cx="2660565" cy="205832"/>
          </a:xfrm>
          <a:prstGeom prst="rect">
            <a:avLst/>
          </a:prstGeom>
        </p:spPr>
      </p:pic>
    </p:spTree>
    <p:extLst>
      <p:ext uri="{BB962C8B-B14F-4D97-AF65-F5344CB8AC3E}">
        <p14:creationId xmlns:p14="http://schemas.microsoft.com/office/powerpoint/2010/main" val="256670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A67828D-08A4-DFCD-59F2-A6E96FECF72E}"/>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10" name="Rectangle 9">
            <a:extLst>
              <a:ext uri="{FF2B5EF4-FFF2-40B4-BE49-F238E27FC236}">
                <a16:creationId xmlns:a16="http://schemas.microsoft.com/office/drawing/2014/main" id="{0BD07F55-3ABE-50A7-B0F2-2335EEDB509B}"/>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9DC3742-7B0C-16DD-2747-537EA805068D}"/>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9240701-516F-3270-BD0F-B0D3AC6AB2F7}"/>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AF78E79-9F84-9E02-B959-3D7F675453BD}"/>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0B18B94-2202-07B4-7050-475664C9BBB6}"/>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2E6106B4-D1F5-6947-93D6-D1207C65F455}"/>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6" name="TextBox 60">
            <a:extLst>
              <a:ext uri="{FF2B5EF4-FFF2-40B4-BE49-F238E27FC236}">
                <a16:creationId xmlns:a16="http://schemas.microsoft.com/office/drawing/2014/main" id="{28EB44A9-3FF3-C6E8-9EE3-3238FEA909BB}"/>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17" name="TextBox 227">
            <a:extLst>
              <a:ext uri="{FF2B5EF4-FFF2-40B4-BE49-F238E27FC236}">
                <a16:creationId xmlns:a16="http://schemas.microsoft.com/office/drawing/2014/main" id="{C4F4D327-325C-08B9-B4F7-A3FD2A9FE2F5}"/>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18" name="TextBox 62">
            <a:extLst>
              <a:ext uri="{FF2B5EF4-FFF2-40B4-BE49-F238E27FC236}">
                <a16:creationId xmlns:a16="http://schemas.microsoft.com/office/drawing/2014/main" id="{11B05CAB-4123-B32D-7AD2-7EBE6F9561E1}"/>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19" name="TextBox 59">
            <a:extLst>
              <a:ext uri="{FF2B5EF4-FFF2-40B4-BE49-F238E27FC236}">
                <a16:creationId xmlns:a16="http://schemas.microsoft.com/office/drawing/2014/main" id="{CE633179-3AF2-F7C9-E85A-4D6886C50C16}"/>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20" name="TextBox 60">
            <a:extLst>
              <a:ext uri="{FF2B5EF4-FFF2-40B4-BE49-F238E27FC236}">
                <a16:creationId xmlns:a16="http://schemas.microsoft.com/office/drawing/2014/main" id="{ABFAE15A-522B-2929-23E5-814BAE2A0AB6}"/>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21" name="TextBox 227">
            <a:extLst>
              <a:ext uri="{FF2B5EF4-FFF2-40B4-BE49-F238E27FC236}">
                <a16:creationId xmlns:a16="http://schemas.microsoft.com/office/drawing/2014/main" id="{D09B5B5A-60BE-1943-CAAB-67E04CC34D09}"/>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2" name="TextBox 62">
            <a:extLst>
              <a:ext uri="{FF2B5EF4-FFF2-40B4-BE49-F238E27FC236}">
                <a16:creationId xmlns:a16="http://schemas.microsoft.com/office/drawing/2014/main" id="{E6A5EDB5-551D-2F50-9D1B-225E8F6C00D1}"/>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3" name="TextBox 59">
            <a:extLst>
              <a:ext uri="{FF2B5EF4-FFF2-40B4-BE49-F238E27FC236}">
                <a16:creationId xmlns:a16="http://schemas.microsoft.com/office/drawing/2014/main" id="{CA234E1B-7E95-C951-E4D4-211A7C6184A4}"/>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8" name="Picture 7" descr="A graph with numbers and lines&#10;&#10;AI-generated content may be incorrect.">
            <a:extLst>
              <a:ext uri="{FF2B5EF4-FFF2-40B4-BE49-F238E27FC236}">
                <a16:creationId xmlns:a16="http://schemas.microsoft.com/office/drawing/2014/main" id="{82557CBC-1F25-212D-0A7B-797943DA74A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5"/>
            <a:ext cx="11386135" cy="6058211"/>
          </a:xfrm>
          <a:prstGeom prst="rect">
            <a:avLst/>
          </a:prstGeom>
        </p:spPr>
      </p:pic>
      <p:sp>
        <p:nvSpPr>
          <p:cNvPr id="26" name="Rectangle 25">
            <a:extLst>
              <a:ext uri="{FF2B5EF4-FFF2-40B4-BE49-F238E27FC236}">
                <a16:creationId xmlns:a16="http://schemas.microsoft.com/office/drawing/2014/main" id="{CF430DCB-477F-9D95-C03C-DBC393247949}"/>
              </a:ext>
            </a:extLst>
          </p:cNvPr>
          <p:cNvSpPr/>
          <p:nvPr/>
        </p:nvSpPr>
        <p:spPr>
          <a:xfrm>
            <a:off x="3750200" y="426032"/>
            <a:ext cx="3336513" cy="26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82BD7D14-3799-81B6-D675-0B6C7CC98A07}"/>
              </a:ext>
            </a:extLst>
          </p:cNvPr>
          <p:cNvPicPr>
            <a:picLocks noChangeAspect="1"/>
          </p:cNvPicPr>
          <p:nvPr/>
        </p:nvPicPr>
        <p:blipFill>
          <a:blip r:embed="rId3"/>
          <a:stretch>
            <a:fillRect/>
          </a:stretch>
        </p:blipFill>
        <p:spPr>
          <a:xfrm>
            <a:off x="3929674" y="433183"/>
            <a:ext cx="2737804" cy="245406"/>
          </a:xfrm>
          <a:prstGeom prst="rect">
            <a:avLst/>
          </a:prstGeom>
        </p:spPr>
      </p:pic>
      <p:sp>
        <p:nvSpPr>
          <p:cNvPr id="28" name="TextBox 27">
            <a:extLst>
              <a:ext uri="{FF2B5EF4-FFF2-40B4-BE49-F238E27FC236}">
                <a16:creationId xmlns:a16="http://schemas.microsoft.com/office/drawing/2014/main" id="{13CAD226-DF67-EA51-986E-71DA1CDC5CD7}"/>
              </a:ext>
            </a:extLst>
          </p:cNvPr>
          <p:cNvSpPr txBox="1"/>
          <p:nvPr/>
        </p:nvSpPr>
        <p:spPr>
          <a:xfrm>
            <a:off x="4605532" y="841365"/>
            <a:ext cx="3206521"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Selected data using </a:t>
            </a:r>
            <a:r>
              <a:rPr lang="en-US" i="1" dirty="0" err="1">
                <a:latin typeface="Arial" panose="020B0604020202020204" pitchFamily="34" charset="0"/>
                <a:cs typeface="Arial" panose="020B0604020202020204" pitchFamily="34" charset="0"/>
              </a:rPr>
              <a:t>wse_std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thresholds</a:t>
            </a:r>
          </a:p>
        </p:txBody>
      </p:sp>
    </p:spTree>
    <p:extLst>
      <p:ext uri="{BB962C8B-B14F-4D97-AF65-F5344CB8AC3E}">
        <p14:creationId xmlns:p14="http://schemas.microsoft.com/office/powerpoint/2010/main" val="276128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1AC105BF-2435-56DC-E9F6-70E65B91B3A9}"/>
              </a:ext>
            </a:extLst>
          </p:cNvPr>
          <p:cNvSpPr txBox="1">
            <a:spLocks/>
          </p:cNvSpPr>
          <p:nvPr/>
        </p:nvSpPr>
        <p:spPr>
          <a:xfrm>
            <a:off x="1004275" y="360854"/>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54.8%</a:t>
            </a:r>
          </a:p>
        </p:txBody>
      </p:sp>
      <p:sp>
        <p:nvSpPr>
          <p:cNvPr id="11" name="Title 1">
            <a:extLst>
              <a:ext uri="{FF2B5EF4-FFF2-40B4-BE49-F238E27FC236}">
                <a16:creationId xmlns:a16="http://schemas.microsoft.com/office/drawing/2014/main" id="{A4B07BD0-C530-F684-4674-1C2375933CD2}"/>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12" name="Rectangle 11">
            <a:extLst>
              <a:ext uri="{FF2B5EF4-FFF2-40B4-BE49-F238E27FC236}">
                <a16:creationId xmlns:a16="http://schemas.microsoft.com/office/drawing/2014/main" id="{2198F0CD-A546-63F0-F00F-58814AE667A6}"/>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2F04048-BE34-5EE8-F0A8-43F7B408BEAF}"/>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0B148B4-93B9-9CFF-23B4-25FEDAB232A5}"/>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292FEC03-A16F-1F9E-735A-95D39CC12852}"/>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B714791-81B6-A49E-4A3C-E6DA6AA57121}"/>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016251-6F00-ABA6-43F7-F037E3390CA8}"/>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8" name="TextBox 60">
            <a:extLst>
              <a:ext uri="{FF2B5EF4-FFF2-40B4-BE49-F238E27FC236}">
                <a16:creationId xmlns:a16="http://schemas.microsoft.com/office/drawing/2014/main" id="{794D95E8-DD37-6EAF-709A-68D78E0109F3}"/>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19" name="TextBox 227">
            <a:extLst>
              <a:ext uri="{FF2B5EF4-FFF2-40B4-BE49-F238E27FC236}">
                <a16:creationId xmlns:a16="http://schemas.microsoft.com/office/drawing/2014/main" id="{786D6FFB-B2AD-8D2F-BF67-38457F291F33}"/>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0" name="TextBox 62">
            <a:extLst>
              <a:ext uri="{FF2B5EF4-FFF2-40B4-BE49-F238E27FC236}">
                <a16:creationId xmlns:a16="http://schemas.microsoft.com/office/drawing/2014/main" id="{EF46908C-89C1-08E6-EA16-B9CD7E6306C1}"/>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1" name="TextBox 59">
            <a:extLst>
              <a:ext uri="{FF2B5EF4-FFF2-40B4-BE49-F238E27FC236}">
                <a16:creationId xmlns:a16="http://schemas.microsoft.com/office/drawing/2014/main" id="{3DC95B70-5B04-6060-AA9E-9D03DDBB435E}"/>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22" name="TextBox 60">
            <a:extLst>
              <a:ext uri="{FF2B5EF4-FFF2-40B4-BE49-F238E27FC236}">
                <a16:creationId xmlns:a16="http://schemas.microsoft.com/office/drawing/2014/main" id="{8C73A712-FB5D-3CB5-AEDC-0E36A06015E9}"/>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23" name="TextBox 227">
            <a:extLst>
              <a:ext uri="{FF2B5EF4-FFF2-40B4-BE49-F238E27FC236}">
                <a16:creationId xmlns:a16="http://schemas.microsoft.com/office/drawing/2014/main" id="{1FF0D0BD-B149-7FB7-B493-DBFADC7E9C5A}"/>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4" name="TextBox 62">
            <a:extLst>
              <a:ext uri="{FF2B5EF4-FFF2-40B4-BE49-F238E27FC236}">
                <a16:creationId xmlns:a16="http://schemas.microsoft.com/office/drawing/2014/main" id="{CBCA2DF0-4DC0-9D1F-3678-FE4576773EA5}"/>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5" name="TextBox 59">
            <a:extLst>
              <a:ext uri="{FF2B5EF4-FFF2-40B4-BE49-F238E27FC236}">
                <a16:creationId xmlns:a16="http://schemas.microsoft.com/office/drawing/2014/main" id="{B3526DEE-B699-B5E9-512E-FCE2F97067CE}"/>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9" name="Picture 8" descr="A graph with numbers and lines&#10;&#10;AI-generated content may be incorrect.">
            <a:extLst>
              <a:ext uri="{FF2B5EF4-FFF2-40B4-BE49-F238E27FC236}">
                <a16:creationId xmlns:a16="http://schemas.microsoft.com/office/drawing/2014/main" id="{D0DEECA3-47E0-6550-F7D5-4F39CA1E8F8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5"/>
            <a:ext cx="11386135" cy="6058211"/>
          </a:xfrm>
          <a:prstGeom prst="rect">
            <a:avLst/>
          </a:prstGeom>
        </p:spPr>
      </p:pic>
      <p:sp>
        <p:nvSpPr>
          <p:cNvPr id="27" name="Rectangle 26">
            <a:extLst>
              <a:ext uri="{FF2B5EF4-FFF2-40B4-BE49-F238E27FC236}">
                <a16:creationId xmlns:a16="http://schemas.microsoft.com/office/drawing/2014/main" id="{A7F4E4AA-8825-4096-8D44-E20411B5FA21}"/>
              </a:ext>
            </a:extLst>
          </p:cNvPr>
          <p:cNvSpPr/>
          <p:nvPr/>
        </p:nvSpPr>
        <p:spPr>
          <a:xfrm>
            <a:off x="3750200" y="426032"/>
            <a:ext cx="3336513" cy="26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F9929B3C-2594-948F-678E-C0799792B017}"/>
              </a:ext>
            </a:extLst>
          </p:cNvPr>
          <p:cNvPicPr>
            <a:picLocks noChangeAspect="1"/>
          </p:cNvPicPr>
          <p:nvPr/>
        </p:nvPicPr>
        <p:blipFill>
          <a:blip r:embed="rId4"/>
          <a:stretch>
            <a:fillRect/>
          </a:stretch>
        </p:blipFill>
        <p:spPr>
          <a:xfrm>
            <a:off x="3929674" y="433183"/>
            <a:ext cx="2737804" cy="245406"/>
          </a:xfrm>
          <a:prstGeom prst="rect">
            <a:avLst/>
          </a:prstGeom>
        </p:spPr>
      </p:pic>
      <p:sp>
        <p:nvSpPr>
          <p:cNvPr id="28" name="TextBox 27">
            <a:extLst>
              <a:ext uri="{FF2B5EF4-FFF2-40B4-BE49-F238E27FC236}">
                <a16:creationId xmlns:a16="http://schemas.microsoft.com/office/drawing/2014/main" id="{E8CFE6C6-6A51-9B49-47F8-12A095DF16AD}"/>
              </a:ext>
            </a:extLst>
          </p:cNvPr>
          <p:cNvSpPr txBox="1"/>
          <p:nvPr/>
        </p:nvSpPr>
        <p:spPr>
          <a:xfrm>
            <a:off x="4605532" y="841365"/>
            <a:ext cx="3206521"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Low-pass filter evaluated on selected data</a:t>
            </a:r>
          </a:p>
        </p:txBody>
      </p:sp>
    </p:spTree>
    <p:extLst>
      <p:ext uri="{BB962C8B-B14F-4D97-AF65-F5344CB8AC3E}">
        <p14:creationId xmlns:p14="http://schemas.microsoft.com/office/powerpoint/2010/main" val="1630762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84BDBD5-9C34-1D02-92B3-C592059BB4C4}"/>
              </a:ext>
            </a:extLst>
          </p:cNvPr>
          <p:cNvSpPr txBox="1">
            <a:spLocks/>
          </p:cNvSpPr>
          <p:nvPr/>
        </p:nvSpPr>
        <p:spPr>
          <a:xfrm>
            <a:off x="1004275" y="360853"/>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61.9%</a:t>
            </a:r>
          </a:p>
        </p:txBody>
      </p:sp>
      <p:sp>
        <p:nvSpPr>
          <p:cNvPr id="8" name="Title 1">
            <a:extLst>
              <a:ext uri="{FF2B5EF4-FFF2-40B4-BE49-F238E27FC236}">
                <a16:creationId xmlns:a16="http://schemas.microsoft.com/office/drawing/2014/main" id="{2F823C67-B337-AD3E-EA04-05289AAB4C11}"/>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9" name="Rectangle 8">
            <a:extLst>
              <a:ext uri="{FF2B5EF4-FFF2-40B4-BE49-F238E27FC236}">
                <a16:creationId xmlns:a16="http://schemas.microsoft.com/office/drawing/2014/main" id="{F23C5387-426C-D129-0DBE-604FD6456B30}"/>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4413A79-6675-D1B2-93FF-81259A99B9EC}"/>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7E2A003-E9B2-1150-C8A5-B344C9B42BC2}"/>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FE7A22F-25AC-B9EC-A381-49ED8A4FD640}"/>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20EBDF6-FBAF-521B-6583-EEF2B4BFB4EB}"/>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5825195C-7E75-C441-7E11-3D4BACF85669}"/>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6" name="TextBox 60">
            <a:extLst>
              <a:ext uri="{FF2B5EF4-FFF2-40B4-BE49-F238E27FC236}">
                <a16:creationId xmlns:a16="http://schemas.microsoft.com/office/drawing/2014/main" id="{7CAF995F-8F63-7122-905B-B298596190E1}"/>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17" name="TextBox 227">
            <a:extLst>
              <a:ext uri="{FF2B5EF4-FFF2-40B4-BE49-F238E27FC236}">
                <a16:creationId xmlns:a16="http://schemas.microsoft.com/office/drawing/2014/main" id="{F19000D6-041B-2FE0-3F3E-B32C114B19DF}"/>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18" name="TextBox 62">
            <a:extLst>
              <a:ext uri="{FF2B5EF4-FFF2-40B4-BE49-F238E27FC236}">
                <a16:creationId xmlns:a16="http://schemas.microsoft.com/office/drawing/2014/main" id="{0AE48B76-F314-1FED-AC97-234D3AA08FF7}"/>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19" name="TextBox 59">
            <a:extLst>
              <a:ext uri="{FF2B5EF4-FFF2-40B4-BE49-F238E27FC236}">
                <a16:creationId xmlns:a16="http://schemas.microsoft.com/office/drawing/2014/main" id="{FFC415C2-12E8-712C-BC49-1B81E2833A0C}"/>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20" name="TextBox 60">
            <a:extLst>
              <a:ext uri="{FF2B5EF4-FFF2-40B4-BE49-F238E27FC236}">
                <a16:creationId xmlns:a16="http://schemas.microsoft.com/office/drawing/2014/main" id="{079B3732-2175-DB47-90BE-5658CCDFCC43}"/>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21" name="TextBox 227">
            <a:extLst>
              <a:ext uri="{FF2B5EF4-FFF2-40B4-BE49-F238E27FC236}">
                <a16:creationId xmlns:a16="http://schemas.microsoft.com/office/drawing/2014/main" id="{073994C2-D52D-7796-80DD-C848E0F1F4F6}"/>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2" name="TextBox 62">
            <a:extLst>
              <a:ext uri="{FF2B5EF4-FFF2-40B4-BE49-F238E27FC236}">
                <a16:creationId xmlns:a16="http://schemas.microsoft.com/office/drawing/2014/main" id="{550B74B1-DEA8-7577-7458-81A77DD7E9CA}"/>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3" name="TextBox 59">
            <a:extLst>
              <a:ext uri="{FF2B5EF4-FFF2-40B4-BE49-F238E27FC236}">
                <a16:creationId xmlns:a16="http://schemas.microsoft.com/office/drawing/2014/main" id="{C61283F5-3672-5CF3-832E-590539C9293C}"/>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7" name="Picture 6" descr="A graph with numbers and lines&#10;&#10;AI-generated content may be incorrect.">
            <a:extLst>
              <a:ext uri="{FF2B5EF4-FFF2-40B4-BE49-F238E27FC236}">
                <a16:creationId xmlns:a16="http://schemas.microsoft.com/office/drawing/2014/main" id="{92FDDEA9-2CCA-65E2-DB8B-75743D5ACE6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4"/>
            <a:ext cx="11386135" cy="6058211"/>
          </a:xfrm>
          <a:prstGeom prst="rect">
            <a:avLst/>
          </a:prstGeom>
        </p:spPr>
      </p:pic>
      <p:sp>
        <p:nvSpPr>
          <p:cNvPr id="24" name="Rectangle 23">
            <a:extLst>
              <a:ext uri="{FF2B5EF4-FFF2-40B4-BE49-F238E27FC236}">
                <a16:creationId xmlns:a16="http://schemas.microsoft.com/office/drawing/2014/main" id="{BF0592E1-696B-3C20-D3DC-3E3C6F0D419D}"/>
              </a:ext>
            </a:extLst>
          </p:cNvPr>
          <p:cNvSpPr/>
          <p:nvPr/>
        </p:nvSpPr>
        <p:spPr>
          <a:xfrm>
            <a:off x="3750200" y="426032"/>
            <a:ext cx="3336513" cy="26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F7292EA8-2D90-D010-9125-95256AB2E6C9}"/>
              </a:ext>
            </a:extLst>
          </p:cNvPr>
          <p:cNvPicPr>
            <a:picLocks noChangeAspect="1"/>
          </p:cNvPicPr>
          <p:nvPr/>
        </p:nvPicPr>
        <p:blipFill>
          <a:blip r:embed="rId4"/>
          <a:stretch>
            <a:fillRect/>
          </a:stretch>
        </p:blipFill>
        <p:spPr>
          <a:xfrm>
            <a:off x="3929674" y="433183"/>
            <a:ext cx="2737804" cy="245406"/>
          </a:xfrm>
          <a:prstGeom prst="rect">
            <a:avLst/>
          </a:prstGeom>
        </p:spPr>
      </p:pic>
      <p:sp>
        <p:nvSpPr>
          <p:cNvPr id="26" name="TextBox 25">
            <a:extLst>
              <a:ext uri="{FF2B5EF4-FFF2-40B4-BE49-F238E27FC236}">
                <a16:creationId xmlns:a16="http://schemas.microsoft.com/office/drawing/2014/main" id="{41D79662-FA2B-211A-D6A4-CE8E24DC2F42}"/>
              </a:ext>
            </a:extLst>
          </p:cNvPr>
          <p:cNvSpPr txBox="1"/>
          <p:nvPr/>
        </p:nvSpPr>
        <p:spPr>
          <a:xfrm>
            <a:off x="4605532" y="841365"/>
            <a:ext cx="3206521"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Low-pass filter evaluated on all data</a:t>
            </a:r>
          </a:p>
        </p:txBody>
      </p:sp>
    </p:spTree>
    <p:extLst>
      <p:ext uri="{BB962C8B-B14F-4D97-AF65-F5344CB8AC3E}">
        <p14:creationId xmlns:p14="http://schemas.microsoft.com/office/powerpoint/2010/main" val="51071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different colored dots&#10;&#10;AI-generated content may be incorrect.">
            <a:extLst>
              <a:ext uri="{FF2B5EF4-FFF2-40B4-BE49-F238E27FC236}">
                <a16:creationId xmlns:a16="http://schemas.microsoft.com/office/drawing/2014/main" id="{D8ABD468-193B-0002-F458-16793E4FB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4200"/>
            <a:ext cx="12192000" cy="5689600"/>
          </a:xfrm>
          <a:prstGeom prst="rect">
            <a:avLst/>
          </a:prstGeom>
        </p:spPr>
      </p:pic>
      <p:sp>
        <p:nvSpPr>
          <p:cNvPr id="8" name="Content Placeholder 2">
            <a:extLst>
              <a:ext uri="{FF2B5EF4-FFF2-40B4-BE49-F238E27FC236}">
                <a16:creationId xmlns:a16="http://schemas.microsoft.com/office/drawing/2014/main" id="{9A8AB27F-C645-1DEB-429D-0A60A09C8C06}"/>
              </a:ext>
            </a:extLst>
          </p:cNvPr>
          <p:cNvSpPr>
            <a:spLocks noGrp="1"/>
          </p:cNvSpPr>
          <p:nvPr>
            <p:ph idx="1"/>
          </p:nvPr>
        </p:nvSpPr>
        <p:spPr>
          <a:xfrm>
            <a:off x="704852" y="943457"/>
            <a:ext cx="3790947" cy="739775"/>
          </a:xfrm>
        </p:spPr>
        <p:txBody>
          <a:bodyPr>
            <a:normAutofit lnSpcReduction="10000"/>
          </a:bodyPr>
          <a:lstStyle/>
          <a:p>
            <a:pPr marL="0" indent="0">
              <a:buNone/>
            </a:pPr>
            <a:r>
              <a:rPr lang="en-US" sz="2000" dirty="0">
                <a:latin typeface="Arial" panose="020B0604020202020204" pitchFamily="34" charset="0"/>
                <a:cs typeface="Arial" panose="020B0604020202020204" pitchFamily="34" charset="0"/>
              </a:rPr>
              <a:t>MAE (median, 1</a:t>
            </a:r>
            <a:r>
              <a:rPr lang="el-GR" sz="2000" dirty="0">
                <a:latin typeface="Arial" panose="020B0604020202020204" pitchFamily="34" charset="0"/>
                <a:cs typeface="Arial" panose="020B0604020202020204" pitchFamily="34" charset="0"/>
              </a:rPr>
              <a:t>σ</a:t>
            </a:r>
            <a:r>
              <a:rPr lang="en-US" sz="2000" dirty="0">
                <a:latin typeface="Arial" panose="020B0604020202020204" pitchFamily="34" charset="0"/>
                <a:cs typeface="Arial" panose="020B0604020202020204" pitchFamily="34" charset="0"/>
              </a:rPr>
              <a:t>): </a:t>
            </a:r>
          </a:p>
          <a:p>
            <a:pPr marL="0" indent="0">
              <a:buNone/>
            </a:pPr>
            <a:r>
              <a:rPr lang="en-US" sz="2000" dirty="0">
                <a:latin typeface="Arial" panose="020B0604020202020204" pitchFamily="34" charset="0"/>
                <a:cs typeface="Arial" panose="020B0604020202020204" pitchFamily="34" charset="0"/>
              </a:rPr>
              <a:t>           0.12 m, 0.15 m</a:t>
            </a:r>
          </a:p>
        </p:txBody>
      </p:sp>
      <p:sp>
        <p:nvSpPr>
          <p:cNvPr id="9" name="Content Placeholder 2">
            <a:extLst>
              <a:ext uri="{FF2B5EF4-FFF2-40B4-BE49-F238E27FC236}">
                <a16:creationId xmlns:a16="http://schemas.microsoft.com/office/drawing/2014/main" id="{ABDCC346-C0E4-BCF7-0BB9-05E27FC2BD69}"/>
              </a:ext>
            </a:extLst>
          </p:cNvPr>
          <p:cNvSpPr txBox="1">
            <a:spLocks/>
          </p:cNvSpPr>
          <p:nvPr/>
        </p:nvSpPr>
        <p:spPr>
          <a:xfrm>
            <a:off x="6096000" y="943457"/>
            <a:ext cx="3676651" cy="1095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Relative err (median, 1</a:t>
            </a:r>
            <a:r>
              <a:rPr lang="el-GR" sz="2000" dirty="0">
                <a:latin typeface="Arial" panose="020B0604020202020204" pitchFamily="34" charset="0"/>
                <a:cs typeface="Arial" panose="020B0604020202020204" pitchFamily="34" charset="0"/>
              </a:rPr>
              <a:t>σ</a:t>
            </a:r>
            <a:r>
              <a:rPr lang="en-US" sz="2000" dirty="0">
                <a:latin typeface="Arial" panose="020B0604020202020204" pitchFamily="34" charset="0"/>
                <a:cs typeface="Arial" panose="020B0604020202020204" pitchFamily="34" charset="0"/>
              </a:rPr>
              <a:t>): </a:t>
            </a:r>
          </a:p>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                    14.9%, 26.0%</a:t>
            </a:r>
          </a:p>
        </p:txBody>
      </p:sp>
      <p:sp>
        <p:nvSpPr>
          <p:cNvPr id="2" name="Content Placeholder 2">
            <a:extLst>
              <a:ext uri="{FF2B5EF4-FFF2-40B4-BE49-F238E27FC236}">
                <a16:creationId xmlns:a16="http://schemas.microsoft.com/office/drawing/2014/main" id="{10B4054E-D623-796F-465B-D7F236DFE6D4}"/>
              </a:ext>
            </a:extLst>
          </p:cNvPr>
          <p:cNvSpPr txBox="1">
            <a:spLocks/>
          </p:cNvSpPr>
          <p:nvPr/>
        </p:nvSpPr>
        <p:spPr>
          <a:xfrm>
            <a:off x="871870" y="6110771"/>
            <a:ext cx="10044222" cy="5122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Average retention rate 80.3% per lake, as opposed to 30–48% if using the baseline filter</a:t>
            </a:r>
          </a:p>
        </p:txBody>
      </p:sp>
    </p:spTree>
    <p:extLst>
      <p:ext uri="{BB962C8B-B14F-4D97-AF65-F5344CB8AC3E}">
        <p14:creationId xmlns:p14="http://schemas.microsoft.com/office/powerpoint/2010/main" val="3276900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7D262-2E47-7952-4964-900C7BE347B9}"/>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E9A90226-AE93-5474-26C7-A33FF243EAB2}"/>
              </a:ext>
            </a:extLst>
          </p:cNvPr>
          <p:cNvSpPr>
            <a:spLocks noGrp="1"/>
          </p:cNvSpPr>
          <p:nvPr>
            <p:ph idx="1"/>
          </p:nvPr>
        </p:nvSpPr>
        <p:spPr>
          <a:xfrm>
            <a:off x="838200" y="1825625"/>
            <a:ext cx="10515600" cy="4384675"/>
          </a:xfrm>
        </p:spPr>
        <p:txBody>
          <a:bodyPr/>
          <a:lstStyle/>
          <a:p>
            <a:r>
              <a:rPr lang="en-US" dirty="0"/>
              <a:t>Is this heuristic filter reasonable?</a:t>
            </a:r>
          </a:p>
          <a:p>
            <a:r>
              <a:rPr lang="en-US"/>
              <a:t>Any alternative strategy? </a:t>
            </a:r>
            <a:endParaRPr lang="en-US" dirty="0"/>
          </a:p>
          <a:p>
            <a:r>
              <a:rPr lang="en-US" dirty="0"/>
              <a:t>Seeking voluntary contributions to: </a:t>
            </a:r>
          </a:p>
          <a:p>
            <a:pPr lvl="1"/>
            <a:r>
              <a:rPr lang="en-US" dirty="0"/>
              <a:t>Possibly improve the filter</a:t>
            </a:r>
          </a:p>
          <a:p>
            <a:pPr lvl="1"/>
            <a:r>
              <a:rPr lang="en-US" dirty="0"/>
              <a:t>Widely validate the filter</a:t>
            </a:r>
          </a:p>
          <a:p>
            <a:pPr lvl="2"/>
            <a:r>
              <a:rPr lang="en-US" b="1" dirty="0"/>
              <a:t>In-situ data needed</a:t>
            </a:r>
            <a:endParaRPr lang="en-US" dirty="0"/>
          </a:p>
          <a:p>
            <a:pPr lvl="3"/>
            <a:r>
              <a:rPr lang="en-US" dirty="0"/>
              <a:t>Merritt Harlan has agreed to provide USGS and ECCC data for about 500 lakes and reservoirs across North America. </a:t>
            </a:r>
          </a:p>
          <a:p>
            <a:pPr lvl="3"/>
            <a:r>
              <a:rPr lang="en-US" dirty="0"/>
              <a:t>Other parts of the world? </a:t>
            </a:r>
          </a:p>
          <a:p>
            <a:pPr lvl="2"/>
            <a:r>
              <a:rPr lang="en-US" dirty="0"/>
              <a:t>Volunteer to lead or assist in validation analysis?</a:t>
            </a:r>
          </a:p>
        </p:txBody>
      </p:sp>
    </p:spTree>
    <p:extLst>
      <p:ext uri="{BB962C8B-B14F-4D97-AF65-F5344CB8AC3E}">
        <p14:creationId xmlns:p14="http://schemas.microsoft.com/office/powerpoint/2010/main" val="1709244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Updates on 07/04/2025</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lstStyle/>
          <a:p>
            <a:r>
              <a:rPr lang="en-US" dirty="0"/>
              <a:t>Discussion with Melanie and Sylvain</a:t>
            </a:r>
          </a:p>
        </p:txBody>
      </p:sp>
    </p:spTree>
    <p:extLst>
      <p:ext uri="{BB962C8B-B14F-4D97-AF65-F5344CB8AC3E}">
        <p14:creationId xmlns:p14="http://schemas.microsoft.com/office/powerpoint/2010/main" val="2280179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graphs with different colored lines&#10;&#10;AI-generated content may be incorrect.">
            <a:extLst>
              <a:ext uri="{FF2B5EF4-FFF2-40B4-BE49-F238E27FC236}">
                <a16:creationId xmlns:a16="http://schemas.microsoft.com/office/drawing/2014/main" id="{007C8037-E9BF-F209-6767-DC4897E8A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3" name="TextBox 2">
            <a:extLst>
              <a:ext uri="{FF2B5EF4-FFF2-40B4-BE49-F238E27FC236}">
                <a16:creationId xmlns:a16="http://schemas.microsoft.com/office/drawing/2014/main" id="{000A5D6B-70F4-3BD4-7553-82B16D2F5F64}"/>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36%</a:t>
            </a:r>
          </a:p>
        </p:txBody>
      </p:sp>
      <p:sp>
        <p:nvSpPr>
          <p:cNvPr id="12" name="TextBox 11">
            <a:extLst>
              <a:ext uri="{FF2B5EF4-FFF2-40B4-BE49-F238E27FC236}">
                <a16:creationId xmlns:a16="http://schemas.microsoft.com/office/drawing/2014/main" id="{596B3D34-C8B6-FF1C-45B5-F9851187E500}"/>
              </a:ext>
            </a:extLst>
          </p:cNvPr>
          <p:cNvSpPr txBox="1"/>
          <p:nvPr/>
        </p:nvSpPr>
        <p:spPr>
          <a:xfrm>
            <a:off x="510980" y="335407"/>
            <a:ext cx="322700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thus far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(based on script version 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D4A6C5A-A330-45D1-4A39-43D985B6B50A}"/>
              </a:ext>
            </a:extLst>
          </p:cNvPr>
          <p:cNvSpPr txBox="1"/>
          <p:nvPr/>
        </p:nvSpPr>
        <p:spPr>
          <a:xfrm>
            <a:off x="237394" y="1779538"/>
            <a:ext cx="4514850" cy="4247317"/>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Stringent CNES baseline (baseline 1):</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CNES_baseline1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xovr_cal_q</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ice_clim_f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en-US"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 lenient CNES baseline (baseline 2):</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CNES_baseline2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xovr_cal_q</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2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ice_clim_f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2 &amp;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"PIC2")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"PID0"))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3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"PIC2")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"PID0"))))')</a:t>
            </a:r>
          </a:p>
        </p:txBody>
      </p:sp>
    </p:spTree>
    <p:extLst>
      <p:ext uri="{BB962C8B-B14F-4D97-AF65-F5344CB8AC3E}">
        <p14:creationId xmlns:p14="http://schemas.microsoft.com/office/powerpoint/2010/main" val="955392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graphs with different colored lines&#10;&#10;AI-generated content may be incorrect.">
            <a:extLst>
              <a:ext uri="{FF2B5EF4-FFF2-40B4-BE49-F238E27FC236}">
                <a16:creationId xmlns:a16="http://schemas.microsoft.com/office/drawing/2014/main" id="{F752FBC9-F4DF-2E33-0D5D-38ECEE92C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7" name="TextBox 6">
            <a:extLst>
              <a:ext uri="{FF2B5EF4-FFF2-40B4-BE49-F238E27FC236}">
                <a16:creationId xmlns:a16="http://schemas.microsoft.com/office/drawing/2014/main" id="{432D39FA-889D-C598-32F4-BB37A355E231}"/>
              </a:ext>
            </a:extLst>
          </p:cNvPr>
          <p:cNvSpPr txBox="1"/>
          <p:nvPr/>
        </p:nvSpPr>
        <p:spPr>
          <a:xfrm>
            <a:off x="510980" y="335407"/>
            <a:ext cx="4071068"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(version 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Improvements: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enable calibration of heuristic thresholds (maximum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to be specific to:</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CRID versions: PIC0/PGC0 vs. PIC2/PID0</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Pass IDs (for lakes that span multiple SWOT passes)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remove ice-covered anomalies by comparing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WSE against valid ice-free observations, evaluated pass by pass (this has to be pass-specific as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is used). </a:t>
            </a:r>
          </a:p>
        </p:txBody>
      </p:sp>
      <p:sp>
        <p:nvSpPr>
          <p:cNvPr id="10" name="TextBox 9">
            <a:extLst>
              <a:ext uri="{FF2B5EF4-FFF2-40B4-BE49-F238E27FC236}">
                <a16:creationId xmlns:a16="http://schemas.microsoft.com/office/drawing/2014/main" id="{F14E9261-2C14-C680-4942-9C98D37AE08E}"/>
              </a:ext>
            </a:extLst>
          </p:cNvPr>
          <p:cNvSpPr txBox="1"/>
          <p:nvPr/>
        </p:nvSpPr>
        <p:spPr>
          <a:xfrm>
            <a:off x="510980" y="5208997"/>
            <a:ext cx="4382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figure implemented: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Lake-specific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global</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thresholds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Pass-specific ice anomaly removal</a:t>
            </a:r>
          </a:p>
        </p:txBody>
      </p:sp>
      <p:sp>
        <p:nvSpPr>
          <p:cNvPr id="11" name="TextBox 10">
            <a:extLst>
              <a:ext uri="{FF2B5EF4-FFF2-40B4-BE49-F238E27FC236}">
                <a16:creationId xmlns:a16="http://schemas.microsoft.com/office/drawing/2014/main" id="{8C2837B2-C211-1D99-00B6-FD0AC3B97404}"/>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33%</a:t>
            </a:r>
          </a:p>
        </p:txBody>
      </p:sp>
    </p:spTree>
    <p:extLst>
      <p:ext uri="{BB962C8B-B14F-4D97-AF65-F5344CB8AC3E}">
        <p14:creationId xmlns:p14="http://schemas.microsoft.com/office/powerpoint/2010/main" val="389913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lage of graphs&#10;&#10;AI-generated content may be incorrect.">
            <a:extLst>
              <a:ext uri="{FF2B5EF4-FFF2-40B4-BE49-F238E27FC236}">
                <a16:creationId xmlns:a16="http://schemas.microsoft.com/office/drawing/2014/main" id="{52E1F4B4-0BBD-45CC-21CC-E1E77D67A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8" name="TextBox 7">
            <a:extLst>
              <a:ext uri="{FF2B5EF4-FFF2-40B4-BE49-F238E27FC236}">
                <a16:creationId xmlns:a16="http://schemas.microsoft.com/office/drawing/2014/main" id="{7A3F4793-2837-C147-1E8B-21D94DD00DC3}"/>
              </a:ext>
            </a:extLst>
          </p:cNvPr>
          <p:cNvSpPr txBox="1"/>
          <p:nvPr/>
        </p:nvSpPr>
        <p:spPr>
          <a:xfrm>
            <a:off x="510980" y="5208997"/>
            <a:ext cx="4382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figure implemented: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CRID-specific</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thresholds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Pass-specific ice anomaly removal</a:t>
            </a:r>
          </a:p>
        </p:txBody>
      </p:sp>
      <p:sp>
        <p:nvSpPr>
          <p:cNvPr id="9" name="TextBox 8">
            <a:extLst>
              <a:ext uri="{FF2B5EF4-FFF2-40B4-BE49-F238E27FC236}">
                <a16:creationId xmlns:a16="http://schemas.microsoft.com/office/drawing/2014/main" id="{30BC2808-7ADA-D8AE-3655-6C070633E7D4}"/>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33%</a:t>
            </a:r>
          </a:p>
        </p:txBody>
      </p:sp>
      <p:sp>
        <p:nvSpPr>
          <p:cNvPr id="10" name="TextBox 9">
            <a:extLst>
              <a:ext uri="{FF2B5EF4-FFF2-40B4-BE49-F238E27FC236}">
                <a16:creationId xmlns:a16="http://schemas.microsoft.com/office/drawing/2014/main" id="{4FD6F22A-C377-14D8-A1CB-E5817B6DA4D6}"/>
              </a:ext>
            </a:extLst>
          </p:cNvPr>
          <p:cNvSpPr txBox="1"/>
          <p:nvPr/>
        </p:nvSpPr>
        <p:spPr>
          <a:xfrm>
            <a:off x="510980" y="335407"/>
            <a:ext cx="4071068"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(version 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Improvements: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enable calibration of heuristic thresholds (maximum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to be specific to:</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CRID versions: PIC0/PGC0 vs. PIC2/PID0</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Pass IDs (for lakes that span multiple SWOT passes)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remove ice-covered anomalies by comparing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WSE against valid ice-free observations, evaluated pass by pass (this has to be pass-specific as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is used). </a:t>
            </a:r>
          </a:p>
        </p:txBody>
      </p:sp>
    </p:spTree>
    <p:extLst>
      <p:ext uri="{BB962C8B-B14F-4D97-AF65-F5344CB8AC3E}">
        <p14:creationId xmlns:p14="http://schemas.microsoft.com/office/powerpoint/2010/main" val="2715332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llage of graphs&#10;&#10;AI-generated content may be incorrect.">
            <a:extLst>
              <a:ext uri="{FF2B5EF4-FFF2-40B4-BE49-F238E27FC236}">
                <a16:creationId xmlns:a16="http://schemas.microsoft.com/office/drawing/2014/main" id="{BBA58DE4-4808-6F2F-ED36-E990BF94B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5" name="TextBox 4">
            <a:extLst>
              <a:ext uri="{FF2B5EF4-FFF2-40B4-BE49-F238E27FC236}">
                <a16:creationId xmlns:a16="http://schemas.microsoft.com/office/drawing/2014/main" id="{6483A5ED-A742-762A-B4B3-CE232D60552D}"/>
              </a:ext>
            </a:extLst>
          </p:cNvPr>
          <p:cNvSpPr txBox="1"/>
          <p:nvPr/>
        </p:nvSpPr>
        <p:spPr>
          <a:xfrm>
            <a:off x="510980" y="5208997"/>
            <a:ext cx="4382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figure implemented: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CRID-specific</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pass-specific</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thresholds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Pass-specific ice anomaly removal</a:t>
            </a:r>
          </a:p>
        </p:txBody>
      </p:sp>
      <p:sp>
        <p:nvSpPr>
          <p:cNvPr id="7" name="TextBox 6">
            <a:extLst>
              <a:ext uri="{FF2B5EF4-FFF2-40B4-BE49-F238E27FC236}">
                <a16:creationId xmlns:a16="http://schemas.microsoft.com/office/drawing/2014/main" id="{D58FD805-3E17-97AE-59DE-7A77B72ED5D3}"/>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34%</a:t>
            </a:r>
          </a:p>
        </p:txBody>
      </p:sp>
      <p:sp>
        <p:nvSpPr>
          <p:cNvPr id="8" name="TextBox 7">
            <a:extLst>
              <a:ext uri="{FF2B5EF4-FFF2-40B4-BE49-F238E27FC236}">
                <a16:creationId xmlns:a16="http://schemas.microsoft.com/office/drawing/2014/main" id="{776877BC-6952-2EFE-3DAE-43FFBBE5F895}"/>
              </a:ext>
            </a:extLst>
          </p:cNvPr>
          <p:cNvSpPr txBox="1"/>
          <p:nvPr/>
        </p:nvSpPr>
        <p:spPr>
          <a:xfrm>
            <a:off x="510980" y="335407"/>
            <a:ext cx="4071068"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(version 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Improvements: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enable calibration of heuristic thresholds (maximum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to be specific to:</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CRID versions: PIC0/PGC0 vs. PIC2/PID0</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Pass IDs (for lakes that span multiple SWOT passes)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remove ice-covered anomalies by comparing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WSE against valid ice-free observations, evaluated pass by pass (this has to be pass-specific as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is used). </a:t>
            </a:r>
          </a:p>
        </p:txBody>
      </p:sp>
    </p:spTree>
    <p:extLst>
      <p:ext uri="{BB962C8B-B14F-4D97-AF65-F5344CB8AC3E}">
        <p14:creationId xmlns:p14="http://schemas.microsoft.com/office/powerpoint/2010/main" val="3439922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function&#10;&#10;AI-generated content may be incorrect.">
            <a:extLst>
              <a:ext uri="{FF2B5EF4-FFF2-40B4-BE49-F238E27FC236}">
                <a16:creationId xmlns:a16="http://schemas.microsoft.com/office/drawing/2014/main" id="{F6C94C2E-DD7B-0D1F-DCE9-B606EE2DF8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8924" y="0"/>
            <a:ext cx="6858000" cy="6858000"/>
          </a:xfrm>
          <a:prstGeom prst="rect">
            <a:avLst/>
          </a:prstGeom>
        </p:spPr>
      </p:pic>
      <p:sp>
        <p:nvSpPr>
          <p:cNvPr id="8" name="TextBox 7">
            <a:extLst>
              <a:ext uri="{FF2B5EF4-FFF2-40B4-BE49-F238E27FC236}">
                <a16:creationId xmlns:a16="http://schemas.microsoft.com/office/drawing/2014/main" id="{0709C108-3B35-BC2C-6353-CE524CC7EB51}"/>
              </a:ext>
            </a:extLst>
          </p:cNvPr>
          <p:cNvSpPr txBox="1"/>
          <p:nvPr/>
        </p:nvSpPr>
        <p:spPr>
          <a:xfrm>
            <a:off x="3831916" y="114369"/>
            <a:ext cx="47513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Sensitivity test of heuristic thresholds</a:t>
            </a:r>
          </a:p>
        </p:txBody>
      </p:sp>
      <p:sp>
        <p:nvSpPr>
          <p:cNvPr id="2" name="TextBox 1">
            <a:extLst>
              <a:ext uri="{FF2B5EF4-FFF2-40B4-BE49-F238E27FC236}">
                <a16:creationId xmlns:a16="http://schemas.microsoft.com/office/drawing/2014/main" id="{39508BC8-B6C5-52D9-A35F-0A4D5F1C6915}"/>
              </a:ext>
            </a:extLst>
          </p:cNvPr>
          <p:cNvSpPr txBox="1"/>
          <p:nvPr/>
        </p:nvSpPr>
        <p:spPr>
          <a:xfrm>
            <a:off x="391473" y="1898147"/>
            <a:ext cx="208568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Sensitivity to CRID versions</a:t>
            </a:r>
          </a:p>
        </p:txBody>
      </p:sp>
      <p:sp>
        <p:nvSpPr>
          <p:cNvPr id="4" name="TextBox 3">
            <a:extLst>
              <a:ext uri="{FF2B5EF4-FFF2-40B4-BE49-F238E27FC236}">
                <a16:creationId xmlns:a16="http://schemas.microsoft.com/office/drawing/2014/main" id="{8E0FB78A-4DCA-7B2A-F843-E11851F78E4B}"/>
              </a:ext>
            </a:extLst>
          </p:cNvPr>
          <p:cNvSpPr txBox="1"/>
          <p:nvPr/>
        </p:nvSpPr>
        <p:spPr>
          <a:xfrm>
            <a:off x="391474" y="4591602"/>
            <a:ext cx="208568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Sensitivity to orbit passes</a:t>
            </a:r>
          </a:p>
        </p:txBody>
      </p:sp>
      <p:sp>
        <p:nvSpPr>
          <p:cNvPr id="5" name="TextBox 4">
            <a:extLst>
              <a:ext uri="{FF2B5EF4-FFF2-40B4-BE49-F238E27FC236}">
                <a16:creationId xmlns:a16="http://schemas.microsoft.com/office/drawing/2014/main" id="{6FC70E92-D46C-66BB-1061-CA0B5A27C213}"/>
              </a:ext>
            </a:extLst>
          </p:cNvPr>
          <p:cNvSpPr txBox="1"/>
          <p:nvPr/>
        </p:nvSpPr>
        <p:spPr>
          <a:xfrm>
            <a:off x="8223070" y="882419"/>
            <a:ext cx="3690256" cy="526297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As expected, PIC2/PID0 result in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lower</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thresholds for both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compared to earlier data versions (PIC0/PGC0).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However, shown in the previous slides, applying CRID-specific thresholds (or pass-specific thresholds) produces filtering results that are largely comparable to those obtained using global thresholds, but sometimes at the cost of over-rejection and reduced retention rate. So, there seems to be a trade-off between accuracy and generalizability.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These options are made available in the code, and we can provide such flexibility to users. But I personally prefer lake-specific global thresholds for our lake dynamic paper. </a:t>
            </a:r>
          </a:p>
        </p:txBody>
      </p:sp>
    </p:spTree>
    <p:extLst>
      <p:ext uri="{BB962C8B-B14F-4D97-AF65-F5344CB8AC3E}">
        <p14:creationId xmlns:p14="http://schemas.microsoft.com/office/powerpoint/2010/main" val="3993106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a:t>Updates </a:t>
            </a:r>
            <a:r>
              <a:rPr lang="en-US" dirty="0"/>
              <a:t>on 07/13/2025</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fontScale="92500"/>
          </a:bodyPr>
          <a:lstStyle/>
          <a:p>
            <a:r>
              <a:rPr lang="en-US" dirty="0"/>
              <a:t>After discussion with Melanie and Sylvain</a:t>
            </a:r>
          </a:p>
          <a:p>
            <a:r>
              <a:rPr lang="en-US" dirty="0"/>
              <a:t>Included gauge data from 1000+ lakes and reservoirs</a:t>
            </a:r>
          </a:p>
          <a:p>
            <a:r>
              <a:rPr lang="en-US" dirty="0"/>
              <a:t>Results are based on the latest script (v7): </a:t>
            </a:r>
            <a:r>
              <a:rPr lang="en-US" b="1" dirty="0"/>
              <a:t>Customized-LakeSP-filter-v7-07132025.py</a:t>
            </a:r>
          </a:p>
          <a:p>
            <a:r>
              <a:rPr lang="en-US" dirty="0"/>
              <a:t>Improvement: </a:t>
            </a:r>
          </a:p>
          <a:p>
            <a:pPr lvl="1"/>
            <a:r>
              <a:rPr lang="en-US" dirty="0"/>
              <a:t>Allows flexibility of threshold calibration specific to CRID version and SWOT passes. </a:t>
            </a:r>
          </a:p>
          <a:p>
            <a:pPr lvl="1"/>
            <a:r>
              <a:rPr lang="en-US" dirty="0"/>
              <a:t>Improved ice outlier removal, but </a:t>
            </a:r>
            <a:r>
              <a:rPr lang="en-US" b="1" dirty="0"/>
              <a:t>WSE underestimation during ice periods remains a challenge! </a:t>
            </a:r>
            <a:r>
              <a:rPr lang="en-US" dirty="0"/>
              <a:t>Voluntary helps are appreciated.</a:t>
            </a:r>
          </a:p>
          <a:p>
            <a:pPr lvl="1"/>
            <a:r>
              <a:rPr lang="en-US" dirty="0"/>
              <a:t>Incorporated Melanie’s suggestion on bias correction between gauge and SWOT data</a:t>
            </a:r>
          </a:p>
          <a:p>
            <a:pPr lvl="1"/>
            <a:r>
              <a:rPr lang="en-US" dirty="0"/>
              <a:t>Incorporated Melanie’s random forest to compute feature importance</a:t>
            </a:r>
          </a:p>
        </p:txBody>
      </p:sp>
    </p:spTree>
    <p:extLst>
      <p:ext uri="{BB962C8B-B14F-4D97-AF65-F5344CB8AC3E}">
        <p14:creationId xmlns:p14="http://schemas.microsoft.com/office/powerpoint/2010/main" val="1912035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1A92C4-5D78-0299-1F5A-365011F94D63}"/>
              </a:ext>
            </a:extLst>
          </p:cNvPr>
          <p:cNvGraphicFramePr>
            <a:graphicFrameLocks noGrp="1"/>
          </p:cNvGraphicFramePr>
          <p:nvPr>
            <p:extLst>
              <p:ext uri="{D42A27DB-BD31-4B8C-83A1-F6EECF244321}">
                <p14:modId xmlns:p14="http://schemas.microsoft.com/office/powerpoint/2010/main" val="1291266888"/>
              </p:ext>
            </p:extLst>
          </p:nvPr>
        </p:nvGraphicFramePr>
        <p:xfrm>
          <a:off x="819150" y="1238250"/>
          <a:ext cx="9694704" cy="5032569"/>
        </p:xfrm>
        <a:graphic>
          <a:graphicData uri="http://schemas.openxmlformats.org/drawingml/2006/table">
            <a:tbl>
              <a:tblPr firstRow="1" firstCol="1" bandRow="1">
                <a:tableStyleId>{5C22544A-7EE6-4342-B048-85BDC9FD1C3A}</a:tableStyleId>
              </a:tblPr>
              <a:tblGrid>
                <a:gridCol w="1390502">
                  <a:extLst>
                    <a:ext uri="{9D8B030D-6E8A-4147-A177-3AD203B41FA5}">
                      <a16:colId xmlns:a16="http://schemas.microsoft.com/office/drawing/2014/main" val="3297728776"/>
                    </a:ext>
                  </a:extLst>
                </a:gridCol>
                <a:gridCol w="912164">
                  <a:extLst>
                    <a:ext uri="{9D8B030D-6E8A-4147-A177-3AD203B41FA5}">
                      <a16:colId xmlns:a16="http://schemas.microsoft.com/office/drawing/2014/main" val="2559451681"/>
                    </a:ext>
                  </a:extLst>
                </a:gridCol>
                <a:gridCol w="1407114">
                  <a:extLst>
                    <a:ext uri="{9D8B030D-6E8A-4147-A177-3AD203B41FA5}">
                      <a16:colId xmlns:a16="http://schemas.microsoft.com/office/drawing/2014/main" val="4001635212"/>
                    </a:ext>
                  </a:extLst>
                </a:gridCol>
                <a:gridCol w="2720420">
                  <a:extLst>
                    <a:ext uri="{9D8B030D-6E8A-4147-A177-3AD203B41FA5}">
                      <a16:colId xmlns:a16="http://schemas.microsoft.com/office/drawing/2014/main" val="3123699057"/>
                    </a:ext>
                  </a:extLst>
                </a:gridCol>
                <a:gridCol w="3264504">
                  <a:extLst>
                    <a:ext uri="{9D8B030D-6E8A-4147-A177-3AD203B41FA5}">
                      <a16:colId xmlns:a16="http://schemas.microsoft.com/office/drawing/2014/main" val="2454561434"/>
                    </a:ext>
                  </a:extLst>
                </a:gridCol>
              </a:tblGrid>
              <a:tr h="428758">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Region</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Count of PLD lakes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Temporal frequency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Sources</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Data provider</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151532425"/>
                  </a:ext>
                </a:extLst>
              </a:tr>
              <a:tr h="204882">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Quebec</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35</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Daily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CEHQ</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Mélanie Trudel</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38394103"/>
                  </a:ext>
                </a:extLst>
              </a:tr>
              <a:tr h="428758">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Canada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277</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SWOT passes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ECCC, CEHQ, Spence, HQ, UDES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vMerge="1">
                  <a:txBody>
                    <a:bodyPr/>
                    <a:lstStyle/>
                    <a:p>
                      <a:endParaRPr lang="en-US"/>
                    </a:p>
                  </a:txBody>
                  <a:tcPr/>
                </a:tc>
                <a:extLst>
                  <a:ext uri="{0D108BD9-81ED-4DB2-BD59-A6C34878D82A}">
                    <a16:rowId xmlns:a16="http://schemas.microsoft.com/office/drawing/2014/main" val="40017722"/>
                  </a:ext>
                </a:extLst>
              </a:tr>
              <a:tr h="369433">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North America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589</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SWOT passes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ECCC, Quebec, USBR, USGS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Merritt Harlan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4291620616"/>
                  </a:ext>
                </a:extLst>
              </a:tr>
              <a:tr h="204882">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China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38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Daily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Multiple authorities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Chunqiao Song</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468641450"/>
                  </a:ext>
                </a:extLst>
              </a:tr>
              <a:tr h="652635">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West Africa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2</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Hourly or finer</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 situ measurement</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Manuela Grippa;</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Félix Girard;</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Laurent Kergoat</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69590228"/>
                  </a:ext>
                </a:extLst>
              </a:tr>
              <a:tr h="748244">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Amazon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1</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Daily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 situ measurement (Mamirauá Institute for Sustainable Development)</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Ayan Fleischmann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364285413"/>
                  </a:ext>
                </a:extLst>
              </a:tr>
              <a:tr h="748244">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Ceará, Brazil</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Every 30 min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 situ measurement (Funceme)</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Rafael Oliveira;</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Marielle Gosset;</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Eduardo Sávio Rodrigues Martins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75245267"/>
                  </a:ext>
                </a:extLst>
              </a:tr>
              <a:tr h="428758">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India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358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Monthly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NWIC, APWRIMS, Gujarat, CWC</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Deep Shah; </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Huilin Gao</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931179867"/>
                  </a:ext>
                </a:extLst>
              </a:tr>
              <a:tr h="204882">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Total</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1308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605864500"/>
                  </a:ext>
                </a:extLst>
              </a:tr>
              <a:tr h="558839">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Total unique (excluding duplicates)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1068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 </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214890085"/>
                  </a:ext>
                </a:extLst>
              </a:tr>
            </a:tbl>
          </a:graphicData>
        </a:graphic>
      </p:graphicFrame>
      <p:sp>
        <p:nvSpPr>
          <p:cNvPr id="5" name="Rectangle 1">
            <a:extLst>
              <a:ext uri="{FF2B5EF4-FFF2-40B4-BE49-F238E27FC236}">
                <a16:creationId xmlns:a16="http://schemas.microsoft.com/office/drawing/2014/main" id="{DD844E40-647F-A401-52FA-7EC5FF55CA57}"/>
              </a:ext>
            </a:extLst>
          </p:cNvPr>
          <p:cNvSpPr>
            <a:spLocks noChangeArrowheads="1"/>
          </p:cNvSpPr>
          <p:nvPr/>
        </p:nvSpPr>
        <p:spPr bwMode="auto">
          <a:xfrm>
            <a:off x="306388" y="265537"/>
            <a:ext cx="111426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ptos" panose="020B0004020202020204" pitchFamily="34" charset="0"/>
                <a:ea typeface="DengXian" panose="02010600030101010101" pitchFamily="2" charset="-122"/>
                <a:cs typeface="Times New Roman" panose="02020603050405020304" pitchFamily="18" charset="0"/>
              </a:rPr>
              <a:t>We have thus far collected the following gauge data. Regions/lakes may overlap among the data sources but the unique lake count is 1068.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1990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87502-404B-28B2-30E3-A5D368CC0703}"/>
              </a:ext>
            </a:extLst>
          </p:cNvPr>
          <p:cNvSpPr>
            <a:spLocks noGrp="1"/>
          </p:cNvSpPr>
          <p:nvPr>
            <p:ph type="title"/>
          </p:nvPr>
        </p:nvSpPr>
        <p:spPr>
          <a:xfrm>
            <a:off x="838200" y="10912"/>
            <a:ext cx="10515600" cy="1325563"/>
          </a:xfrm>
        </p:spPr>
        <p:txBody>
          <a:bodyPr/>
          <a:lstStyle/>
          <a:p>
            <a:r>
              <a:rPr lang="en-US" dirty="0"/>
              <a:t>Conceptual procedure of the customized filter</a:t>
            </a:r>
          </a:p>
        </p:txBody>
      </p:sp>
      <p:sp>
        <p:nvSpPr>
          <p:cNvPr id="4" name="TextBox 3">
            <a:extLst>
              <a:ext uri="{FF2B5EF4-FFF2-40B4-BE49-F238E27FC236}">
                <a16:creationId xmlns:a16="http://schemas.microsoft.com/office/drawing/2014/main" id="{89C84D7B-80F3-85F3-F002-B020EF7FF26F}"/>
              </a:ext>
            </a:extLst>
          </p:cNvPr>
          <p:cNvSpPr txBox="1"/>
          <p:nvPr/>
        </p:nvSpPr>
        <p:spPr>
          <a:xfrm>
            <a:off x="700549" y="1173837"/>
            <a:ext cx="2410132" cy="369332"/>
          </a:xfrm>
          <a:prstGeom prst="rect">
            <a:avLst/>
          </a:prstGeom>
          <a:noFill/>
        </p:spPr>
        <p:txBody>
          <a:bodyPr wrap="square" rtlCol="0">
            <a:spAutoFit/>
          </a:bodyPr>
          <a:lstStyle/>
          <a:p>
            <a:r>
              <a:rPr lang="en-US" dirty="0"/>
              <a:t>Raw </a:t>
            </a:r>
            <a:r>
              <a:rPr lang="en-US" dirty="0" err="1"/>
              <a:t>LakeSP</a:t>
            </a:r>
            <a:r>
              <a:rPr lang="en-US" dirty="0"/>
              <a:t> time series</a:t>
            </a:r>
          </a:p>
        </p:txBody>
      </p:sp>
      <p:sp>
        <p:nvSpPr>
          <p:cNvPr id="5" name="TextBox 4">
            <a:extLst>
              <a:ext uri="{FF2B5EF4-FFF2-40B4-BE49-F238E27FC236}">
                <a16:creationId xmlns:a16="http://schemas.microsoft.com/office/drawing/2014/main" id="{FCF9B049-9E49-036B-62EE-501B86E1D562}"/>
              </a:ext>
            </a:extLst>
          </p:cNvPr>
          <p:cNvSpPr txBox="1"/>
          <p:nvPr/>
        </p:nvSpPr>
        <p:spPr>
          <a:xfrm>
            <a:off x="3636712" y="1021290"/>
            <a:ext cx="4665407" cy="646331"/>
          </a:xfrm>
          <a:prstGeom prst="rect">
            <a:avLst/>
          </a:prstGeom>
          <a:noFill/>
        </p:spPr>
        <p:txBody>
          <a:bodyPr wrap="square" rtlCol="0">
            <a:spAutoFit/>
          </a:bodyPr>
          <a:lstStyle/>
          <a:p>
            <a:r>
              <a:rPr lang="en-US" dirty="0"/>
              <a:t>Apply conservative quality flags to subset </a:t>
            </a:r>
            <a:r>
              <a:rPr lang="en-US" i="1" dirty="0"/>
              <a:t>assumed</a:t>
            </a:r>
            <a:r>
              <a:rPr lang="en-US" dirty="0"/>
              <a:t> high-quality SP observations</a:t>
            </a:r>
          </a:p>
        </p:txBody>
      </p:sp>
      <p:sp>
        <p:nvSpPr>
          <p:cNvPr id="6" name="TextBox 5">
            <a:extLst>
              <a:ext uri="{FF2B5EF4-FFF2-40B4-BE49-F238E27FC236}">
                <a16:creationId xmlns:a16="http://schemas.microsoft.com/office/drawing/2014/main" id="{37C5FC53-1D57-4B14-67EA-EA7F5E4C95BA}"/>
              </a:ext>
            </a:extLst>
          </p:cNvPr>
          <p:cNvSpPr txBox="1"/>
          <p:nvPr/>
        </p:nvSpPr>
        <p:spPr>
          <a:xfrm>
            <a:off x="2094271" y="1901992"/>
            <a:ext cx="6510802" cy="646331"/>
          </a:xfrm>
          <a:prstGeom prst="rect">
            <a:avLst/>
          </a:prstGeom>
          <a:noFill/>
        </p:spPr>
        <p:txBody>
          <a:bodyPr wrap="square" rtlCol="0">
            <a:spAutoFit/>
          </a:bodyPr>
          <a:lstStyle/>
          <a:p>
            <a:r>
              <a:rPr lang="en-US" dirty="0"/>
              <a:t>Calibrate </a:t>
            </a:r>
            <a:r>
              <a:rPr lang="en-US" b="1" dirty="0"/>
              <a:t>heuristic thresholds </a:t>
            </a:r>
            <a:r>
              <a:rPr lang="en-US" dirty="0"/>
              <a:t>for this lake (mainly based on </a:t>
            </a:r>
            <a:r>
              <a:rPr lang="en-US" i="1" dirty="0" err="1"/>
              <a:t>wse_std</a:t>
            </a:r>
            <a:r>
              <a:rPr lang="en-US" i="1" dirty="0"/>
              <a:t> </a:t>
            </a:r>
            <a:r>
              <a:rPr lang="en-US" dirty="0"/>
              <a:t>and </a:t>
            </a:r>
            <a:r>
              <a:rPr lang="en-US" i="1" dirty="0" err="1"/>
              <a:t>wse_u</a:t>
            </a:r>
            <a:r>
              <a:rPr lang="en-US" dirty="0"/>
              <a:t>; see next slide for RF-based feature importance)</a:t>
            </a:r>
          </a:p>
        </p:txBody>
      </p:sp>
      <p:sp>
        <p:nvSpPr>
          <p:cNvPr id="7" name="TextBox 6">
            <a:extLst>
              <a:ext uri="{FF2B5EF4-FFF2-40B4-BE49-F238E27FC236}">
                <a16:creationId xmlns:a16="http://schemas.microsoft.com/office/drawing/2014/main" id="{E4A89485-FA50-BF40-E251-04226875C4B4}"/>
              </a:ext>
            </a:extLst>
          </p:cNvPr>
          <p:cNvSpPr txBox="1"/>
          <p:nvPr/>
        </p:nvSpPr>
        <p:spPr>
          <a:xfrm>
            <a:off x="4109579" y="2799554"/>
            <a:ext cx="4855293" cy="646331"/>
          </a:xfrm>
          <a:prstGeom prst="rect">
            <a:avLst/>
          </a:prstGeom>
          <a:noFill/>
        </p:spPr>
        <p:txBody>
          <a:bodyPr wrap="square" rtlCol="0">
            <a:spAutoFit/>
          </a:bodyPr>
          <a:lstStyle/>
          <a:p>
            <a:r>
              <a:rPr lang="en-US" b="1" dirty="0"/>
              <a:t>Heuristic baseline </a:t>
            </a:r>
            <a:r>
              <a:rPr lang="en-US" dirty="0"/>
              <a:t>time series (i.e., a subset of raw SP time series based on heuristic thresholds)</a:t>
            </a:r>
          </a:p>
        </p:txBody>
      </p:sp>
      <p:sp>
        <p:nvSpPr>
          <p:cNvPr id="8" name="TextBox 7">
            <a:extLst>
              <a:ext uri="{FF2B5EF4-FFF2-40B4-BE49-F238E27FC236}">
                <a16:creationId xmlns:a16="http://schemas.microsoft.com/office/drawing/2014/main" id="{2B2D8525-B767-2F0A-CB4C-700B517AB432}"/>
              </a:ext>
            </a:extLst>
          </p:cNvPr>
          <p:cNvSpPr txBox="1"/>
          <p:nvPr/>
        </p:nvSpPr>
        <p:spPr>
          <a:xfrm>
            <a:off x="9340652" y="1699780"/>
            <a:ext cx="2481415" cy="646331"/>
          </a:xfrm>
          <a:prstGeom prst="rect">
            <a:avLst/>
          </a:prstGeom>
          <a:noFill/>
        </p:spPr>
        <p:txBody>
          <a:bodyPr wrap="square" rtlCol="0">
            <a:spAutoFit/>
          </a:bodyPr>
          <a:lstStyle/>
          <a:p>
            <a:r>
              <a:rPr lang="en-US" dirty="0"/>
              <a:t>Built-in flexibility to be CRID or pass adaptive</a:t>
            </a:r>
          </a:p>
        </p:txBody>
      </p:sp>
      <p:sp>
        <p:nvSpPr>
          <p:cNvPr id="10" name="TextBox 9">
            <a:extLst>
              <a:ext uri="{FF2B5EF4-FFF2-40B4-BE49-F238E27FC236}">
                <a16:creationId xmlns:a16="http://schemas.microsoft.com/office/drawing/2014/main" id="{E3473A09-7BD4-D2B7-95B0-5CD63C065BC5}"/>
              </a:ext>
            </a:extLst>
          </p:cNvPr>
          <p:cNvSpPr txBox="1"/>
          <p:nvPr/>
        </p:nvSpPr>
        <p:spPr>
          <a:xfrm>
            <a:off x="954494" y="5293359"/>
            <a:ext cx="459658" cy="369332"/>
          </a:xfrm>
          <a:prstGeom prst="rect">
            <a:avLst/>
          </a:prstGeom>
          <a:noFill/>
        </p:spPr>
        <p:txBody>
          <a:bodyPr wrap="square" rtlCol="0">
            <a:spAutoFit/>
          </a:bodyPr>
          <a:lstStyle/>
          <a:p>
            <a:r>
              <a:rPr lang="en-US" dirty="0"/>
              <a:t>no</a:t>
            </a:r>
          </a:p>
        </p:txBody>
      </p:sp>
      <p:sp>
        <p:nvSpPr>
          <p:cNvPr id="11" name="TextBox 10">
            <a:extLst>
              <a:ext uri="{FF2B5EF4-FFF2-40B4-BE49-F238E27FC236}">
                <a16:creationId xmlns:a16="http://schemas.microsoft.com/office/drawing/2014/main" id="{B5EF711D-CA38-0201-D408-4D207805A24A}"/>
              </a:ext>
            </a:extLst>
          </p:cNvPr>
          <p:cNvSpPr txBox="1"/>
          <p:nvPr/>
        </p:nvSpPr>
        <p:spPr>
          <a:xfrm>
            <a:off x="208472" y="5949735"/>
            <a:ext cx="1951703" cy="369332"/>
          </a:xfrm>
          <a:prstGeom prst="rect">
            <a:avLst/>
          </a:prstGeom>
          <a:noFill/>
        </p:spPr>
        <p:txBody>
          <a:bodyPr wrap="square" rtlCol="0">
            <a:spAutoFit/>
          </a:bodyPr>
          <a:lstStyle/>
          <a:p>
            <a:r>
              <a:rPr lang="en-US" dirty="0"/>
              <a:t>Abandon this lake</a:t>
            </a:r>
          </a:p>
        </p:txBody>
      </p:sp>
      <p:sp>
        <p:nvSpPr>
          <p:cNvPr id="12" name="TextBox 11">
            <a:extLst>
              <a:ext uri="{FF2B5EF4-FFF2-40B4-BE49-F238E27FC236}">
                <a16:creationId xmlns:a16="http://schemas.microsoft.com/office/drawing/2014/main" id="{31FE4892-F720-A6AB-2FED-32D371370E7C}"/>
              </a:ext>
            </a:extLst>
          </p:cNvPr>
          <p:cNvSpPr txBox="1"/>
          <p:nvPr/>
        </p:nvSpPr>
        <p:spPr>
          <a:xfrm>
            <a:off x="2160174" y="5297223"/>
            <a:ext cx="673509" cy="36933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47BF595C-F86D-6A09-C1C2-ACBF623AA643}"/>
              </a:ext>
            </a:extLst>
          </p:cNvPr>
          <p:cNvSpPr txBox="1"/>
          <p:nvPr/>
        </p:nvSpPr>
        <p:spPr>
          <a:xfrm>
            <a:off x="3317420" y="4527115"/>
            <a:ext cx="1990566" cy="1200329"/>
          </a:xfrm>
          <a:prstGeom prst="rect">
            <a:avLst/>
          </a:prstGeom>
          <a:noFill/>
        </p:spPr>
        <p:txBody>
          <a:bodyPr wrap="square" rtlCol="0">
            <a:spAutoFit/>
          </a:bodyPr>
          <a:lstStyle/>
          <a:p>
            <a:r>
              <a:rPr lang="en-US" dirty="0"/>
              <a:t>Apply a round-1 (more aggressive) iterative </a:t>
            </a:r>
            <a:r>
              <a:rPr lang="en-US" b="1" dirty="0"/>
              <a:t>low-pass filter</a:t>
            </a:r>
            <a:r>
              <a:rPr lang="en-US" dirty="0"/>
              <a:t>. </a:t>
            </a:r>
          </a:p>
        </p:txBody>
      </p:sp>
      <p:sp>
        <p:nvSpPr>
          <p:cNvPr id="14" name="TextBox 13">
            <a:extLst>
              <a:ext uri="{FF2B5EF4-FFF2-40B4-BE49-F238E27FC236}">
                <a16:creationId xmlns:a16="http://schemas.microsoft.com/office/drawing/2014/main" id="{888E42C2-3ABB-F796-7457-F05FAC1B3CF9}"/>
              </a:ext>
            </a:extLst>
          </p:cNvPr>
          <p:cNvSpPr txBox="1"/>
          <p:nvPr/>
        </p:nvSpPr>
        <p:spPr>
          <a:xfrm>
            <a:off x="9601788" y="3977241"/>
            <a:ext cx="2328126" cy="1569660"/>
          </a:xfrm>
          <a:prstGeom prst="rect">
            <a:avLst/>
          </a:prstGeom>
          <a:noFill/>
        </p:spPr>
        <p:txBody>
          <a:bodyPr wrap="square" rtlCol="0">
            <a:spAutoFit/>
          </a:bodyPr>
          <a:lstStyle/>
          <a:p>
            <a:r>
              <a:rPr lang="en-US" sz="1600" dirty="0"/>
              <a:t>Option to reintroduce high-quality observations removed by round 1, and apply a round-2 (less aggressive) iterative low-pass filter</a:t>
            </a:r>
          </a:p>
        </p:txBody>
      </p:sp>
      <p:sp>
        <p:nvSpPr>
          <p:cNvPr id="16" name="TextBox 15">
            <a:extLst>
              <a:ext uri="{FF2B5EF4-FFF2-40B4-BE49-F238E27FC236}">
                <a16:creationId xmlns:a16="http://schemas.microsoft.com/office/drawing/2014/main" id="{7D421A74-E2F7-D9BE-C7C5-FEA3FF3DC918}"/>
              </a:ext>
            </a:extLst>
          </p:cNvPr>
          <p:cNvSpPr txBox="1"/>
          <p:nvPr/>
        </p:nvSpPr>
        <p:spPr>
          <a:xfrm>
            <a:off x="5879684" y="3658199"/>
            <a:ext cx="3333002" cy="1477328"/>
          </a:xfrm>
          <a:prstGeom prst="rect">
            <a:avLst/>
          </a:prstGeom>
          <a:noFill/>
        </p:spPr>
        <p:txBody>
          <a:bodyPr wrap="square" rtlCol="0">
            <a:spAutoFit/>
          </a:bodyPr>
          <a:lstStyle/>
          <a:p>
            <a:r>
              <a:rPr lang="en-US" dirty="0"/>
              <a:t>Each iteration includes: </a:t>
            </a:r>
          </a:p>
          <a:p>
            <a:pPr marL="285750" indent="-285750">
              <a:buFont typeface="Arial" panose="020B0604020202020204" pitchFamily="34" charset="0"/>
              <a:buChar char="•"/>
            </a:pPr>
            <a:r>
              <a:rPr lang="en-US" dirty="0"/>
              <a:t>Low-pass filtering </a:t>
            </a:r>
          </a:p>
          <a:p>
            <a:pPr marL="285750" indent="-285750">
              <a:buFont typeface="Arial" panose="020B0604020202020204" pitchFamily="34" charset="0"/>
              <a:buChar char="•"/>
            </a:pPr>
            <a:r>
              <a:rPr lang="en-US" dirty="0"/>
              <a:t>Remove positive ice anomalies</a:t>
            </a:r>
          </a:p>
          <a:p>
            <a:pPr marL="285750" indent="-285750">
              <a:buFont typeface="Arial" panose="020B0604020202020204" pitchFamily="34" charset="0"/>
              <a:buChar char="•"/>
            </a:pPr>
            <a:r>
              <a:rPr lang="en-US" dirty="0"/>
              <a:t>Remove remaining extreme outliers (Tukey’s test)</a:t>
            </a:r>
          </a:p>
        </p:txBody>
      </p:sp>
      <p:sp>
        <p:nvSpPr>
          <p:cNvPr id="17" name="TextBox 16">
            <a:extLst>
              <a:ext uri="{FF2B5EF4-FFF2-40B4-BE49-F238E27FC236}">
                <a16:creationId xmlns:a16="http://schemas.microsoft.com/office/drawing/2014/main" id="{22EDDEB7-EE55-7A34-A45C-71103E7E87DA}"/>
              </a:ext>
            </a:extLst>
          </p:cNvPr>
          <p:cNvSpPr txBox="1"/>
          <p:nvPr/>
        </p:nvSpPr>
        <p:spPr>
          <a:xfrm>
            <a:off x="5636680" y="5382285"/>
            <a:ext cx="3806312" cy="646331"/>
          </a:xfrm>
          <a:prstGeom prst="rect">
            <a:avLst/>
          </a:prstGeom>
          <a:noFill/>
        </p:spPr>
        <p:txBody>
          <a:bodyPr wrap="square" rtlCol="0">
            <a:spAutoFit/>
          </a:bodyPr>
          <a:lstStyle/>
          <a:p>
            <a:r>
              <a:rPr lang="en-US" dirty="0"/>
              <a:t>Remove significant WSE inconsistency due to by multiple overpasses</a:t>
            </a:r>
          </a:p>
        </p:txBody>
      </p:sp>
      <p:cxnSp>
        <p:nvCxnSpPr>
          <p:cNvPr id="20" name="Connector: Elbow 19">
            <a:extLst>
              <a:ext uri="{FF2B5EF4-FFF2-40B4-BE49-F238E27FC236}">
                <a16:creationId xmlns:a16="http://schemas.microsoft.com/office/drawing/2014/main" id="{DBB4CB3B-D31A-ADBB-64B3-D9E5D4994EFB}"/>
              </a:ext>
            </a:extLst>
          </p:cNvPr>
          <p:cNvCxnSpPr>
            <a:cxnSpLocks/>
            <a:stCxn id="4" idx="3"/>
            <a:endCxn id="5" idx="1"/>
          </p:cNvCxnSpPr>
          <p:nvPr/>
        </p:nvCxnSpPr>
        <p:spPr>
          <a:xfrm flipV="1">
            <a:off x="3110681" y="1344456"/>
            <a:ext cx="526031" cy="1404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76EDCCC9-F863-5121-99DF-951410BBCFE5}"/>
              </a:ext>
            </a:extLst>
          </p:cNvPr>
          <p:cNvCxnSpPr>
            <a:cxnSpLocks/>
            <a:stCxn id="5" idx="2"/>
            <a:endCxn id="6" idx="0"/>
          </p:cNvCxnSpPr>
          <p:nvPr/>
        </p:nvCxnSpPr>
        <p:spPr>
          <a:xfrm rot="5400000">
            <a:off x="5542359" y="1474934"/>
            <a:ext cx="234371" cy="61974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741CF78F-5727-7CB7-7065-EFC4CE02AB01}"/>
              </a:ext>
            </a:extLst>
          </p:cNvPr>
          <p:cNvCxnSpPr>
            <a:cxnSpLocks/>
            <a:stCxn id="8" idx="1"/>
            <a:endCxn id="6" idx="3"/>
          </p:cNvCxnSpPr>
          <p:nvPr/>
        </p:nvCxnSpPr>
        <p:spPr>
          <a:xfrm rot="10800000" flipV="1">
            <a:off x="8605074" y="2022946"/>
            <a:ext cx="735579" cy="2022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2D87BEDA-072F-3516-BDCA-3CB9442819CC}"/>
              </a:ext>
            </a:extLst>
          </p:cNvPr>
          <p:cNvCxnSpPr>
            <a:cxnSpLocks/>
            <a:stCxn id="6" idx="2"/>
            <a:endCxn id="7" idx="0"/>
          </p:cNvCxnSpPr>
          <p:nvPr/>
        </p:nvCxnSpPr>
        <p:spPr>
          <a:xfrm rot="16200000" flipH="1">
            <a:off x="5817834" y="2080161"/>
            <a:ext cx="251231" cy="11875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FC09FB1E-904B-A452-EFF7-A578E3E301F2}"/>
              </a:ext>
            </a:extLst>
          </p:cNvPr>
          <p:cNvSpPr txBox="1"/>
          <p:nvPr/>
        </p:nvSpPr>
        <p:spPr>
          <a:xfrm>
            <a:off x="296962" y="2981385"/>
            <a:ext cx="3203939" cy="1323439"/>
          </a:xfrm>
          <a:prstGeom prst="rect">
            <a:avLst/>
          </a:prstGeom>
          <a:noFill/>
        </p:spPr>
        <p:txBody>
          <a:bodyPr wrap="square" rtlCol="0">
            <a:spAutoFit/>
          </a:bodyPr>
          <a:lstStyle/>
          <a:p>
            <a:r>
              <a:rPr lang="en-US" sz="1600" dirty="0"/>
              <a:t>Check if the heuristic baseline is temporally representative: </a:t>
            </a:r>
          </a:p>
          <a:p>
            <a:pPr marL="285750" indent="-285750">
              <a:buFont typeface="Arial" panose="020B0604020202020204" pitchFamily="34" charset="0"/>
              <a:buChar char="•"/>
            </a:pPr>
            <a:r>
              <a:rPr lang="en-US" sz="1600" dirty="0"/>
              <a:t>no major gaps (&gt; 3 months), </a:t>
            </a:r>
          </a:p>
          <a:p>
            <a:pPr marL="285750" indent="-285750">
              <a:buFont typeface="Arial" panose="020B0604020202020204" pitchFamily="34" charset="0"/>
              <a:buChar char="•"/>
            </a:pPr>
            <a:r>
              <a:rPr lang="en-US" sz="1600" dirty="0"/>
              <a:t>requiring no major extrapolation (&gt; 20% of the time range)</a:t>
            </a:r>
          </a:p>
        </p:txBody>
      </p:sp>
      <p:cxnSp>
        <p:nvCxnSpPr>
          <p:cNvPr id="55" name="Connector: Elbow 54">
            <a:extLst>
              <a:ext uri="{FF2B5EF4-FFF2-40B4-BE49-F238E27FC236}">
                <a16:creationId xmlns:a16="http://schemas.microsoft.com/office/drawing/2014/main" id="{11E1A628-138D-41FA-AD6D-CD8B45DBE5FC}"/>
              </a:ext>
            </a:extLst>
          </p:cNvPr>
          <p:cNvCxnSpPr>
            <a:cxnSpLocks/>
            <a:stCxn id="7" idx="1"/>
            <a:endCxn id="54" idx="3"/>
          </p:cNvCxnSpPr>
          <p:nvPr/>
        </p:nvCxnSpPr>
        <p:spPr>
          <a:xfrm rot="10800000" flipV="1">
            <a:off x="3500901" y="3122719"/>
            <a:ext cx="608678" cy="52038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B4654E96-EA40-2419-344E-49D252363BDE}"/>
              </a:ext>
            </a:extLst>
          </p:cNvPr>
          <p:cNvCxnSpPr>
            <a:cxnSpLocks/>
            <a:stCxn id="54" idx="2"/>
            <a:endCxn id="10" idx="0"/>
          </p:cNvCxnSpPr>
          <p:nvPr/>
        </p:nvCxnSpPr>
        <p:spPr>
          <a:xfrm rot="5400000">
            <a:off x="1047361" y="4441787"/>
            <a:ext cx="988535" cy="7146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49336A31-5A63-6932-1542-369B80E89FAD}"/>
              </a:ext>
            </a:extLst>
          </p:cNvPr>
          <p:cNvCxnSpPr>
            <a:cxnSpLocks/>
            <a:stCxn id="10" idx="2"/>
            <a:endCxn id="11" idx="0"/>
          </p:cNvCxnSpPr>
          <p:nvPr/>
        </p:nvCxnSpPr>
        <p:spPr>
          <a:xfrm rot="16200000" flipH="1">
            <a:off x="1040801" y="5806212"/>
            <a:ext cx="287044"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2C9BAB34-E5D3-C97E-0326-BD846D98CD08}"/>
              </a:ext>
            </a:extLst>
          </p:cNvPr>
          <p:cNvCxnSpPr>
            <a:cxnSpLocks/>
            <a:stCxn id="54" idx="2"/>
            <a:endCxn id="12" idx="0"/>
          </p:cNvCxnSpPr>
          <p:nvPr/>
        </p:nvCxnSpPr>
        <p:spPr>
          <a:xfrm rot="16200000" flipH="1">
            <a:off x="1701731" y="4502024"/>
            <a:ext cx="992399" cy="59799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61EDAEB8-3D2E-A9AE-3502-895CBF2A02DC}"/>
              </a:ext>
            </a:extLst>
          </p:cNvPr>
          <p:cNvCxnSpPr>
            <a:cxnSpLocks/>
            <a:stCxn id="12" idx="3"/>
            <a:endCxn id="13" idx="1"/>
          </p:cNvCxnSpPr>
          <p:nvPr/>
        </p:nvCxnSpPr>
        <p:spPr>
          <a:xfrm flipV="1">
            <a:off x="2833683" y="5127280"/>
            <a:ext cx="483737" cy="3546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2232868F-411A-0023-2E87-4548A06D8BF1}"/>
              </a:ext>
            </a:extLst>
          </p:cNvPr>
          <p:cNvCxnSpPr>
            <a:cxnSpLocks/>
            <a:stCxn id="13" idx="3"/>
            <a:endCxn id="16" idx="1"/>
          </p:cNvCxnSpPr>
          <p:nvPr/>
        </p:nvCxnSpPr>
        <p:spPr>
          <a:xfrm flipV="1">
            <a:off x="5307986" y="4396863"/>
            <a:ext cx="571698" cy="73041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EEF88EA2-B778-471B-012D-87427E9E00F0}"/>
              </a:ext>
            </a:extLst>
          </p:cNvPr>
          <p:cNvCxnSpPr>
            <a:cxnSpLocks/>
            <a:stCxn id="14" idx="1"/>
            <a:endCxn id="16" idx="3"/>
          </p:cNvCxnSpPr>
          <p:nvPr/>
        </p:nvCxnSpPr>
        <p:spPr>
          <a:xfrm rot="10800000">
            <a:off x="9212686" y="4396863"/>
            <a:ext cx="389102" cy="3652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39045AAB-B620-1E5C-896D-FB84756729E2}"/>
              </a:ext>
            </a:extLst>
          </p:cNvPr>
          <p:cNvCxnSpPr>
            <a:cxnSpLocks/>
            <a:stCxn id="16" idx="2"/>
            <a:endCxn id="17" idx="0"/>
          </p:cNvCxnSpPr>
          <p:nvPr/>
        </p:nvCxnSpPr>
        <p:spPr>
          <a:xfrm rot="5400000">
            <a:off x="7419632" y="5255732"/>
            <a:ext cx="246758" cy="63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FC850FF9-171C-0B82-56E3-88928462843D}"/>
              </a:ext>
            </a:extLst>
          </p:cNvPr>
          <p:cNvSpPr txBox="1"/>
          <p:nvPr/>
        </p:nvSpPr>
        <p:spPr>
          <a:xfrm>
            <a:off x="6152975" y="6275374"/>
            <a:ext cx="2786422" cy="369332"/>
          </a:xfrm>
          <a:prstGeom prst="rect">
            <a:avLst/>
          </a:prstGeom>
          <a:noFill/>
        </p:spPr>
        <p:txBody>
          <a:bodyPr wrap="square" rtlCol="0">
            <a:spAutoFit/>
          </a:bodyPr>
          <a:lstStyle/>
          <a:p>
            <a:r>
              <a:rPr lang="en-US" dirty="0"/>
              <a:t>Final filtered SP time series</a:t>
            </a:r>
          </a:p>
        </p:txBody>
      </p:sp>
      <p:cxnSp>
        <p:nvCxnSpPr>
          <p:cNvPr id="191" name="Connector: Elbow 190">
            <a:extLst>
              <a:ext uri="{FF2B5EF4-FFF2-40B4-BE49-F238E27FC236}">
                <a16:creationId xmlns:a16="http://schemas.microsoft.com/office/drawing/2014/main" id="{A17E5C99-2EA1-0E97-26EE-D84BFFCE120F}"/>
              </a:ext>
            </a:extLst>
          </p:cNvPr>
          <p:cNvCxnSpPr>
            <a:cxnSpLocks/>
            <a:stCxn id="17" idx="2"/>
            <a:endCxn id="189" idx="0"/>
          </p:cNvCxnSpPr>
          <p:nvPr/>
        </p:nvCxnSpPr>
        <p:spPr>
          <a:xfrm rot="16200000" flipH="1">
            <a:off x="7419632" y="6148820"/>
            <a:ext cx="246758" cy="63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03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035F50-4920-F337-FE29-133C42666BE8}"/>
              </a:ext>
            </a:extLst>
          </p:cNvPr>
          <p:cNvSpPr>
            <a:spLocks noChangeArrowheads="1"/>
          </p:cNvSpPr>
          <p:nvPr/>
        </p:nvSpPr>
        <p:spPr bwMode="auto">
          <a:xfrm>
            <a:off x="3249613" y="410946"/>
            <a:ext cx="6151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DengXian" panose="02010600030101010101" pitchFamily="2" charset="-122"/>
                <a:cs typeface="Arial" panose="020B0604020202020204" pitchFamily="34" charset="0"/>
              </a:rPr>
              <a:t>Random forest test for feature importance</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4" name="Picture 3" descr="A graph with blue bars&#10;&#10;AI-generated content may be incorrect.">
            <a:extLst>
              <a:ext uri="{FF2B5EF4-FFF2-40B4-BE49-F238E27FC236}">
                <a16:creationId xmlns:a16="http://schemas.microsoft.com/office/drawing/2014/main" id="{C65C8326-E7FA-D426-4D00-2DD3BF2E39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461" y="1028343"/>
            <a:ext cx="8423864" cy="5264915"/>
          </a:xfrm>
          <a:prstGeom prst="rect">
            <a:avLst/>
          </a:prstGeom>
        </p:spPr>
      </p:pic>
      <p:sp>
        <p:nvSpPr>
          <p:cNvPr id="8" name="TextBox 7">
            <a:extLst>
              <a:ext uri="{FF2B5EF4-FFF2-40B4-BE49-F238E27FC236}">
                <a16:creationId xmlns:a16="http://schemas.microsoft.com/office/drawing/2014/main" id="{0B3BBAA7-68AA-657A-FFDE-87FBF3B3C4D0}"/>
              </a:ext>
            </a:extLst>
          </p:cNvPr>
          <p:cNvSpPr txBox="1"/>
          <p:nvPr/>
        </p:nvSpPr>
        <p:spPr>
          <a:xfrm>
            <a:off x="392522" y="1675641"/>
            <a:ext cx="3308939" cy="369331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In addition to “</a:t>
            </a:r>
            <a:r>
              <a:rPr lang="en-US" dirty="0" err="1">
                <a:latin typeface="Arial" panose="020B0604020202020204" pitchFamily="34" charset="0"/>
                <a:cs typeface="Arial" panose="020B0604020202020204" pitchFamily="34" charset="0"/>
              </a:rPr>
              <a:t>wse_std</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xtrk_dist</a:t>
            </a:r>
            <a:r>
              <a:rPr lang="en-US" dirty="0">
                <a:latin typeface="Arial" panose="020B0604020202020204" pitchFamily="34" charset="0"/>
                <a:cs typeface="Arial" panose="020B0604020202020204" pitchFamily="34" charset="0"/>
              </a:rPr>
              <a:t>” turned out to be another important feature, probably related to specular ringing or other errors near the nadir.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We may need to include “</a:t>
            </a:r>
            <a:r>
              <a:rPr lang="en-US" dirty="0" err="1">
                <a:latin typeface="Arial" panose="020B0604020202020204" pitchFamily="34" charset="0"/>
                <a:cs typeface="Arial" panose="020B0604020202020204" pitchFamily="34" charset="0"/>
              </a:rPr>
              <a:t>xtrk_dist</a:t>
            </a:r>
            <a:r>
              <a:rPr lang="en-US" dirty="0">
                <a:latin typeface="Arial" panose="020B0604020202020204" pitchFamily="34" charset="0"/>
                <a:cs typeface="Arial" panose="020B0604020202020204" pitchFamily="34" charset="0"/>
              </a:rPr>
              <a:t>” as another metric to calibrate heuristic thresholds.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Any voluntary help for this will be appreciated!</a:t>
            </a:r>
          </a:p>
        </p:txBody>
      </p:sp>
    </p:spTree>
    <p:extLst>
      <p:ext uri="{BB962C8B-B14F-4D97-AF65-F5344CB8AC3E}">
        <p14:creationId xmlns:p14="http://schemas.microsoft.com/office/powerpoint/2010/main" val="2465902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lage of graphs&#10;&#10;AI-generated content may be incorrect.">
            <a:extLst>
              <a:ext uri="{FF2B5EF4-FFF2-40B4-BE49-F238E27FC236}">
                <a16:creationId xmlns:a16="http://schemas.microsoft.com/office/drawing/2014/main" id="{22F5A476-A387-9221-678F-EEB8278590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048" y="0"/>
            <a:ext cx="6858000" cy="6858000"/>
          </a:xfrm>
          <a:prstGeom prst="rect">
            <a:avLst/>
          </a:prstGeom>
        </p:spPr>
      </p:pic>
      <p:sp>
        <p:nvSpPr>
          <p:cNvPr id="8" name="TextBox 7">
            <a:extLst>
              <a:ext uri="{FF2B5EF4-FFF2-40B4-BE49-F238E27FC236}">
                <a16:creationId xmlns:a16="http://schemas.microsoft.com/office/drawing/2014/main" id="{82F19FE5-64CA-93C7-3CF6-43CABFCB8713}"/>
              </a:ext>
            </a:extLst>
          </p:cNvPr>
          <p:cNvSpPr txBox="1"/>
          <p:nvPr/>
        </p:nvSpPr>
        <p:spPr>
          <a:xfrm>
            <a:off x="310955" y="146268"/>
            <a:ext cx="4071068" cy="68941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Result based on all 1068 lakes (script v7)</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84.1% (898) of these 1068 lakes passed the retention criteria after filtering:</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700" dirty="0">
                <a:solidFill>
                  <a:prstClr val="black"/>
                </a:solidFill>
                <a:latin typeface="Calibri" panose="020F0502020204030204"/>
              </a:rPr>
              <a:t>Maximum temporal gap &lt; 3 months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Proportion of time series requiring extrapolation &lt; 80%</a:t>
            </a:r>
          </a:p>
          <a:p>
            <a:pPr marR="0" lvl="0" algn="l" defTabSz="914400" rtl="0" eaLnBrk="1" fontAlgn="auto" latinLnBrk="0" hangingPunct="1">
              <a:lnSpc>
                <a:spcPct val="100000"/>
              </a:lnSpc>
              <a:spcBef>
                <a:spcPts val="0"/>
              </a:spcBef>
              <a:spcAft>
                <a:spcPts val="0"/>
              </a:spcAft>
              <a:buClrTx/>
              <a:buSzTx/>
              <a:tabLst/>
              <a:defRPr/>
            </a:pPr>
            <a:r>
              <a:rPr lang="en-US" sz="1700" dirty="0">
                <a:solidFill>
                  <a:prstClr val="black"/>
                </a:solidFill>
                <a:latin typeface="Calibri" panose="020F0502020204030204"/>
              </a:rPr>
              <a:t>For a fair “apples-to-apples” comparison, statistics are computed based on these 84.1% of the lakes. Including the remaining 15.9% of the lakes in the plot will only further deteriorate the statistics for raw </a:t>
            </a:r>
            <a:r>
              <a:rPr lang="en-US" sz="1700" dirty="0" err="1">
                <a:solidFill>
                  <a:prstClr val="black"/>
                </a:solidFill>
                <a:latin typeface="Calibri" panose="020F0502020204030204"/>
              </a:rPr>
              <a:t>LakeSP</a:t>
            </a:r>
            <a:r>
              <a:rPr lang="en-US" sz="1700" dirty="0">
                <a:solidFill>
                  <a:prstClr val="black"/>
                </a:solidFill>
                <a:latin typeface="Calibri" panose="020F0502020204030204"/>
              </a:rPr>
              <a:t> and the two CNES baselines. </a:t>
            </a:r>
          </a:p>
          <a:p>
            <a:pPr marR="0" lvl="0" algn="l" defTabSz="914400" rtl="0" eaLnBrk="1" fontAlgn="auto" latinLnBrk="0" hangingPunct="1">
              <a:lnSpc>
                <a:spcPct val="100000"/>
              </a:lnSpc>
              <a:spcBef>
                <a:spcPts val="0"/>
              </a:spcBef>
              <a:spcAft>
                <a:spcPts val="0"/>
              </a:spcAft>
              <a:buClrTx/>
              <a:buSzTx/>
              <a:tabLst/>
              <a:defRPr/>
            </a:pPr>
            <a:endParaRPr lang="en-US" sz="1700"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Compared to raw </a:t>
            </a:r>
            <a:r>
              <a:rPr kumimoji="0" lang="en-US" sz="1700" b="0" i="0" u="none" strike="noStrike" kern="1200" cap="none" spc="0" normalizeH="0" baseline="0" noProof="0" dirty="0" err="1">
                <a:ln>
                  <a:noFill/>
                </a:ln>
                <a:solidFill>
                  <a:prstClr val="black"/>
                </a:solidFill>
                <a:effectLst/>
                <a:uLnTx/>
                <a:uFillTx/>
                <a:latin typeface="Calibri" panose="020F0502020204030204"/>
                <a:ea typeface="+mn-ea"/>
                <a:cs typeface="+mn-cs"/>
              </a:rPr>
              <a:t>LakeSP</a:t>
            </a: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 and the two CNES baselines (see Slide 20 for definition), the customized filter (red) improved every one of the four metrics: RMSE, relative error in annual WSE variability, Pearson correlation, and retention rate. </a:t>
            </a:r>
          </a:p>
          <a:p>
            <a:pPr marR="0" lvl="0" algn="l" defTabSz="914400" rtl="0" eaLnBrk="1" fontAlgn="auto" latinLnBrk="0" hangingPunct="1">
              <a:lnSpc>
                <a:spcPct val="100000"/>
              </a:lnSpc>
              <a:spcBef>
                <a:spcPts val="0"/>
              </a:spcBef>
              <a:spcAft>
                <a:spcPts val="0"/>
              </a:spcAft>
              <a:buClrTx/>
              <a:buSzTx/>
              <a:tabLst/>
              <a:defRPr/>
            </a:pPr>
            <a:endParaRPr lang="en-US" sz="1700"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lang="en-US" sz="1700" dirty="0">
                <a:solidFill>
                  <a:prstClr val="black"/>
                </a:solidFill>
                <a:latin typeface="Calibri" panose="020F0502020204030204"/>
              </a:rPr>
              <a:t>Some outliers remain, and most could be attributed to ice-related impacts, and part of them may also come from gauge data errors.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2AA3305-C64A-B358-E90D-31037E722674}"/>
              </a:ext>
            </a:extLst>
          </p:cNvPr>
          <p:cNvSpPr txBox="1"/>
          <p:nvPr/>
        </p:nvSpPr>
        <p:spPr>
          <a:xfrm>
            <a:off x="10554223" y="1392628"/>
            <a:ext cx="1513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err = 12.6%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31.0%</a:t>
            </a:r>
          </a:p>
        </p:txBody>
      </p:sp>
    </p:spTree>
    <p:extLst>
      <p:ext uri="{BB962C8B-B14F-4D97-AF65-F5344CB8AC3E}">
        <p14:creationId xmlns:p14="http://schemas.microsoft.com/office/powerpoint/2010/main" val="3204866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1. Quality control on gauge data:</a:t>
            </a:r>
          </a:p>
          <a:p>
            <a:pPr lvl="1"/>
            <a:r>
              <a:rPr lang="en-US" dirty="0"/>
              <a:t>Particularly, please make sure each gauge matches the correct PLD lake ID.</a:t>
            </a:r>
          </a:p>
          <a:p>
            <a:pPr lvl="1"/>
            <a:r>
              <a:rPr lang="en-US" dirty="0"/>
              <a:t>If there are multiple gauges for one PLD lake, avoid the gauge in the upstream “river” section of the lake – where WSE could be impacted by backwater or reflects the river changes instead of the lake variation. </a:t>
            </a:r>
          </a:p>
          <a:p>
            <a:pPr lvl="1"/>
            <a:r>
              <a:rPr lang="en-US" dirty="0"/>
              <a:t>Remove noises in the existing gauge data (I spotted and corrected a few cases but other errors may remain).</a:t>
            </a:r>
          </a:p>
        </p:txBody>
      </p:sp>
    </p:spTree>
    <p:extLst>
      <p:ext uri="{BB962C8B-B14F-4D97-AF65-F5344CB8AC3E}">
        <p14:creationId xmlns:p14="http://schemas.microsoft.com/office/powerpoint/2010/main" val="2723263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fontScale="92500" lnSpcReduction="10000"/>
          </a:bodyPr>
          <a:lstStyle/>
          <a:p>
            <a:pPr marL="0" indent="0">
              <a:buNone/>
            </a:pPr>
            <a:r>
              <a:rPr lang="en-US" dirty="0"/>
              <a:t>2. Further minimize ice impacts:</a:t>
            </a:r>
          </a:p>
          <a:p>
            <a:pPr lvl="1"/>
            <a:r>
              <a:rPr lang="en-US" dirty="0"/>
              <a:t>Ice impacts are challenging and can lead to both over- and under-estimation of the lake WSE. Particularly, ice-induced WSE underestimation can falsely increase the annual WSE variability, which is probably the most important remaining error source now. We need voluntary contributions to look into the script and help reduce such impacts. Note we can’t just remove all ice observations as some represent valid/accurate signals such as reservoir drawdowns. </a:t>
            </a:r>
          </a:p>
          <a:p>
            <a:pPr lvl="1"/>
            <a:r>
              <a:rPr lang="en-US" dirty="0"/>
              <a:t>Another challenge is that some gauges are non-operational during winter or freeze-up periods, under the assumption of minimal hydrological activity – despite the possibility of reservoir drawdowns. These seasonal gauge data gaps introduce uncertainty in the evaluation of ice impacts. To validate seasonal WSE variability, we simply interpolated the gauge data to generate continuous daily time series. However, we are not certain if this was the most appropriate way (needs someone to critically review the script.</a:t>
            </a:r>
          </a:p>
        </p:txBody>
      </p:sp>
    </p:spTree>
    <p:extLst>
      <p:ext uri="{BB962C8B-B14F-4D97-AF65-F5344CB8AC3E}">
        <p14:creationId xmlns:p14="http://schemas.microsoft.com/office/powerpoint/2010/main" val="467011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3. Challenges to capture freshets</a:t>
            </a:r>
          </a:p>
          <a:p>
            <a:pPr lvl="1"/>
            <a:r>
              <a:rPr lang="en-US" dirty="0"/>
              <a:t>Preserving freshet-induced WSE jumps, particularly those caused by snowmelt, remains a challenge. These events are often excluded from the heuristic baseline due to high values of </a:t>
            </a:r>
            <a:r>
              <a:rPr lang="en-US" dirty="0" err="1"/>
              <a:t>WSE_std</a:t>
            </a:r>
            <a:r>
              <a:rPr lang="en-US" dirty="0"/>
              <a:t>, </a:t>
            </a:r>
            <a:r>
              <a:rPr lang="en-US" dirty="0" err="1"/>
              <a:t>WSE_u</a:t>
            </a:r>
            <a:r>
              <a:rPr lang="en-US" dirty="0"/>
              <a:t>, or poor </a:t>
            </a:r>
            <a:r>
              <a:rPr lang="en-US" dirty="0" err="1"/>
              <a:t>xovr_cal_q</a:t>
            </a:r>
            <a:r>
              <a:rPr lang="en-US" dirty="0"/>
              <a:t>, among other factors. Alternatively, they may be inadvertently filtered out by the low-pass filter, as such isolated jumps can resemble statistical outliers. For example, in many cases, we wouldn't even recognize them as valid observations without gauge confirmation. We would greatly appreciate any voluntary help in reviewing the script and improving the preservation of these critical freshet-driven WSE signals (see examples in the next couple of slides). </a:t>
            </a:r>
          </a:p>
        </p:txBody>
      </p:sp>
    </p:spTree>
    <p:extLst>
      <p:ext uri="{BB962C8B-B14F-4D97-AF65-F5344CB8AC3E}">
        <p14:creationId xmlns:p14="http://schemas.microsoft.com/office/powerpoint/2010/main" val="12619349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colorful lines&#10;&#10;AI-generated content may be incorrect.">
            <a:extLst>
              <a:ext uri="{FF2B5EF4-FFF2-40B4-BE49-F238E27FC236}">
                <a16:creationId xmlns:a16="http://schemas.microsoft.com/office/drawing/2014/main" id="{DE587D2C-60C7-2CA2-2344-00C3D962E1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611" y="399894"/>
            <a:ext cx="11252778" cy="6058211"/>
          </a:xfrm>
          <a:prstGeom prst="rect">
            <a:avLst/>
          </a:prstGeom>
        </p:spPr>
      </p:pic>
      <p:sp>
        <p:nvSpPr>
          <p:cNvPr id="9" name="Oval 8">
            <a:extLst>
              <a:ext uri="{FF2B5EF4-FFF2-40B4-BE49-F238E27FC236}">
                <a16:creationId xmlns:a16="http://schemas.microsoft.com/office/drawing/2014/main" id="{0010A30C-DE03-561A-BF41-295D085F3238}"/>
              </a:ext>
            </a:extLst>
          </p:cNvPr>
          <p:cNvSpPr/>
          <p:nvPr/>
        </p:nvSpPr>
        <p:spPr>
          <a:xfrm>
            <a:off x="3857626" y="1657350"/>
            <a:ext cx="504824" cy="657225"/>
          </a:xfrm>
          <a:prstGeom prst="ellipse">
            <a:avLst/>
          </a:prstGeom>
          <a:no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7420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green line and red dots&#10;&#10;AI-generated content may be incorrect.">
            <a:extLst>
              <a:ext uri="{FF2B5EF4-FFF2-40B4-BE49-F238E27FC236}">
                <a16:creationId xmlns:a16="http://schemas.microsoft.com/office/drawing/2014/main" id="{2FDBD3F6-5D63-EB65-0C4E-178C3F22D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83" y="516187"/>
            <a:ext cx="11237434" cy="6046538"/>
          </a:xfrm>
          <a:prstGeom prst="rect">
            <a:avLst/>
          </a:prstGeom>
        </p:spPr>
      </p:pic>
      <p:sp>
        <p:nvSpPr>
          <p:cNvPr id="2" name="Oval 1">
            <a:extLst>
              <a:ext uri="{FF2B5EF4-FFF2-40B4-BE49-F238E27FC236}">
                <a16:creationId xmlns:a16="http://schemas.microsoft.com/office/drawing/2014/main" id="{0A99DD88-9CEB-A015-874E-3D4990B84356}"/>
              </a:ext>
            </a:extLst>
          </p:cNvPr>
          <p:cNvSpPr/>
          <p:nvPr/>
        </p:nvSpPr>
        <p:spPr>
          <a:xfrm>
            <a:off x="5219701" y="2743199"/>
            <a:ext cx="381000" cy="514351"/>
          </a:xfrm>
          <a:prstGeom prst="ellipse">
            <a:avLst/>
          </a:prstGeom>
          <a:no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258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4. Include “</a:t>
            </a:r>
            <a:r>
              <a:rPr lang="en-US" dirty="0" err="1"/>
              <a:t>xtrk_dist</a:t>
            </a:r>
            <a:r>
              <a:rPr lang="en-US" dirty="0"/>
              <a:t>” in calibrating heuristic thresholds?</a:t>
            </a:r>
          </a:p>
          <a:p>
            <a:pPr lvl="1"/>
            <a:r>
              <a:rPr lang="en-US" dirty="0"/>
              <a:t>As shown in the Random Forest feature importance results, “</a:t>
            </a:r>
            <a:r>
              <a:rPr lang="en-US" dirty="0" err="1"/>
              <a:t>xtrk_dist</a:t>
            </a:r>
            <a:r>
              <a:rPr lang="en-US" dirty="0"/>
              <a:t>” (along with “</a:t>
            </a:r>
            <a:r>
              <a:rPr lang="en-US" dirty="0" err="1"/>
              <a:t>wse_std</a:t>
            </a:r>
            <a:r>
              <a:rPr lang="en-US" dirty="0"/>
              <a:t>” and “</a:t>
            </a:r>
            <a:r>
              <a:rPr lang="en-US" dirty="0" err="1"/>
              <a:t>wse_u</a:t>
            </a:r>
            <a:r>
              <a:rPr lang="en-US" dirty="0"/>
              <a:t>”) emerged as another important metric influencing WSE errors, likely due to specular ringing or other issues near the nadir. It may be necessary to incorporate “</a:t>
            </a:r>
            <a:r>
              <a:rPr lang="en-US" dirty="0" err="1"/>
              <a:t>xtrk_dist</a:t>
            </a:r>
            <a:r>
              <a:rPr lang="en-US" dirty="0"/>
              <a:t>” as an additional threshold when defining the heuristic baseline prior to applying the low-pass filter. Again, we would greatly appreciate any voluntary help in exploring and implementing this improvement (if necessary at all).</a:t>
            </a:r>
          </a:p>
        </p:txBody>
      </p:sp>
    </p:spTree>
    <p:extLst>
      <p:ext uri="{BB962C8B-B14F-4D97-AF65-F5344CB8AC3E}">
        <p14:creationId xmlns:p14="http://schemas.microsoft.com/office/powerpoint/2010/main" val="4073019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05D60-78FB-7DBD-F3F8-2F394B12B6AF}"/>
              </a:ext>
            </a:extLst>
          </p:cNvPr>
          <p:cNvSpPr>
            <a:spLocks noGrp="1"/>
          </p:cNvSpPr>
          <p:nvPr>
            <p:ph type="title"/>
          </p:nvPr>
        </p:nvSpPr>
        <p:spPr/>
        <p:txBody>
          <a:bodyPr/>
          <a:lstStyle/>
          <a:p>
            <a:r>
              <a:rPr lang="en-US" dirty="0"/>
              <a:t>Summary of updates on August 7, 2025</a:t>
            </a:r>
          </a:p>
        </p:txBody>
      </p:sp>
      <p:sp>
        <p:nvSpPr>
          <p:cNvPr id="3" name="Content Placeholder 2">
            <a:extLst>
              <a:ext uri="{FF2B5EF4-FFF2-40B4-BE49-F238E27FC236}">
                <a16:creationId xmlns:a16="http://schemas.microsoft.com/office/drawing/2014/main" id="{128A2E38-0B9F-3E36-0BA7-3BA8ACB00B2F}"/>
              </a:ext>
            </a:extLst>
          </p:cNvPr>
          <p:cNvSpPr>
            <a:spLocks noGrp="1"/>
          </p:cNvSpPr>
          <p:nvPr>
            <p:ph idx="1"/>
          </p:nvPr>
        </p:nvSpPr>
        <p:spPr/>
        <p:txBody>
          <a:bodyPr>
            <a:normAutofit lnSpcReduction="10000"/>
          </a:bodyPr>
          <a:lstStyle/>
          <a:p>
            <a:r>
              <a:rPr lang="en-US" dirty="0"/>
              <a:t>Incorporated “</a:t>
            </a:r>
            <a:r>
              <a:rPr lang="en-US" dirty="0" err="1"/>
              <a:t>xtrk_dist</a:t>
            </a:r>
            <a:r>
              <a:rPr lang="en-US" dirty="0"/>
              <a:t>” as another threshold to the filter (in addition to “</a:t>
            </a:r>
            <a:r>
              <a:rPr lang="en-US" dirty="0" err="1"/>
              <a:t>wse_std</a:t>
            </a:r>
            <a:r>
              <a:rPr lang="en-US" dirty="0"/>
              <a:t>” and “</a:t>
            </a:r>
            <a:r>
              <a:rPr lang="en-US" dirty="0" err="1"/>
              <a:t>wse_u</a:t>
            </a:r>
            <a:r>
              <a:rPr lang="en-US" dirty="0"/>
              <a:t>”): It doesn’t make too much difference </a:t>
            </a:r>
            <a:r>
              <a:rPr lang="en-US" sz="2800" dirty="0"/>
              <a:t>likely because the discriminatory capability of “</a:t>
            </a:r>
            <a:r>
              <a:rPr lang="en-US" sz="2800" dirty="0" err="1"/>
              <a:t>xtrk_dist</a:t>
            </a:r>
            <a:r>
              <a:rPr lang="en-US" sz="2800" dirty="0"/>
              <a:t>” largely overlaps with those of “</a:t>
            </a:r>
            <a:r>
              <a:rPr lang="en-US" sz="2800" dirty="0" err="1"/>
              <a:t>wse_std</a:t>
            </a:r>
            <a:r>
              <a:rPr lang="en-US" sz="2800" dirty="0"/>
              <a:t>” and “</a:t>
            </a:r>
            <a:r>
              <a:rPr lang="en-US" sz="2800" dirty="0" err="1"/>
              <a:t>wse_u</a:t>
            </a:r>
            <a:r>
              <a:rPr lang="en-US" sz="2800" dirty="0"/>
              <a:t>”. </a:t>
            </a:r>
          </a:p>
          <a:p>
            <a:r>
              <a:rPr lang="en-US" dirty="0"/>
              <a:t>Also importantly, </a:t>
            </a:r>
            <a:r>
              <a:rPr lang="en-US" sz="2800" dirty="0"/>
              <a:t>low “</a:t>
            </a:r>
            <a:r>
              <a:rPr lang="en-US" sz="2800" dirty="0" err="1"/>
              <a:t>xtrk_dist</a:t>
            </a:r>
            <a:r>
              <a:rPr lang="en-US" sz="2800" dirty="0"/>
              <a:t>” values for the </a:t>
            </a:r>
            <a:r>
              <a:rPr lang="en-US" sz="2800" dirty="0" err="1"/>
              <a:t>LakeSP</a:t>
            </a:r>
            <a:r>
              <a:rPr lang="en-US" sz="2800" dirty="0"/>
              <a:t> product can be caused by one validly detected lake split into both swaths (such as the Three Gorges Reservoir), leading to the centroid of the lake falling within the </a:t>
            </a:r>
            <a:r>
              <a:rPr lang="en-US" dirty="0"/>
              <a:t>track gap. This does not mean the lake detection is of poor quality. We suggest that for future </a:t>
            </a:r>
            <a:r>
              <a:rPr lang="en-US" dirty="0" err="1"/>
              <a:t>LakeSP</a:t>
            </a:r>
            <a:r>
              <a:rPr lang="en-US" dirty="0"/>
              <a:t> improvement, computing another </a:t>
            </a:r>
            <a:r>
              <a:rPr lang="en-US" dirty="0" err="1"/>
              <a:t>xtrk_dist</a:t>
            </a:r>
            <a:r>
              <a:rPr lang="en-US" dirty="0"/>
              <a:t> metric based on the absolute distances to the track, instead of the negative and positive distances. </a:t>
            </a:r>
          </a:p>
        </p:txBody>
      </p:sp>
    </p:spTree>
    <p:extLst>
      <p:ext uri="{BB962C8B-B14F-4D97-AF65-F5344CB8AC3E}">
        <p14:creationId xmlns:p14="http://schemas.microsoft.com/office/powerpoint/2010/main" val="1806788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302DB5-45EB-9937-7C52-4011B17FBA08}"/>
              </a:ext>
            </a:extLst>
          </p:cNvPr>
          <p:cNvPicPr>
            <a:picLocks noChangeAspect="1"/>
          </p:cNvPicPr>
          <p:nvPr/>
        </p:nvPicPr>
        <p:blipFill>
          <a:blip r:embed="rId3"/>
          <a:stretch>
            <a:fillRect/>
          </a:stretch>
        </p:blipFill>
        <p:spPr>
          <a:xfrm>
            <a:off x="1587268" y="333216"/>
            <a:ext cx="9017463" cy="6191568"/>
          </a:xfrm>
          <a:prstGeom prst="rect">
            <a:avLst/>
          </a:prstGeom>
        </p:spPr>
      </p:pic>
    </p:spTree>
    <p:extLst>
      <p:ext uri="{BB962C8B-B14F-4D97-AF65-F5344CB8AC3E}">
        <p14:creationId xmlns:p14="http://schemas.microsoft.com/office/powerpoint/2010/main" val="4552661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blue squares&#10;&#10;AI-generated content may be incorrect.">
            <a:extLst>
              <a:ext uri="{FF2B5EF4-FFF2-40B4-BE49-F238E27FC236}">
                <a16:creationId xmlns:a16="http://schemas.microsoft.com/office/drawing/2014/main" id="{C8031F8E-2365-BB5D-D579-57A230BF49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212" y="1142882"/>
            <a:ext cx="7315576" cy="4572235"/>
          </a:xfrm>
          <a:prstGeom prst="rect">
            <a:avLst/>
          </a:prstGeom>
        </p:spPr>
      </p:pic>
    </p:spTree>
    <p:extLst>
      <p:ext uri="{BB962C8B-B14F-4D97-AF65-F5344CB8AC3E}">
        <p14:creationId xmlns:p14="http://schemas.microsoft.com/office/powerpoint/2010/main" val="4194562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CCAFD5F-0A03-B21D-CC78-158C9A0E2621}"/>
              </a:ext>
            </a:extLst>
          </p:cNvPr>
          <p:cNvPicPr>
            <a:picLocks noChangeAspect="1"/>
          </p:cNvPicPr>
          <p:nvPr/>
        </p:nvPicPr>
        <p:blipFill>
          <a:blip r:embed="rId3"/>
          <a:stretch>
            <a:fillRect/>
          </a:stretch>
        </p:blipFill>
        <p:spPr>
          <a:xfrm>
            <a:off x="1552341" y="333216"/>
            <a:ext cx="9087317" cy="6191568"/>
          </a:xfrm>
          <a:prstGeom prst="rect">
            <a:avLst/>
          </a:prstGeom>
        </p:spPr>
      </p:pic>
    </p:spTree>
    <p:extLst>
      <p:ext uri="{BB962C8B-B14F-4D97-AF65-F5344CB8AC3E}">
        <p14:creationId xmlns:p14="http://schemas.microsoft.com/office/powerpoint/2010/main" val="57694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lage of graphs&#10;&#10;AI-generated content may be incorrect.">
            <a:extLst>
              <a:ext uri="{FF2B5EF4-FFF2-40B4-BE49-F238E27FC236}">
                <a16:creationId xmlns:a16="http://schemas.microsoft.com/office/drawing/2014/main" id="{22F5A476-A387-9221-678F-EEB8278590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048" y="0"/>
            <a:ext cx="6858000" cy="6858000"/>
          </a:xfrm>
          <a:prstGeom prst="rect">
            <a:avLst/>
          </a:prstGeom>
        </p:spPr>
      </p:pic>
      <p:sp>
        <p:nvSpPr>
          <p:cNvPr id="8" name="TextBox 7">
            <a:extLst>
              <a:ext uri="{FF2B5EF4-FFF2-40B4-BE49-F238E27FC236}">
                <a16:creationId xmlns:a16="http://schemas.microsoft.com/office/drawing/2014/main" id="{82F19FE5-64CA-93C7-3CF6-43CABFCB8713}"/>
              </a:ext>
            </a:extLst>
          </p:cNvPr>
          <p:cNvSpPr txBox="1"/>
          <p:nvPr/>
        </p:nvSpPr>
        <p:spPr>
          <a:xfrm>
            <a:off x="310955" y="146268"/>
            <a:ext cx="4071068" cy="68941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Result based on all 1068 lakes (script v7)</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84.1% (898) of these 1068 lakes passed the retention criteria after filtering:</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700" dirty="0">
                <a:solidFill>
                  <a:prstClr val="black"/>
                </a:solidFill>
                <a:latin typeface="Calibri" panose="020F0502020204030204"/>
              </a:rPr>
              <a:t>Maximum temporal gap &lt; 3 months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Proportion of time series requiring extrapolation &lt; 80%</a:t>
            </a:r>
          </a:p>
          <a:p>
            <a:pPr marR="0" lvl="0" algn="l" defTabSz="914400" rtl="0" eaLnBrk="1" fontAlgn="auto" latinLnBrk="0" hangingPunct="1">
              <a:lnSpc>
                <a:spcPct val="100000"/>
              </a:lnSpc>
              <a:spcBef>
                <a:spcPts val="0"/>
              </a:spcBef>
              <a:spcAft>
                <a:spcPts val="0"/>
              </a:spcAft>
              <a:buClrTx/>
              <a:buSzTx/>
              <a:tabLst/>
              <a:defRPr/>
            </a:pPr>
            <a:r>
              <a:rPr lang="en-US" sz="1700" dirty="0">
                <a:solidFill>
                  <a:prstClr val="black"/>
                </a:solidFill>
                <a:latin typeface="Calibri" panose="020F0502020204030204"/>
              </a:rPr>
              <a:t>For a fair “apples-to-apples” comparison, statistics are computed based on these 84.1% of the lakes. Including the remaining 15.9% of the lakes in the plot will only further deteriorate the statistics for raw </a:t>
            </a:r>
            <a:r>
              <a:rPr lang="en-US" sz="1700" dirty="0" err="1">
                <a:solidFill>
                  <a:prstClr val="black"/>
                </a:solidFill>
                <a:latin typeface="Calibri" panose="020F0502020204030204"/>
              </a:rPr>
              <a:t>LakeSP</a:t>
            </a:r>
            <a:r>
              <a:rPr lang="en-US" sz="1700" dirty="0">
                <a:solidFill>
                  <a:prstClr val="black"/>
                </a:solidFill>
                <a:latin typeface="Calibri" panose="020F0502020204030204"/>
              </a:rPr>
              <a:t> and the two CNES baselines. </a:t>
            </a:r>
          </a:p>
          <a:p>
            <a:pPr marR="0" lvl="0" algn="l" defTabSz="914400" rtl="0" eaLnBrk="1" fontAlgn="auto" latinLnBrk="0" hangingPunct="1">
              <a:lnSpc>
                <a:spcPct val="100000"/>
              </a:lnSpc>
              <a:spcBef>
                <a:spcPts val="0"/>
              </a:spcBef>
              <a:spcAft>
                <a:spcPts val="0"/>
              </a:spcAft>
              <a:buClrTx/>
              <a:buSzTx/>
              <a:tabLst/>
              <a:defRPr/>
            </a:pPr>
            <a:endParaRPr lang="en-US" sz="1700"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Compared to raw </a:t>
            </a:r>
            <a:r>
              <a:rPr kumimoji="0" lang="en-US" sz="1700" b="0" i="0" u="none" strike="noStrike" kern="1200" cap="none" spc="0" normalizeH="0" baseline="0" noProof="0" dirty="0" err="1">
                <a:ln>
                  <a:noFill/>
                </a:ln>
                <a:solidFill>
                  <a:prstClr val="black"/>
                </a:solidFill>
                <a:effectLst/>
                <a:uLnTx/>
                <a:uFillTx/>
                <a:latin typeface="Calibri" panose="020F0502020204030204"/>
                <a:ea typeface="+mn-ea"/>
                <a:cs typeface="+mn-cs"/>
              </a:rPr>
              <a:t>LakeSP</a:t>
            </a: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 and the two CNES baselines (strict and lenient), the customized filter (red) improved every one of the four metrics: RMSE, relative error in annual WSE variability, Pearson correlation, and retention rate. </a:t>
            </a:r>
          </a:p>
          <a:p>
            <a:pPr marR="0" lvl="0" algn="l" defTabSz="914400" rtl="0" eaLnBrk="1" fontAlgn="auto" latinLnBrk="0" hangingPunct="1">
              <a:lnSpc>
                <a:spcPct val="100000"/>
              </a:lnSpc>
              <a:spcBef>
                <a:spcPts val="0"/>
              </a:spcBef>
              <a:spcAft>
                <a:spcPts val="0"/>
              </a:spcAft>
              <a:buClrTx/>
              <a:buSzTx/>
              <a:tabLst/>
              <a:defRPr/>
            </a:pPr>
            <a:endParaRPr lang="en-US" sz="1700"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lang="en-US" sz="1700" dirty="0">
                <a:solidFill>
                  <a:prstClr val="black"/>
                </a:solidFill>
                <a:latin typeface="Calibri" panose="020F0502020204030204"/>
              </a:rPr>
              <a:t>Some outliers remain, and most could be attributed to ice-related impacts, and part of them may also come from gauge data errors.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2AA3305-C64A-B358-E90D-31037E722674}"/>
              </a:ext>
            </a:extLst>
          </p:cNvPr>
          <p:cNvSpPr txBox="1"/>
          <p:nvPr/>
        </p:nvSpPr>
        <p:spPr>
          <a:xfrm>
            <a:off x="10554223" y="1392628"/>
            <a:ext cx="1513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err = 12.6%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31.0%</a:t>
            </a:r>
          </a:p>
        </p:txBody>
      </p:sp>
    </p:spTree>
    <p:extLst>
      <p:ext uri="{BB962C8B-B14F-4D97-AF65-F5344CB8AC3E}">
        <p14:creationId xmlns:p14="http://schemas.microsoft.com/office/powerpoint/2010/main" val="2142424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llage of graphs&#10;&#10;AI-generated content may be incorrect.">
            <a:extLst>
              <a:ext uri="{FF2B5EF4-FFF2-40B4-BE49-F238E27FC236}">
                <a16:creationId xmlns:a16="http://schemas.microsoft.com/office/drawing/2014/main" id="{85BCCCAA-4731-A4D4-D823-D33BB4D9C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048" y="-2689"/>
            <a:ext cx="6858000" cy="6858000"/>
          </a:xfrm>
          <a:prstGeom prst="rect">
            <a:avLst/>
          </a:prstGeom>
        </p:spPr>
      </p:pic>
      <p:sp>
        <p:nvSpPr>
          <p:cNvPr id="3" name="TextBox 2">
            <a:extLst>
              <a:ext uri="{FF2B5EF4-FFF2-40B4-BE49-F238E27FC236}">
                <a16:creationId xmlns:a16="http://schemas.microsoft.com/office/drawing/2014/main" id="{49C541EB-777C-4244-6DD9-7EA65C28F8F1}"/>
              </a:ext>
            </a:extLst>
          </p:cNvPr>
          <p:cNvSpPr txBox="1"/>
          <p:nvPr/>
        </p:nvSpPr>
        <p:spPr>
          <a:xfrm>
            <a:off x="10554223" y="1392628"/>
            <a:ext cx="1513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err = 12.9%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31.2%</a:t>
            </a:r>
          </a:p>
        </p:txBody>
      </p:sp>
      <p:sp>
        <p:nvSpPr>
          <p:cNvPr id="6" name="TextBox 5">
            <a:extLst>
              <a:ext uri="{FF2B5EF4-FFF2-40B4-BE49-F238E27FC236}">
                <a16:creationId xmlns:a16="http://schemas.microsoft.com/office/drawing/2014/main" id="{2B1D23DA-A124-CE4A-6A84-A9DF624DCABE}"/>
              </a:ext>
            </a:extLst>
          </p:cNvPr>
          <p:cNvSpPr txBox="1"/>
          <p:nvPr/>
        </p:nvSpPr>
        <p:spPr>
          <a:xfrm>
            <a:off x="-4749405" y="2477126"/>
            <a:ext cx="4515522" cy="646331"/>
          </a:xfrm>
          <a:prstGeom prst="rect">
            <a:avLst/>
          </a:prstGeom>
          <a:noFill/>
        </p:spPr>
        <p:txBody>
          <a:bodyPr wrap="square">
            <a:spAutoFit/>
          </a:bodyPr>
          <a:lstStyle/>
          <a:p>
            <a:endParaRPr lang="en-US" dirty="0"/>
          </a:p>
          <a:p>
            <a:endParaRPr lang="en-US" dirty="0"/>
          </a:p>
        </p:txBody>
      </p:sp>
      <p:sp>
        <p:nvSpPr>
          <p:cNvPr id="4" name="TextBox 3">
            <a:extLst>
              <a:ext uri="{FF2B5EF4-FFF2-40B4-BE49-F238E27FC236}">
                <a16:creationId xmlns:a16="http://schemas.microsoft.com/office/drawing/2014/main" id="{EBE757D4-1222-3868-604D-7A0C0078CD63}"/>
              </a:ext>
            </a:extLst>
          </p:cNvPr>
          <p:cNvSpPr txBox="1"/>
          <p:nvPr/>
        </p:nvSpPr>
        <p:spPr>
          <a:xfrm>
            <a:off x="310955" y="146268"/>
            <a:ext cx="4071068" cy="2831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Result based on all 1068 lakes (script v7)</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sz="1600" dirty="0"/>
              <a:t>Incorporated “</a:t>
            </a:r>
            <a:r>
              <a:rPr lang="en-US" sz="1600" dirty="0" err="1"/>
              <a:t>xtrk_dist</a:t>
            </a:r>
            <a:r>
              <a:rPr lang="en-US" sz="1600" dirty="0"/>
              <a:t>” as another heuristic threshold, together with </a:t>
            </a:r>
            <a:r>
              <a:rPr lang="en-US" sz="1600" dirty="0" err="1"/>
              <a:t>wse_std</a:t>
            </a:r>
            <a:r>
              <a:rPr lang="en-US" sz="1600" dirty="0"/>
              <a:t> and </a:t>
            </a:r>
            <a:r>
              <a:rPr lang="en-US" sz="1600" dirty="0" err="1"/>
              <a:t>wse_u</a:t>
            </a:r>
            <a:endParaRPr lang="en-US" sz="1600" dirty="0"/>
          </a:p>
          <a:p>
            <a:endParaRPr lang="en-US" sz="1600" dirty="0"/>
          </a:p>
          <a:p>
            <a:r>
              <a:rPr lang="en-US" sz="1600" dirty="0"/>
              <a:t>Retention rate decreased from 84% to 81%</a:t>
            </a:r>
          </a:p>
          <a:p>
            <a:endParaRPr lang="en-US" sz="1600" dirty="0"/>
          </a:p>
          <a:p>
            <a:r>
              <a:rPr lang="en-US" sz="1600" dirty="0"/>
              <a:t>Variability errors are not improved too much, likely because the discriminatory capability of </a:t>
            </a:r>
            <a:r>
              <a:rPr lang="en-US" sz="1600" dirty="0" err="1"/>
              <a:t>xtrk_dist</a:t>
            </a:r>
            <a:r>
              <a:rPr lang="en-US" sz="1600" dirty="0"/>
              <a:t> overlaps with those of </a:t>
            </a:r>
            <a:r>
              <a:rPr lang="en-US" sz="1600" dirty="0" err="1"/>
              <a:t>wse_std</a:t>
            </a:r>
            <a:r>
              <a:rPr lang="en-US" sz="1600" dirty="0"/>
              <a:t> and </a:t>
            </a:r>
            <a:r>
              <a:rPr lang="en-US" sz="1600" dirty="0" err="1"/>
              <a:t>wse_u</a:t>
            </a:r>
            <a:r>
              <a:rPr lang="en-US" sz="1600" dirty="0"/>
              <a:t>.  </a:t>
            </a:r>
          </a:p>
        </p:txBody>
      </p:sp>
    </p:spTree>
    <p:extLst>
      <p:ext uri="{BB962C8B-B14F-4D97-AF65-F5344CB8AC3E}">
        <p14:creationId xmlns:p14="http://schemas.microsoft.com/office/powerpoint/2010/main" val="1191534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05D60-78FB-7DBD-F3F8-2F394B12B6AF}"/>
              </a:ext>
            </a:extLst>
          </p:cNvPr>
          <p:cNvSpPr>
            <a:spLocks noGrp="1"/>
          </p:cNvSpPr>
          <p:nvPr>
            <p:ph type="title"/>
          </p:nvPr>
        </p:nvSpPr>
        <p:spPr/>
        <p:txBody>
          <a:bodyPr/>
          <a:lstStyle/>
          <a:p>
            <a:r>
              <a:rPr lang="en-US" dirty="0"/>
              <a:t>Summary of updates on August 12, 2025</a:t>
            </a:r>
          </a:p>
        </p:txBody>
      </p:sp>
      <p:sp>
        <p:nvSpPr>
          <p:cNvPr id="3" name="Content Placeholder 2">
            <a:extLst>
              <a:ext uri="{FF2B5EF4-FFF2-40B4-BE49-F238E27FC236}">
                <a16:creationId xmlns:a16="http://schemas.microsoft.com/office/drawing/2014/main" id="{128A2E38-0B9F-3E36-0BA7-3BA8ACB00B2F}"/>
              </a:ext>
            </a:extLst>
          </p:cNvPr>
          <p:cNvSpPr>
            <a:spLocks noGrp="1"/>
          </p:cNvSpPr>
          <p:nvPr>
            <p:ph idx="1"/>
          </p:nvPr>
        </p:nvSpPr>
        <p:spPr/>
        <p:txBody>
          <a:bodyPr/>
          <a:lstStyle/>
          <a:p>
            <a:r>
              <a:rPr lang="en-US" dirty="0"/>
              <a:t>Gauge data update:</a:t>
            </a:r>
          </a:p>
          <a:p>
            <a:pPr lvl="1"/>
            <a:r>
              <a:rPr lang="en-US" dirty="0" err="1"/>
              <a:t>Chunqiao</a:t>
            </a:r>
            <a:r>
              <a:rPr lang="en-US" dirty="0"/>
              <a:t> and Deep returned gauge data in China and India after assuring correct PLD assignment</a:t>
            </a:r>
          </a:p>
          <a:p>
            <a:pPr lvl="1"/>
            <a:r>
              <a:rPr lang="en-US" dirty="0"/>
              <a:t>Merritt shared continuous gauge time series in NA</a:t>
            </a:r>
          </a:p>
          <a:p>
            <a:pPr lvl="1"/>
            <a:r>
              <a:rPr lang="en-US" dirty="0"/>
              <a:t>Elyssa shared another 60 reservoirs in Brazil</a:t>
            </a:r>
          </a:p>
          <a:p>
            <a:r>
              <a:rPr lang="en-US" dirty="0"/>
              <a:t>Re-ran validation results using gauge data update: overall consistent with previous results (with slight improvements)</a:t>
            </a:r>
          </a:p>
          <a:p>
            <a:r>
              <a:rPr lang="en-US" dirty="0"/>
              <a:t>Minor tweaks of the script (now version 8)</a:t>
            </a:r>
          </a:p>
        </p:txBody>
      </p:sp>
    </p:spTree>
    <p:extLst>
      <p:ext uri="{BB962C8B-B14F-4D97-AF65-F5344CB8AC3E}">
        <p14:creationId xmlns:p14="http://schemas.microsoft.com/office/powerpoint/2010/main" val="28685479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1A92C4-5D78-0299-1F5A-365011F94D63}"/>
              </a:ext>
            </a:extLst>
          </p:cNvPr>
          <p:cNvGraphicFramePr>
            <a:graphicFrameLocks noGrp="1"/>
          </p:cNvGraphicFramePr>
          <p:nvPr>
            <p:extLst>
              <p:ext uri="{D42A27DB-BD31-4B8C-83A1-F6EECF244321}">
                <p14:modId xmlns:p14="http://schemas.microsoft.com/office/powerpoint/2010/main" val="1631532473"/>
              </p:ext>
            </p:extLst>
          </p:nvPr>
        </p:nvGraphicFramePr>
        <p:xfrm>
          <a:off x="389163" y="568968"/>
          <a:ext cx="11059887" cy="6043244"/>
        </p:xfrm>
        <a:graphic>
          <a:graphicData uri="http://schemas.openxmlformats.org/drawingml/2006/table">
            <a:tbl>
              <a:tblPr firstRow="1" firstCol="1" bandRow="1">
                <a:tableStyleId>{5C22544A-7EE6-4342-B048-85BDC9FD1C3A}</a:tableStyleId>
              </a:tblPr>
              <a:tblGrid>
                <a:gridCol w="1186708">
                  <a:extLst>
                    <a:ext uri="{9D8B030D-6E8A-4147-A177-3AD203B41FA5}">
                      <a16:colId xmlns:a16="http://schemas.microsoft.com/office/drawing/2014/main" val="3297728776"/>
                    </a:ext>
                  </a:extLst>
                </a:gridCol>
                <a:gridCol w="778476">
                  <a:extLst>
                    <a:ext uri="{9D8B030D-6E8A-4147-A177-3AD203B41FA5}">
                      <a16:colId xmlns:a16="http://schemas.microsoft.com/office/drawing/2014/main" val="2559451681"/>
                    </a:ext>
                  </a:extLst>
                </a:gridCol>
                <a:gridCol w="1200885">
                  <a:extLst>
                    <a:ext uri="{9D8B030D-6E8A-4147-A177-3AD203B41FA5}">
                      <a16:colId xmlns:a16="http://schemas.microsoft.com/office/drawing/2014/main" val="4001635212"/>
                    </a:ext>
                  </a:extLst>
                </a:gridCol>
                <a:gridCol w="2321712">
                  <a:extLst>
                    <a:ext uri="{9D8B030D-6E8A-4147-A177-3AD203B41FA5}">
                      <a16:colId xmlns:a16="http://schemas.microsoft.com/office/drawing/2014/main" val="3123699057"/>
                    </a:ext>
                  </a:extLst>
                </a:gridCol>
                <a:gridCol w="2786053">
                  <a:extLst>
                    <a:ext uri="{9D8B030D-6E8A-4147-A177-3AD203B41FA5}">
                      <a16:colId xmlns:a16="http://schemas.microsoft.com/office/drawing/2014/main" val="2454561434"/>
                    </a:ext>
                  </a:extLst>
                </a:gridCol>
                <a:gridCol w="2786053">
                  <a:extLst>
                    <a:ext uri="{9D8B030D-6E8A-4147-A177-3AD203B41FA5}">
                      <a16:colId xmlns:a16="http://schemas.microsoft.com/office/drawing/2014/main" val="2829004577"/>
                    </a:ext>
                  </a:extLst>
                </a:gridCol>
              </a:tblGrid>
              <a:tr h="428758">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Region</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Count of PLD lakes</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Temporal frequency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Sources</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Data provider</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Comments</a:t>
                      </a:r>
                    </a:p>
                  </a:txBody>
                  <a:tcPr marL="58021" marR="58021" marT="0" marB="0" anchor="ctr"/>
                </a:tc>
                <a:extLst>
                  <a:ext uri="{0D108BD9-81ED-4DB2-BD59-A6C34878D82A}">
                    <a16:rowId xmlns:a16="http://schemas.microsoft.com/office/drawing/2014/main" val="151532425"/>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Quebec</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35</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CEHQ</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r>
                        <a:rPr lang="en-US" sz="1000" kern="100" dirty="0" err="1">
                          <a:effectLst/>
                          <a:latin typeface="Arial" panose="020B0604020202020204" pitchFamily="34" charset="0"/>
                          <a:cs typeface="Arial" panose="020B0604020202020204" pitchFamily="34" charset="0"/>
                        </a:rPr>
                        <a:t>Mélanie</a:t>
                      </a:r>
                      <a:r>
                        <a:rPr lang="en-US" sz="1000" kern="100" dirty="0">
                          <a:effectLst/>
                          <a:latin typeface="Arial" panose="020B0604020202020204" pitchFamily="34" charset="0"/>
                          <a:cs typeface="Arial" panose="020B0604020202020204" pitchFamily="34" charset="0"/>
                        </a:rPr>
                        <a:t> </a:t>
                      </a:r>
                      <a:r>
                        <a:rPr lang="en-US" sz="1000" kern="100" dirty="0" err="1">
                          <a:effectLst/>
                          <a:latin typeface="Arial" panose="020B0604020202020204" pitchFamily="34" charset="0"/>
                          <a:cs typeface="Arial" panose="020B0604020202020204" pitchFamily="34" charset="0"/>
                        </a:rPr>
                        <a:t>Trudel</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38394103"/>
                  </a:ext>
                </a:extLst>
              </a:tr>
              <a:tr h="428758">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Canada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277</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SWOT passes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ECCC, CEHQ, Spence, HQ, UDES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0017722"/>
                  </a:ext>
                </a:extLst>
              </a:tr>
              <a:tr h="369433">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North America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589</a:t>
                      </a:r>
                      <a:r>
                        <a:rPr lang="en-US" sz="1000" strike="sngStrike" kern="100" dirty="0">
                          <a:effectLst/>
                          <a:latin typeface="Arial" panose="020B0604020202020204" pitchFamily="34" charset="0"/>
                          <a:cs typeface="Arial" panose="020B0604020202020204" pitchFamily="34" charset="0"/>
                        </a:rPr>
                        <a:t>590</a:t>
                      </a:r>
                      <a:endParaRPr lang="en-US" sz="1000" strike="sngStrike"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000" kern="100" dirty="0">
                          <a:effectLst/>
                          <a:latin typeface="Arial" panose="020B0604020202020204" pitchFamily="34" charset="0"/>
                          <a:cs typeface="Arial" panose="020B0604020202020204" pitchFamily="34" charset="0"/>
                        </a:rPr>
                        <a:t>15 min to daily</a:t>
                      </a:r>
                      <a:endParaRPr lang="en-US" sz="1000" strike="sngStrike" kern="100" dirty="0">
                        <a:effectLst/>
                        <a:latin typeface="Arial" panose="020B0604020202020204" pitchFamily="34" charset="0"/>
                        <a:cs typeface="Arial" panose="020B0604020202020204" pitchFamily="34" charset="0"/>
                      </a:endParaRPr>
                    </a:p>
                    <a:p>
                      <a:pPr marL="0" marR="0">
                        <a:lnSpc>
                          <a:spcPct val="115000"/>
                        </a:lnSpc>
                        <a:spcBef>
                          <a:spcPts val="0"/>
                        </a:spcBef>
                        <a:spcAft>
                          <a:spcPts val="0"/>
                        </a:spcAft>
                      </a:pPr>
                      <a:r>
                        <a:rPr lang="en-US" sz="1000" strike="sngStrike" kern="100" dirty="0">
                          <a:effectLst/>
                          <a:latin typeface="Arial" panose="020B0604020202020204" pitchFamily="34" charset="0"/>
                          <a:cs typeface="Arial" panose="020B0604020202020204" pitchFamily="34" charset="0"/>
                        </a:rPr>
                        <a:t>SWOT passes </a:t>
                      </a: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ECCC, Quebec, USBR, USGS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Merritt Harlan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Merritt updated all data with the best available temporal frequencies. I dropped one lake (PLD 7421035423) due to gauge data issues, but I will double check other lakes as well. </a:t>
                      </a:r>
                    </a:p>
                  </a:txBody>
                  <a:tcPr marL="58021" marR="58021" marT="0" marB="0" anchor="ctr"/>
                </a:tc>
                <a:extLst>
                  <a:ext uri="{0D108BD9-81ED-4DB2-BD59-A6C34878D82A}">
                    <a16:rowId xmlns:a16="http://schemas.microsoft.com/office/drawing/2014/main" val="4291620616"/>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China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38</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Multiple authorities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Chunqiao Song</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468641450"/>
                  </a:ext>
                </a:extLst>
              </a:tr>
              <a:tr h="652635">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West Africa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2</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Hourly or finer</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 situ measurement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Manuela Grippa;</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Félix Girard;</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Laurent Kergoat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69590228"/>
                  </a:ext>
                </a:extLst>
              </a:tr>
              <a:tr h="748244">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Amazon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1</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 situ measurement (Mamirauá Institute for Sustainable Development)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Ayan Fleischmann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364285413"/>
                  </a:ext>
                </a:extLst>
              </a:tr>
              <a:tr h="748244">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Ceará, Brazil</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8</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Every 30 min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In situ measurement (</a:t>
                      </a:r>
                      <a:r>
                        <a:rPr lang="en-US" sz="1000" kern="100" dirty="0" err="1">
                          <a:effectLst/>
                          <a:latin typeface="Arial" panose="020B0604020202020204" pitchFamily="34" charset="0"/>
                          <a:cs typeface="Arial" panose="020B0604020202020204" pitchFamily="34" charset="0"/>
                        </a:rPr>
                        <a:t>Funceme</a:t>
                      </a:r>
                      <a:r>
                        <a:rPr lang="en-US" sz="1000" kern="100" dirty="0">
                          <a:effectLst/>
                          <a:latin typeface="Arial" panose="020B0604020202020204" pitchFamily="34" charset="0"/>
                          <a:cs typeface="Arial" panose="020B0604020202020204" pitchFamily="34" charset="0"/>
                        </a:rPr>
                        <a:t>)</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Rafael Oliveira;</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Marielle Gosset;</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Eduardo Sávio Rodrigues Martins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75245267"/>
                  </a:ext>
                </a:extLst>
              </a:tr>
              <a:tr h="748244">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Other Brazil</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 43</a:t>
                      </a:r>
                      <a:r>
                        <a:rPr lang="en-US" sz="1000" strike="sngStrike" kern="100" dirty="0">
                          <a:effectLst/>
                          <a:latin typeface="Arial" panose="020B0604020202020204" pitchFamily="34" charset="0"/>
                          <a:ea typeface="DengXian" panose="02010600030101010101" pitchFamily="2" charset="-122"/>
                          <a:cs typeface="Arial" panose="020B0604020202020204" pitchFamily="34" charset="0"/>
                        </a:rPr>
                        <a:t>60</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Daily</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To confirm source</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Elyssa Collins; </a:t>
                      </a:r>
                    </a:p>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Augusto </a:t>
                      </a:r>
                      <a:r>
                        <a:rPr lang="en-US" sz="1000" kern="100" dirty="0" err="1">
                          <a:effectLst/>
                          <a:latin typeface="Arial" panose="020B0604020202020204" pitchFamily="34" charset="0"/>
                          <a:ea typeface="DengXian" panose="02010600030101010101" pitchFamily="2" charset="-122"/>
                          <a:cs typeface="Arial" panose="020B0604020202020204" pitchFamily="34" charset="0"/>
                        </a:rPr>
                        <a:t>Getirana</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Originally 60. I deleted 17 reservoirs with gauge data issues</a:t>
                      </a:r>
                    </a:p>
                  </a:txBody>
                  <a:tcPr marL="58021" marR="58021" marT="0" marB="0" anchor="ctr"/>
                </a:tc>
                <a:extLst>
                  <a:ext uri="{0D108BD9-81ED-4DB2-BD59-A6C34878D82A}">
                    <a16:rowId xmlns:a16="http://schemas.microsoft.com/office/drawing/2014/main" val="101891490"/>
                  </a:ext>
                </a:extLst>
              </a:tr>
              <a:tr h="428758">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India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304</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Monthly</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NWIC, APWRIMS, Gujarat, CWC</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Deep Shah; </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Huilin Gao</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931179867"/>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Total</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1297</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605864500"/>
                  </a:ext>
                </a:extLst>
              </a:tr>
              <a:tr h="558839">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Total unique (excluding duplicates)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1057</a:t>
                      </a:r>
                      <a:endParaRPr lang="en-US" sz="1000" strike="sngStrike"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 </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214890085"/>
                  </a:ext>
                </a:extLst>
              </a:tr>
            </a:tbl>
          </a:graphicData>
        </a:graphic>
      </p:graphicFrame>
      <p:sp>
        <p:nvSpPr>
          <p:cNvPr id="5" name="Rectangle 1">
            <a:extLst>
              <a:ext uri="{FF2B5EF4-FFF2-40B4-BE49-F238E27FC236}">
                <a16:creationId xmlns:a16="http://schemas.microsoft.com/office/drawing/2014/main" id="{DD844E40-647F-A401-52FA-7EC5FF55CA57}"/>
              </a:ext>
            </a:extLst>
          </p:cNvPr>
          <p:cNvSpPr>
            <a:spLocks noChangeArrowheads="1"/>
          </p:cNvSpPr>
          <p:nvPr/>
        </p:nvSpPr>
        <p:spPr bwMode="auto">
          <a:xfrm>
            <a:off x="306388" y="0"/>
            <a:ext cx="111426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ptos" panose="020B0004020202020204" pitchFamily="34" charset="0"/>
                <a:ea typeface="DengXian" panose="02010600030101010101" pitchFamily="2" charset="-122"/>
                <a:cs typeface="Times New Roman" panose="02020603050405020304" pitchFamily="18" charset="0"/>
              </a:rPr>
              <a:t>Updated gauge data</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3661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graphs with different colored lines&#10;&#10;AI-generated content may be incorrect.">
            <a:extLst>
              <a:ext uri="{FF2B5EF4-FFF2-40B4-BE49-F238E27FC236}">
                <a16:creationId xmlns:a16="http://schemas.microsoft.com/office/drawing/2014/main" id="{31A251C3-376B-31D6-0ECE-715706E35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048" y="0"/>
            <a:ext cx="6858000" cy="6858000"/>
          </a:xfrm>
          <a:prstGeom prst="rect">
            <a:avLst/>
          </a:prstGeom>
        </p:spPr>
      </p:pic>
      <p:sp>
        <p:nvSpPr>
          <p:cNvPr id="7" name="TextBox 6">
            <a:extLst>
              <a:ext uri="{FF2B5EF4-FFF2-40B4-BE49-F238E27FC236}">
                <a16:creationId xmlns:a16="http://schemas.microsoft.com/office/drawing/2014/main" id="{490A5EE8-9F4D-CA26-1E8E-1DE46F5A3E36}"/>
              </a:ext>
            </a:extLst>
          </p:cNvPr>
          <p:cNvSpPr txBox="1"/>
          <p:nvPr/>
        </p:nvSpPr>
        <p:spPr>
          <a:xfrm>
            <a:off x="271631" y="746297"/>
            <a:ext cx="4515522" cy="2585323"/>
          </a:xfrm>
          <a:prstGeom prst="rect">
            <a:avLst/>
          </a:prstGeom>
          <a:noFill/>
        </p:spPr>
        <p:txBody>
          <a:bodyPr wrap="square">
            <a:spAutoFit/>
          </a:bodyPr>
          <a:lstStyle/>
          <a:p>
            <a:r>
              <a:rPr lang="en-US" dirty="0"/>
              <a:t>Incorporated “</a:t>
            </a:r>
            <a:r>
              <a:rPr lang="en-US" dirty="0" err="1"/>
              <a:t>xtrk_dist</a:t>
            </a:r>
            <a:r>
              <a:rPr lang="en-US" dirty="0"/>
              <a:t>” as another heuristic threshold, together with </a:t>
            </a:r>
            <a:r>
              <a:rPr lang="en-US" dirty="0" err="1"/>
              <a:t>wse_std</a:t>
            </a:r>
            <a:r>
              <a:rPr lang="en-US" dirty="0"/>
              <a:t> and </a:t>
            </a:r>
            <a:r>
              <a:rPr lang="en-US" dirty="0" err="1"/>
              <a:t>wse_u</a:t>
            </a:r>
            <a:endParaRPr lang="en-US" dirty="0"/>
          </a:p>
          <a:p>
            <a:endParaRPr lang="en-US" dirty="0"/>
          </a:p>
          <a:p>
            <a:r>
              <a:rPr lang="en-US" dirty="0"/>
              <a:t>Also increased the temporal gap from 92 days now to 95 days (to keep some reservoirs with huge WSE variability). </a:t>
            </a:r>
          </a:p>
          <a:p>
            <a:endParaRPr lang="en-US" dirty="0"/>
          </a:p>
          <a:p>
            <a:endParaRPr lang="en-US" dirty="0"/>
          </a:p>
          <a:p>
            <a:endParaRPr lang="en-US" dirty="0"/>
          </a:p>
        </p:txBody>
      </p:sp>
      <p:sp>
        <p:nvSpPr>
          <p:cNvPr id="8" name="TextBox 7">
            <a:extLst>
              <a:ext uri="{FF2B5EF4-FFF2-40B4-BE49-F238E27FC236}">
                <a16:creationId xmlns:a16="http://schemas.microsoft.com/office/drawing/2014/main" id="{D4761F63-45D8-23AC-5845-1F07B7BA4861}"/>
              </a:ext>
            </a:extLst>
          </p:cNvPr>
          <p:cNvSpPr txBox="1"/>
          <p:nvPr/>
        </p:nvSpPr>
        <p:spPr>
          <a:xfrm>
            <a:off x="10554223" y="1392628"/>
            <a:ext cx="1513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err = 11.8%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27.8%</a:t>
            </a:r>
          </a:p>
        </p:txBody>
      </p:sp>
    </p:spTree>
    <p:extLst>
      <p:ext uri="{BB962C8B-B14F-4D97-AF65-F5344CB8AC3E}">
        <p14:creationId xmlns:p14="http://schemas.microsoft.com/office/powerpoint/2010/main" val="1708941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ollage of graphs&#10;&#10;AI-generated content may be incorrect.">
            <a:extLst>
              <a:ext uri="{FF2B5EF4-FFF2-40B4-BE49-F238E27FC236}">
                <a16:creationId xmlns:a16="http://schemas.microsoft.com/office/drawing/2014/main" id="{7C2819E1-F73A-6727-C887-18AE6136F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048" y="0"/>
            <a:ext cx="6858000" cy="6858000"/>
          </a:xfrm>
          <a:prstGeom prst="rect">
            <a:avLst/>
          </a:prstGeom>
        </p:spPr>
      </p:pic>
      <p:sp>
        <p:nvSpPr>
          <p:cNvPr id="8" name="TextBox 7">
            <a:extLst>
              <a:ext uri="{FF2B5EF4-FFF2-40B4-BE49-F238E27FC236}">
                <a16:creationId xmlns:a16="http://schemas.microsoft.com/office/drawing/2014/main" id="{D4761F63-45D8-23AC-5845-1F07B7BA4861}"/>
              </a:ext>
            </a:extLst>
          </p:cNvPr>
          <p:cNvSpPr txBox="1"/>
          <p:nvPr/>
        </p:nvSpPr>
        <p:spPr>
          <a:xfrm>
            <a:off x="10554223" y="1392628"/>
            <a:ext cx="1513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err = 11.</a:t>
            </a:r>
            <a:r>
              <a:rPr lang="en-US" dirty="0">
                <a:solidFill>
                  <a:prstClr val="black"/>
                </a:solidFill>
                <a:latin typeface="Calibri" panose="020F0502020204030204"/>
              </a:rPr>
              <a:t>9</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27.6%</a:t>
            </a:r>
          </a:p>
        </p:txBody>
      </p:sp>
      <p:sp>
        <p:nvSpPr>
          <p:cNvPr id="4" name="TextBox 3">
            <a:extLst>
              <a:ext uri="{FF2B5EF4-FFF2-40B4-BE49-F238E27FC236}">
                <a16:creationId xmlns:a16="http://schemas.microsoft.com/office/drawing/2014/main" id="{2557B9F0-A622-0C90-C845-53718988C7A7}"/>
              </a:ext>
            </a:extLst>
          </p:cNvPr>
          <p:cNvSpPr txBox="1"/>
          <p:nvPr/>
        </p:nvSpPr>
        <p:spPr>
          <a:xfrm>
            <a:off x="271631" y="746297"/>
            <a:ext cx="4515522" cy="2862322"/>
          </a:xfrm>
          <a:prstGeom prst="rect">
            <a:avLst/>
          </a:prstGeom>
          <a:noFill/>
        </p:spPr>
        <p:txBody>
          <a:bodyPr wrap="square">
            <a:spAutoFit/>
          </a:bodyPr>
          <a:lstStyle/>
          <a:p>
            <a:r>
              <a:rPr lang="en-US" dirty="0"/>
              <a:t>Did not incorporate “</a:t>
            </a:r>
            <a:r>
              <a:rPr lang="en-US" dirty="0" err="1"/>
              <a:t>xtrk_dist</a:t>
            </a:r>
            <a:r>
              <a:rPr lang="en-US" dirty="0"/>
              <a:t>” as another heuristic threshold, together with </a:t>
            </a:r>
            <a:r>
              <a:rPr lang="en-US" dirty="0" err="1"/>
              <a:t>wse_std</a:t>
            </a:r>
            <a:r>
              <a:rPr lang="en-US" dirty="0"/>
              <a:t> and </a:t>
            </a:r>
            <a:r>
              <a:rPr lang="en-US" dirty="0" err="1"/>
              <a:t>wse_u</a:t>
            </a:r>
            <a:endParaRPr lang="en-US" dirty="0"/>
          </a:p>
          <a:p>
            <a:endParaRPr lang="en-US" dirty="0"/>
          </a:p>
          <a:p>
            <a:r>
              <a:rPr lang="en-US" dirty="0"/>
              <a:t>Also increased the temporal gap from 92 days now to 95 days (to keep some reservoirs with huge WSE variability). </a:t>
            </a:r>
          </a:p>
          <a:p>
            <a:endParaRPr lang="en-US" dirty="0"/>
          </a:p>
          <a:p>
            <a:endParaRPr lang="en-US" dirty="0"/>
          </a:p>
          <a:p>
            <a:endParaRPr lang="en-US" dirty="0"/>
          </a:p>
        </p:txBody>
      </p:sp>
    </p:spTree>
    <p:extLst>
      <p:ext uri="{BB962C8B-B14F-4D97-AF65-F5344CB8AC3E}">
        <p14:creationId xmlns:p14="http://schemas.microsoft.com/office/powerpoint/2010/main" val="56992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background with black and white clouds&#10;&#10;AI-generated content may be incorrect.">
            <a:extLst>
              <a:ext uri="{FF2B5EF4-FFF2-40B4-BE49-F238E27FC236}">
                <a16:creationId xmlns:a16="http://schemas.microsoft.com/office/drawing/2014/main" id="{01C1FFCB-300C-164D-D87D-12982D1476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2659" y="2172400"/>
            <a:ext cx="5486682" cy="3657788"/>
          </a:xfrm>
        </p:spPr>
      </p:pic>
      <p:pic>
        <p:nvPicPr>
          <p:cNvPr id="3" name="Picture 2">
            <a:extLst>
              <a:ext uri="{FF2B5EF4-FFF2-40B4-BE49-F238E27FC236}">
                <a16:creationId xmlns:a16="http://schemas.microsoft.com/office/drawing/2014/main" id="{226B4454-0F97-CA0D-DF5A-62C319D0A51F}"/>
              </a:ext>
            </a:extLst>
          </p:cNvPr>
          <p:cNvPicPr>
            <a:picLocks noChangeAspect="1"/>
          </p:cNvPicPr>
          <p:nvPr/>
        </p:nvPicPr>
        <p:blipFill>
          <a:blip r:embed="rId3"/>
          <a:stretch>
            <a:fillRect/>
          </a:stretch>
        </p:blipFill>
        <p:spPr>
          <a:xfrm>
            <a:off x="1552341" y="333216"/>
            <a:ext cx="9087317" cy="6191568"/>
          </a:xfrm>
          <a:prstGeom prst="rect">
            <a:avLst/>
          </a:prstGeom>
        </p:spPr>
      </p:pic>
    </p:spTree>
    <p:extLst>
      <p:ext uri="{BB962C8B-B14F-4D97-AF65-F5344CB8AC3E}">
        <p14:creationId xmlns:p14="http://schemas.microsoft.com/office/powerpoint/2010/main" val="3727265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36A5-3B7D-7865-0BB8-8316F004E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4013E-6289-1C10-8210-36FC99AE78F4}"/>
              </a:ext>
            </a:extLst>
          </p:cNvPr>
          <p:cNvSpPr>
            <a:spLocks noGrp="1"/>
          </p:cNvSpPr>
          <p:nvPr>
            <p:ph type="ctrTitle"/>
          </p:nvPr>
        </p:nvSpPr>
        <p:spPr>
          <a:xfrm>
            <a:off x="1524000" y="266701"/>
            <a:ext cx="9144000" cy="2011679"/>
          </a:xfrm>
        </p:spPr>
        <p:txBody>
          <a:bodyPr/>
          <a:lstStyle/>
          <a:p>
            <a:r>
              <a:rPr lang="en-US" dirty="0" err="1"/>
              <a:t>LakeSP</a:t>
            </a:r>
            <a:r>
              <a:rPr lang="en-US" dirty="0"/>
              <a:t> filtering</a:t>
            </a:r>
          </a:p>
        </p:txBody>
      </p:sp>
      <p:sp>
        <p:nvSpPr>
          <p:cNvPr id="3" name="Subtitle 2">
            <a:extLst>
              <a:ext uri="{FF2B5EF4-FFF2-40B4-BE49-F238E27FC236}">
                <a16:creationId xmlns:a16="http://schemas.microsoft.com/office/drawing/2014/main" id="{2031B56F-0E01-DA13-9F15-3C9BE0D757CD}"/>
              </a:ext>
            </a:extLst>
          </p:cNvPr>
          <p:cNvSpPr>
            <a:spLocks noGrp="1"/>
          </p:cNvSpPr>
          <p:nvPr>
            <p:ph type="subTitle" idx="1"/>
          </p:nvPr>
        </p:nvSpPr>
        <p:spPr>
          <a:xfrm>
            <a:off x="1524000" y="2476501"/>
            <a:ext cx="9144000" cy="952499"/>
          </a:xfrm>
        </p:spPr>
        <p:txBody>
          <a:bodyPr>
            <a:normAutofit/>
          </a:bodyPr>
          <a:lstStyle/>
          <a:p>
            <a:r>
              <a:rPr lang="en-US" dirty="0"/>
              <a:t>08/29/2025</a:t>
            </a:r>
          </a:p>
          <a:p>
            <a:r>
              <a:rPr lang="en-US" dirty="0" err="1"/>
              <a:t>Jida</a:t>
            </a:r>
            <a:r>
              <a:rPr lang="en-US" dirty="0"/>
              <a:t> Wang, </a:t>
            </a:r>
            <a:r>
              <a:rPr lang="en-US" dirty="0" err="1"/>
              <a:t>Mélanie</a:t>
            </a:r>
            <a:r>
              <a:rPr lang="en-US" dirty="0"/>
              <a:t> </a:t>
            </a:r>
            <a:r>
              <a:rPr lang="en-US" dirty="0" err="1"/>
              <a:t>Trudel</a:t>
            </a:r>
            <a:r>
              <a:rPr lang="en-US" dirty="0"/>
              <a:t>, Sylvain </a:t>
            </a:r>
            <a:r>
              <a:rPr lang="en-US" dirty="0" err="1"/>
              <a:t>Biancamaria</a:t>
            </a:r>
            <a:endParaRPr lang="en-US" dirty="0"/>
          </a:p>
        </p:txBody>
      </p:sp>
      <p:sp>
        <p:nvSpPr>
          <p:cNvPr id="4" name="Subtitle 2">
            <a:extLst>
              <a:ext uri="{FF2B5EF4-FFF2-40B4-BE49-F238E27FC236}">
                <a16:creationId xmlns:a16="http://schemas.microsoft.com/office/drawing/2014/main" id="{9F7CEF9F-3D58-B56A-A090-913ED85F6896}"/>
              </a:ext>
            </a:extLst>
          </p:cNvPr>
          <p:cNvSpPr txBox="1">
            <a:spLocks/>
          </p:cNvSpPr>
          <p:nvPr/>
        </p:nvSpPr>
        <p:spPr>
          <a:xfrm>
            <a:off x="2522220" y="3802380"/>
            <a:ext cx="7208520" cy="210312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Goal: To come up with a globally-applicable filtering strategy that balances</a:t>
            </a:r>
          </a:p>
          <a:p>
            <a:pPr marL="342900" indent="-342900" algn="l">
              <a:buFont typeface="Arial" panose="020B0604020202020204" pitchFamily="34" charset="0"/>
              <a:buChar char="•"/>
            </a:pPr>
            <a:r>
              <a:rPr lang="en-US" dirty="0"/>
              <a:t>Error removal, and </a:t>
            </a:r>
          </a:p>
          <a:p>
            <a:pPr marL="342900" indent="-342900" algn="l">
              <a:buFont typeface="Arial" panose="020B0604020202020204" pitchFamily="34" charset="0"/>
              <a:buChar char="•"/>
            </a:pPr>
            <a:r>
              <a:rPr lang="en-US" dirty="0"/>
              <a:t>A good representation of the lake level hydrograph, e.g., in terms of variability, amplitude, and phenological pattern</a:t>
            </a:r>
          </a:p>
        </p:txBody>
      </p:sp>
    </p:spTree>
    <p:extLst>
      <p:ext uri="{BB962C8B-B14F-4D97-AF65-F5344CB8AC3E}">
        <p14:creationId xmlns:p14="http://schemas.microsoft.com/office/powerpoint/2010/main" val="28677838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7421C-190D-B0C1-A099-72F82C866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CE732-9BC2-0325-D59B-FA30FE2A9F49}"/>
              </a:ext>
            </a:extLst>
          </p:cNvPr>
          <p:cNvSpPr>
            <a:spLocks noGrp="1"/>
          </p:cNvSpPr>
          <p:nvPr>
            <p:ph type="title"/>
          </p:nvPr>
        </p:nvSpPr>
        <p:spPr>
          <a:xfrm>
            <a:off x="838200" y="10912"/>
            <a:ext cx="10515600" cy="1325563"/>
          </a:xfrm>
        </p:spPr>
        <p:txBody>
          <a:bodyPr/>
          <a:lstStyle/>
          <a:p>
            <a:r>
              <a:rPr lang="en-US" dirty="0"/>
              <a:t>Conceptual procedure of the customized filter</a:t>
            </a:r>
          </a:p>
        </p:txBody>
      </p:sp>
      <p:sp>
        <p:nvSpPr>
          <p:cNvPr id="4" name="TextBox 3">
            <a:extLst>
              <a:ext uri="{FF2B5EF4-FFF2-40B4-BE49-F238E27FC236}">
                <a16:creationId xmlns:a16="http://schemas.microsoft.com/office/drawing/2014/main" id="{708B80A0-4CE4-E6F0-8038-5D655CB84C2C}"/>
              </a:ext>
            </a:extLst>
          </p:cNvPr>
          <p:cNvSpPr txBox="1"/>
          <p:nvPr/>
        </p:nvSpPr>
        <p:spPr>
          <a:xfrm>
            <a:off x="700549" y="1173837"/>
            <a:ext cx="2410132" cy="369332"/>
          </a:xfrm>
          <a:prstGeom prst="rect">
            <a:avLst/>
          </a:prstGeom>
          <a:noFill/>
        </p:spPr>
        <p:txBody>
          <a:bodyPr wrap="square" rtlCol="0">
            <a:spAutoFit/>
          </a:bodyPr>
          <a:lstStyle/>
          <a:p>
            <a:r>
              <a:rPr lang="en-US" dirty="0"/>
              <a:t>Raw </a:t>
            </a:r>
            <a:r>
              <a:rPr lang="en-US" dirty="0" err="1"/>
              <a:t>LakeSP</a:t>
            </a:r>
            <a:r>
              <a:rPr lang="en-US" dirty="0"/>
              <a:t> time series</a:t>
            </a:r>
          </a:p>
        </p:txBody>
      </p:sp>
      <p:sp>
        <p:nvSpPr>
          <p:cNvPr id="5" name="TextBox 4">
            <a:extLst>
              <a:ext uri="{FF2B5EF4-FFF2-40B4-BE49-F238E27FC236}">
                <a16:creationId xmlns:a16="http://schemas.microsoft.com/office/drawing/2014/main" id="{AD5FE121-70AE-71BF-3261-BA56B3786856}"/>
              </a:ext>
            </a:extLst>
          </p:cNvPr>
          <p:cNvSpPr txBox="1"/>
          <p:nvPr/>
        </p:nvSpPr>
        <p:spPr>
          <a:xfrm>
            <a:off x="3636712" y="1021290"/>
            <a:ext cx="4665407" cy="646331"/>
          </a:xfrm>
          <a:prstGeom prst="rect">
            <a:avLst/>
          </a:prstGeom>
          <a:noFill/>
        </p:spPr>
        <p:txBody>
          <a:bodyPr wrap="square" rtlCol="0">
            <a:spAutoFit/>
          </a:bodyPr>
          <a:lstStyle/>
          <a:p>
            <a:r>
              <a:rPr lang="en-US" dirty="0"/>
              <a:t>Apply conservative quality flags to subset </a:t>
            </a:r>
            <a:r>
              <a:rPr lang="en-US" i="1" dirty="0"/>
              <a:t>assumed</a:t>
            </a:r>
            <a:r>
              <a:rPr lang="en-US" dirty="0"/>
              <a:t> high-quality SP observations</a:t>
            </a:r>
          </a:p>
        </p:txBody>
      </p:sp>
      <p:sp>
        <p:nvSpPr>
          <p:cNvPr id="6" name="TextBox 5">
            <a:extLst>
              <a:ext uri="{FF2B5EF4-FFF2-40B4-BE49-F238E27FC236}">
                <a16:creationId xmlns:a16="http://schemas.microsoft.com/office/drawing/2014/main" id="{847BCE67-5FBA-80F5-DB69-192457DE2317}"/>
              </a:ext>
            </a:extLst>
          </p:cNvPr>
          <p:cNvSpPr txBox="1"/>
          <p:nvPr/>
        </p:nvSpPr>
        <p:spPr>
          <a:xfrm>
            <a:off x="2094271" y="1901992"/>
            <a:ext cx="6510802" cy="646331"/>
          </a:xfrm>
          <a:prstGeom prst="rect">
            <a:avLst/>
          </a:prstGeom>
          <a:noFill/>
        </p:spPr>
        <p:txBody>
          <a:bodyPr wrap="square" rtlCol="0">
            <a:spAutoFit/>
          </a:bodyPr>
          <a:lstStyle/>
          <a:p>
            <a:r>
              <a:rPr lang="en-US" dirty="0"/>
              <a:t>Calibrate </a:t>
            </a:r>
            <a:r>
              <a:rPr lang="en-US" b="1" dirty="0"/>
              <a:t>heuristic thresholds </a:t>
            </a:r>
            <a:r>
              <a:rPr lang="en-US" dirty="0"/>
              <a:t>for this lake (mainly based on </a:t>
            </a:r>
            <a:r>
              <a:rPr lang="en-US" i="1" dirty="0" err="1"/>
              <a:t>wse_std</a:t>
            </a:r>
            <a:r>
              <a:rPr lang="en-US" i="1" dirty="0"/>
              <a:t> </a:t>
            </a:r>
            <a:r>
              <a:rPr lang="en-US" dirty="0"/>
              <a:t>and </a:t>
            </a:r>
            <a:r>
              <a:rPr lang="en-US" i="1" dirty="0" err="1"/>
              <a:t>wse_u</a:t>
            </a:r>
            <a:r>
              <a:rPr lang="en-US" dirty="0"/>
              <a:t>; see next slide for RF-based feature importance)</a:t>
            </a:r>
          </a:p>
        </p:txBody>
      </p:sp>
      <p:sp>
        <p:nvSpPr>
          <p:cNvPr id="7" name="TextBox 6">
            <a:extLst>
              <a:ext uri="{FF2B5EF4-FFF2-40B4-BE49-F238E27FC236}">
                <a16:creationId xmlns:a16="http://schemas.microsoft.com/office/drawing/2014/main" id="{142D2094-45B5-0809-A3F9-01336931C3DA}"/>
              </a:ext>
            </a:extLst>
          </p:cNvPr>
          <p:cNvSpPr txBox="1"/>
          <p:nvPr/>
        </p:nvSpPr>
        <p:spPr>
          <a:xfrm>
            <a:off x="4109579" y="2799554"/>
            <a:ext cx="4855293" cy="646331"/>
          </a:xfrm>
          <a:prstGeom prst="rect">
            <a:avLst/>
          </a:prstGeom>
          <a:noFill/>
        </p:spPr>
        <p:txBody>
          <a:bodyPr wrap="square" rtlCol="0">
            <a:spAutoFit/>
          </a:bodyPr>
          <a:lstStyle/>
          <a:p>
            <a:r>
              <a:rPr lang="en-US" b="1" dirty="0"/>
              <a:t>Heuristic baseline </a:t>
            </a:r>
            <a:r>
              <a:rPr lang="en-US" dirty="0"/>
              <a:t>time series (i.e., a subset of raw SP time series based on heuristic thresholds)</a:t>
            </a:r>
          </a:p>
        </p:txBody>
      </p:sp>
      <p:sp>
        <p:nvSpPr>
          <p:cNvPr id="8" name="TextBox 7">
            <a:extLst>
              <a:ext uri="{FF2B5EF4-FFF2-40B4-BE49-F238E27FC236}">
                <a16:creationId xmlns:a16="http://schemas.microsoft.com/office/drawing/2014/main" id="{485B5B56-24D0-1AEB-48E6-7DBA3280EC6D}"/>
              </a:ext>
            </a:extLst>
          </p:cNvPr>
          <p:cNvSpPr txBox="1"/>
          <p:nvPr/>
        </p:nvSpPr>
        <p:spPr>
          <a:xfrm>
            <a:off x="9340652" y="1699780"/>
            <a:ext cx="2481415" cy="923330"/>
          </a:xfrm>
          <a:prstGeom prst="rect">
            <a:avLst/>
          </a:prstGeom>
          <a:noFill/>
        </p:spPr>
        <p:txBody>
          <a:bodyPr wrap="square" rtlCol="0">
            <a:spAutoFit/>
          </a:bodyPr>
          <a:lstStyle/>
          <a:p>
            <a:r>
              <a:rPr lang="en-US" dirty="0"/>
              <a:t>Built-in flexibility to be CRID, pass, and ice-condition adaptive</a:t>
            </a:r>
          </a:p>
        </p:txBody>
      </p:sp>
      <p:sp>
        <p:nvSpPr>
          <p:cNvPr id="10" name="TextBox 9">
            <a:extLst>
              <a:ext uri="{FF2B5EF4-FFF2-40B4-BE49-F238E27FC236}">
                <a16:creationId xmlns:a16="http://schemas.microsoft.com/office/drawing/2014/main" id="{56B047C1-80C7-D1D6-D89B-2EE07A585836}"/>
              </a:ext>
            </a:extLst>
          </p:cNvPr>
          <p:cNvSpPr txBox="1"/>
          <p:nvPr/>
        </p:nvSpPr>
        <p:spPr>
          <a:xfrm>
            <a:off x="954494" y="5293359"/>
            <a:ext cx="459658" cy="369332"/>
          </a:xfrm>
          <a:prstGeom prst="rect">
            <a:avLst/>
          </a:prstGeom>
          <a:noFill/>
        </p:spPr>
        <p:txBody>
          <a:bodyPr wrap="square" rtlCol="0">
            <a:spAutoFit/>
          </a:bodyPr>
          <a:lstStyle/>
          <a:p>
            <a:r>
              <a:rPr lang="en-US" dirty="0"/>
              <a:t>no</a:t>
            </a:r>
          </a:p>
        </p:txBody>
      </p:sp>
      <p:sp>
        <p:nvSpPr>
          <p:cNvPr id="11" name="TextBox 10">
            <a:extLst>
              <a:ext uri="{FF2B5EF4-FFF2-40B4-BE49-F238E27FC236}">
                <a16:creationId xmlns:a16="http://schemas.microsoft.com/office/drawing/2014/main" id="{30B7DBA4-138C-2AA0-AD4C-1509831F42F9}"/>
              </a:ext>
            </a:extLst>
          </p:cNvPr>
          <p:cNvSpPr txBox="1"/>
          <p:nvPr/>
        </p:nvSpPr>
        <p:spPr>
          <a:xfrm>
            <a:off x="208472" y="5949735"/>
            <a:ext cx="1951703" cy="369332"/>
          </a:xfrm>
          <a:prstGeom prst="rect">
            <a:avLst/>
          </a:prstGeom>
          <a:noFill/>
        </p:spPr>
        <p:txBody>
          <a:bodyPr wrap="square" rtlCol="0">
            <a:spAutoFit/>
          </a:bodyPr>
          <a:lstStyle/>
          <a:p>
            <a:r>
              <a:rPr lang="en-US" dirty="0"/>
              <a:t>Abandon this lake</a:t>
            </a:r>
          </a:p>
        </p:txBody>
      </p:sp>
      <p:sp>
        <p:nvSpPr>
          <p:cNvPr id="12" name="TextBox 11">
            <a:extLst>
              <a:ext uri="{FF2B5EF4-FFF2-40B4-BE49-F238E27FC236}">
                <a16:creationId xmlns:a16="http://schemas.microsoft.com/office/drawing/2014/main" id="{D2452870-7B2B-7CF5-698C-9A55A8157EC6}"/>
              </a:ext>
            </a:extLst>
          </p:cNvPr>
          <p:cNvSpPr txBox="1"/>
          <p:nvPr/>
        </p:nvSpPr>
        <p:spPr>
          <a:xfrm>
            <a:off x="2160174" y="5297223"/>
            <a:ext cx="673509" cy="36933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0A1D8D71-32F7-C9B7-E805-22D93300EF32}"/>
              </a:ext>
            </a:extLst>
          </p:cNvPr>
          <p:cNvSpPr txBox="1"/>
          <p:nvPr/>
        </p:nvSpPr>
        <p:spPr>
          <a:xfrm>
            <a:off x="3317420" y="4527115"/>
            <a:ext cx="1990566" cy="1200329"/>
          </a:xfrm>
          <a:prstGeom prst="rect">
            <a:avLst/>
          </a:prstGeom>
          <a:noFill/>
        </p:spPr>
        <p:txBody>
          <a:bodyPr wrap="square" rtlCol="0">
            <a:spAutoFit/>
          </a:bodyPr>
          <a:lstStyle/>
          <a:p>
            <a:r>
              <a:rPr lang="en-US" dirty="0"/>
              <a:t>Apply a round-1 (more aggressive) iterative </a:t>
            </a:r>
            <a:r>
              <a:rPr lang="en-US" b="1" dirty="0"/>
              <a:t>low-pass filter</a:t>
            </a:r>
            <a:r>
              <a:rPr lang="en-US" dirty="0"/>
              <a:t>. </a:t>
            </a:r>
          </a:p>
        </p:txBody>
      </p:sp>
      <p:sp>
        <p:nvSpPr>
          <p:cNvPr id="14" name="TextBox 13">
            <a:extLst>
              <a:ext uri="{FF2B5EF4-FFF2-40B4-BE49-F238E27FC236}">
                <a16:creationId xmlns:a16="http://schemas.microsoft.com/office/drawing/2014/main" id="{4330F6EB-9A26-484B-34D8-84DFE64A612E}"/>
              </a:ext>
            </a:extLst>
          </p:cNvPr>
          <p:cNvSpPr txBox="1"/>
          <p:nvPr/>
        </p:nvSpPr>
        <p:spPr>
          <a:xfrm>
            <a:off x="9601788" y="3977241"/>
            <a:ext cx="2328126" cy="1569660"/>
          </a:xfrm>
          <a:prstGeom prst="rect">
            <a:avLst/>
          </a:prstGeom>
          <a:noFill/>
        </p:spPr>
        <p:txBody>
          <a:bodyPr wrap="square" rtlCol="0">
            <a:spAutoFit/>
          </a:bodyPr>
          <a:lstStyle/>
          <a:p>
            <a:r>
              <a:rPr lang="en-US" sz="1600" dirty="0"/>
              <a:t>Option to reintroduce high-quality observations removed by round 1, and apply a round-2 (less aggressive) iterative low-pass filter</a:t>
            </a:r>
          </a:p>
        </p:txBody>
      </p:sp>
      <p:sp>
        <p:nvSpPr>
          <p:cNvPr id="16" name="TextBox 15">
            <a:extLst>
              <a:ext uri="{FF2B5EF4-FFF2-40B4-BE49-F238E27FC236}">
                <a16:creationId xmlns:a16="http://schemas.microsoft.com/office/drawing/2014/main" id="{B7E42477-76F4-C432-EFAF-F28ED33FB576}"/>
              </a:ext>
            </a:extLst>
          </p:cNvPr>
          <p:cNvSpPr txBox="1"/>
          <p:nvPr/>
        </p:nvSpPr>
        <p:spPr>
          <a:xfrm>
            <a:off x="5879684" y="3658199"/>
            <a:ext cx="3333002" cy="1477328"/>
          </a:xfrm>
          <a:prstGeom prst="rect">
            <a:avLst/>
          </a:prstGeom>
          <a:noFill/>
        </p:spPr>
        <p:txBody>
          <a:bodyPr wrap="square" rtlCol="0">
            <a:spAutoFit/>
          </a:bodyPr>
          <a:lstStyle/>
          <a:p>
            <a:r>
              <a:rPr lang="en-US" dirty="0"/>
              <a:t>Each iteration includes: </a:t>
            </a:r>
          </a:p>
          <a:p>
            <a:pPr marL="285750" indent="-285750">
              <a:buFont typeface="Arial" panose="020B0604020202020204" pitchFamily="34" charset="0"/>
              <a:buChar char="•"/>
            </a:pPr>
            <a:r>
              <a:rPr lang="en-US" dirty="0"/>
              <a:t>Low-pass filtering </a:t>
            </a:r>
          </a:p>
          <a:p>
            <a:pPr marL="285750" indent="-285750">
              <a:buFont typeface="Arial" panose="020B0604020202020204" pitchFamily="34" charset="0"/>
              <a:buChar char="•"/>
            </a:pPr>
            <a:r>
              <a:rPr lang="en-US" dirty="0"/>
              <a:t>Remove positive ice anomalies</a:t>
            </a:r>
          </a:p>
          <a:p>
            <a:pPr marL="285750" indent="-285750">
              <a:buFont typeface="Arial" panose="020B0604020202020204" pitchFamily="34" charset="0"/>
              <a:buChar char="•"/>
            </a:pPr>
            <a:r>
              <a:rPr lang="en-US" dirty="0"/>
              <a:t>Remove remaining extreme outliers (Tukey’s test)</a:t>
            </a:r>
          </a:p>
        </p:txBody>
      </p:sp>
      <p:sp>
        <p:nvSpPr>
          <p:cNvPr id="17" name="TextBox 16">
            <a:extLst>
              <a:ext uri="{FF2B5EF4-FFF2-40B4-BE49-F238E27FC236}">
                <a16:creationId xmlns:a16="http://schemas.microsoft.com/office/drawing/2014/main" id="{CAFE9122-D513-1CEB-7675-2D2DC1FA87CD}"/>
              </a:ext>
            </a:extLst>
          </p:cNvPr>
          <p:cNvSpPr txBox="1"/>
          <p:nvPr/>
        </p:nvSpPr>
        <p:spPr>
          <a:xfrm>
            <a:off x="5636680" y="5382285"/>
            <a:ext cx="3806312" cy="646331"/>
          </a:xfrm>
          <a:prstGeom prst="rect">
            <a:avLst/>
          </a:prstGeom>
          <a:noFill/>
        </p:spPr>
        <p:txBody>
          <a:bodyPr wrap="square" rtlCol="0">
            <a:spAutoFit/>
          </a:bodyPr>
          <a:lstStyle/>
          <a:p>
            <a:r>
              <a:rPr lang="en-US" dirty="0"/>
              <a:t>Remove significant WSE inconsistency due to by multiple overpasses</a:t>
            </a:r>
          </a:p>
        </p:txBody>
      </p:sp>
      <p:cxnSp>
        <p:nvCxnSpPr>
          <p:cNvPr id="20" name="Connector: Elbow 19">
            <a:extLst>
              <a:ext uri="{FF2B5EF4-FFF2-40B4-BE49-F238E27FC236}">
                <a16:creationId xmlns:a16="http://schemas.microsoft.com/office/drawing/2014/main" id="{935D9BAB-5DA7-3C54-B545-F25C50B1B3D4}"/>
              </a:ext>
            </a:extLst>
          </p:cNvPr>
          <p:cNvCxnSpPr>
            <a:cxnSpLocks/>
            <a:stCxn id="4" idx="3"/>
            <a:endCxn id="5" idx="1"/>
          </p:cNvCxnSpPr>
          <p:nvPr/>
        </p:nvCxnSpPr>
        <p:spPr>
          <a:xfrm flipV="1">
            <a:off x="3110681" y="1344456"/>
            <a:ext cx="526031" cy="1404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A6EC2321-2C91-5CA3-5F68-52D02F5A735F}"/>
              </a:ext>
            </a:extLst>
          </p:cNvPr>
          <p:cNvCxnSpPr>
            <a:cxnSpLocks/>
            <a:stCxn id="5" idx="2"/>
            <a:endCxn id="6" idx="0"/>
          </p:cNvCxnSpPr>
          <p:nvPr/>
        </p:nvCxnSpPr>
        <p:spPr>
          <a:xfrm rot="5400000">
            <a:off x="5542359" y="1474934"/>
            <a:ext cx="234371" cy="61974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FBF073FF-523E-E121-07F8-57EB67C1985C}"/>
              </a:ext>
            </a:extLst>
          </p:cNvPr>
          <p:cNvCxnSpPr>
            <a:cxnSpLocks/>
            <a:stCxn id="8" idx="1"/>
            <a:endCxn id="6" idx="3"/>
          </p:cNvCxnSpPr>
          <p:nvPr/>
        </p:nvCxnSpPr>
        <p:spPr>
          <a:xfrm rot="10800000" flipV="1">
            <a:off x="8605074" y="2161444"/>
            <a:ext cx="735579" cy="6371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FF90E561-E0A2-5867-91F3-0A82FFB27ED4}"/>
              </a:ext>
            </a:extLst>
          </p:cNvPr>
          <p:cNvCxnSpPr>
            <a:cxnSpLocks/>
            <a:stCxn id="6" idx="2"/>
            <a:endCxn id="7" idx="0"/>
          </p:cNvCxnSpPr>
          <p:nvPr/>
        </p:nvCxnSpPr>
        <p:spPr>
          <a:xfrm rot="16200000" flipH="1">
            <a:off x="5817834" y="2080161"/>
            <a:ext cx="251231" cy="11875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E4F711C-560C-7150-9B8E-842A12F678A3}"/>
              </a:ext>
            </a:extLst>
          </p:cNvPr>
          <p:cNvSpPr txBox="1"/>
          <p:nvPr/>
        </p:nvSpPr>
        <p:spPr>
          <a:xfrm>
            <a:off x="296962" y="2981385"/>
            <a:ext cx="3203939" cy="1077218"/>
          </a:xfrm>
          <a:prstGeom prst="rect">
            <a:avLst/>
          </a:prstGeom>
          <a:noFill/>
        </p:spPr>
        <p:txBody>
          <a:bodyPr wrap="square" rtlCol="0">
            <a:spAutoFit/>
          </a:bodyPr>
          <a:lstStyle/>
          <a:p>
            <a:r>
              <a:rPr lang="en-US" sz="1600" dirty="0"/>
              <a:t>Check if the heuristic baseline is temporally representative: </a:t>
            </a:r>
          </a:p>
          <a:p>
            <a:pPr marL="285750" indent="-285750">
              <a:buFont typeface="Arial" panose="020B0604020202020204" pitchFamily="34" charset="0"/>
              <a:buChar char="•"/>
            </a:pPr>
            <a:r>
              <a:rPr lang="en-US" sz="1600" dirty="0"/>
              <a:t>no major gaps (&gt; 3 months), </a:t>
            </a:r>
          </a:p>
          <a:p>
            <a:pPr marL="285750" indent="-285750">
              <a:buFont typeface="Arial" panose="020B0604020202020204" pitchFamily="34" charset="0"/>
              <a:buChar char="•"/>
            </a:pPr>
            <a:r>
              <a:rPr lang="en-US" sz="1600" dirty="0"/>
              <a:t>at least one-year duration</a:t>
            </a:r>
          </a:p>
        </p:txBody>
      </p:sp>
      <p:cxnSp>
        <p:nvCxnSpPr>
          <p:cNvPr id="55" name="Connector: Elbow 54">
            <a:extLst>
              <a:ext uri="{FF2B5EF4-FFF2-40B4-BE49-F238E27FC236}">
                <a16:creationId xmlns:a16="http://schemas.microsoft.com/office/drawing/2014/main" id="{7B67E9DC-8FD5-218D-2D7D-108E81F6F1F4}"/>
              </a:ext>
            </a:extLst>
          </p:cNvPr>
          <p:cNvCxnSpPr>
            <a:cxnSpLocks/>
            <a:stCxn id="7" idx="1"/>
            <a:endCxn id="54" idx="3"/>
          </p:cNvCxnSpPr>
          <p:nvPr/>
        </p:nvCxnSpPr>
        <p:spPr>
          <a:xfrm rot="10800000" flipV="1">
            <a:off x="3500901" y="3122720"/>
            <a:ext cx="608678" cy="39727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32DD6D52-2E6C-0CE0-EFA4-FE2093C29BCC}"/>
              </a:ext>
            </a:extLst>
          </p:cNvPr>
          <p:cNvCxnSpPr>
            <a:cxnSpLocks/>
            <a:stCxn id="54" idx="2"/>
            <a:endCxn id="10" idx="0"/>
          </p:cNvCxnSpPr>
          <p:nvPr/>
        </p:nvCxnSpPr>
        <p:spPr>
          <a:xfrm rot="5400000">
            <a:off x="924250" y="4318677"/>
            <a:ext cx="1234756" cy="7146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B49807F4-BF41-C506-E66A-AEABF01D4843}"/>
              </a:ext>
            </a:extLst>
          </p:cNvPr>
          <p:cNvCxnSpPr>
            <a:cxnSpLocks/>
            <a:stCxn id="10" idx="2"/>
            <a:endCxn id="11" idx="0"/>
          </p:cNvCxnSpPr>
          <p:nvPr/>
        </p:nvCxnSpPr>
        <p:spPr>
          <a:xfrm rot="16200000" flipH="1">
            <a:off x="1040801" y="5806212"/>
            <a:ext cx="287044"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DCE6B5DA-A591-85CB-7820-422ECC6CE1A7}"/>
              </a:ext>
            </a:extLst>
          </p:cNvPr>
          <p:cNvCxnSpPr>
            <a:cxnSpLocks/>
            <a:stCxn id="54" idx="2"/>
            <a:endCxn id="12" idx="0"/>
          </p:cNvCxnSpPr>
          <p:nvPr/>
        </p:nvCxnSpPr>
        <p:spPr>
          <a:xfrm rot="16200000" flipH="1">
            <a:off x="1578620" y="4378914"/>
            <a:ext cx="1238620" cy="59799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063DC4DB-5EDF-AC32-D388-F15B56127456}"/>
              </a:ext>
            </a:extLst>
          </p:cNvPr>
          <p:cNvCxnSpPr>
            <a:cxnSpLocks/>
            <a:stCxn id="12" idx="3"/>
            <a:endCxn id="13" idx="1"/>
          </p:cNvCxnSpPr>
          <p:nvPr/>
        </p:nvCxnSpPr>
        <p:spPr>
          <a:xfrm flipV="1">
            <a:off x="2833683" y="5127280"/>
            <a:ext cx="483737" cy="3546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1726A82A-B5A7-E6CA-D774-A8E47B86708E}"/>
              </a:ext>
            </a:extLst>
          </p:cNvPr>
          <p:cNvCxnSpPr>
            <a:cxnSpLocks/>
            <a:stCxn id="13" idx="3"/>
            <a:endCxn id="16" idx="1"/>
          </p:cNvCxnSpPr>
          <p:nvPr/>
        </p:nvCxnSpPr>
        <p:spPr>
          <a:xfrm flipV="1">
            <a:off x="5307986" y="4396863"/>
            <a:ext cx="571698" cy="73041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C19645D2-ADA5-1662-0DBA-1ADF5AD0B5B3}"/>
              </a:ext>
            </a:extLst>
          </p:cNvPr>
          <p:cNvCxnSpPr>
            <a:cxnSpLocks/>
            <a:stCxn id="14" idx="1"/>
            <a:endCxn id="16" idx="3"/>
          </p:cNvCxnSpPr>
          <p:nvPr/>
        </p:nvCxnSpPr>
        <p:spPr>
          <a:xfrm rot="10800000">
            <a:off x="9212686" y="4396863"/>
            <a:ext cx="389102" cy="3652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D3127432-1F13-DEBF-510E-CE9245B07032}"/>
              </a:ext>
            </a:extLst>
          </p:cNvPr>
          <p:cNvCxnSpPr>
            <a:cxnSpLocks/>
            <a:stCxn id="16" idx="2"/>
            <a:endCxn id="17" idx="0"/>
          </p:cNvCxnSpPr>
          <p:nvPr/>
        </p:nvCxnSpPr>
        <p:spPr>
          <a:xfrm rot="5400000">
            <a:off x="7419632" y="5255732"/>
            <a:ext cx="246758" cy="63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7C8A353F-3A98-127E-95A0-3AC951ACB4EF}"/>
              </a:ext>
            </a:extLst>
          </p:cNvPr>
          <p:cNvSpPr txBox="1"/>
          <p:nvPr/>
        </p:nvSpPr>
        <p:spPr>
          <a:xfrm>
            <a:off x="6152975" y="6275374"/>
            <a:ext cx="2786422" cy="369332"/>
          </a:xfrm>
          <a:prstGeom prst="rect">
            <a:avLst/>
          </a:prstGeom>
          <a:noFill/>
        </p:spPr>
        <p:txBody>
          <a:bodyPr wrap="square" rtlCol="0">
            <a:spAutoFit/>
          </a:bodyPr>
          <a:lstStyle/>
          <a:p>
            <a:r>
              <a:rPr lang="en-US" dirty="0"/>
              <a:t>Final filtered SP time series</a:t>
            </a:r>
          </a:p>
        </p:txBody>
      </p:sp>
      <p:cxnSp>
        <p:nvCxnSpPr>
          <p:cNvPr id="191" name="Connector: Elbow 190">
            <a:extLst>
              <a:ext uri="{FF2B5EF4-FFF2-40B4-BE49-F238E27FC236}">
                <a16:creationId xmlns:a16="http://schemas.microsoft.com/office/drawing/2014/main" id="{04A00D93-D844-F175-96F5-58619FB3C1EE}"/>
              </a:ext>
            </a:extLst>
          </p:cNvPr>
          <p:cNvCxnSpPr>
            <a:cxnSpLocks/>
            <a:stCxn id="17" idx="2"/>
            <a:endCxn id="189" idx="0"/>
          </p:cNvCxnSpPr>
          <p:nvPr/>
        </p:nvCxnSpPr>
        <p:spPr>
          <a:xfrm rot="16200000" flipH="1">
            <a:off x="7419632" y="6148820"/>
            <a:ext cx="246758" cy="63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6974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ABB0A-10F2-C46B-BAB4-92ED14D0564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45C0082-CDF9-75EC-A87F-E32335596DAC}"/>
              </a:ext>
            </a:extLst>
          </p:cNvPr>
          <p:cNvGraphicFramePr>
            <a:graphicFrameLocks noGrp="1"/>
          </p:cNvGraphicFramePr>
          <p:nvPr>
            <p:extLst>
              <p:ext uri="{D42A27DB-BD31-4B8C-83A1-F6EECF244321}">
                <p14:modId xmlns:p14="http://schemas.microsoft.com/office/powerpoint/2010/main" val="838301170"/>
              </p:ext>
            </p:extLst>
          </p:nvPr>
        </p:nvGraphicFramePr>
        <p:xfrm>
          <a:off x="389163" y="568968"/>
          <a:ext cx="11059887" cy="6043244"/>
        </p:xfrm>
        <a:graphic>
          <a:graphicData uri="http://schemas.openxmlformats.org/drawingml/2006/table">
            <a:tbl>
              <a:tblPr firstRow="1" firstCol="1" bandRow="1">
                <a:tableStyleId>{5C22544A-7EE6-4342-B048-85BDC9FD1C3A}</a:tableStyleId>
              </a:tblPr>
              <a:tblGrid>
                <a:gridCol w="1186708">
                  <a:extLst>
                    <a:ext uri="{9D8B030D-6E8A-4147-A177-3AD203B41FA5}">
                      <a16:colId xmlns:a16="http://schemas.microsoft.com/office/drawing/2014/main" val="3297728776"/>
                    </a:ext>
                  </a:extLst>
                </a:gridCol>
                <a:gridCol w="778476">
                  <a:extLst>
                    <a:ext uri="{9D8B030D-6E8A-4147-A177-3AD203B41FA5}">
                      <a16:colId xmlns:a16="http://schemas.microsoft.com/office/drawing/2014/main" val="2559451681"/>
                    </a:ext>
                  </a:extLst>
                </a:gridCol>
                <a:gridCol w="1200885">
                  <a:extLst>
                    <a:ext uri="{9D8B030D-6E8A-4147-A177-3AD203B41FA5}">
                      <a16:colId xmlns:a16="http://schemas.microsoft.com/office/drawing/2014/main" val="4001635212"/>
                    </a:ext>
                  </a:extLst>
                </a:gridCol>
                <a:gridCol w="2321712">
                  <a:extLst>
                    <a:ext uri="{9D8B030D-6E8A-4147-A177-3AD203B41FA5}">
                      <a16:colId xmlns:a16="http://schemas.microsoft.com/office/drawing/2014/main" val="3123699057"/>
                    </a:ext>
                  </a:extLst>
                </a:gridCol>
                <a:gridCol w="2786053">
                  <a:extLst>
                    <a:ext uri="{9D8B030D-6E8A-4147-A177-3AD203B41FA5}">
                      <a16:colId xmlns:a16="http://schemas.microsoft.com/office/drawing/2014/main" val="2454561434"/>
                    </a:ext>
                  </a:extLst>
                </a:gridCol>
                <a:gridCol w="2786053">
                  <a:extLst>
                    <a:ext uri="{9D8B030D-6E8A-4147-A177-3AD203B41FA5}">
                      <a16:colId xmlns:a16="http://schemas.microsoft.com/office/drawing/2014/main" val="2829004577"/>
                    </a:ext>
                  </a:extLst>
                </a:gridCol>
              </a:tblGrid>
              <a:tr h="428758">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Region</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Count of PLD lakes</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Temporal frequency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Sources</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Data provider</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Comments</a:t>
                      </a:r>
                    </a:p>
                  </a:txBody>
                  <a:tcPr marL="58021" marR="58021" marT="0" marB="0" anchor="ctr"/>
                </a:tc>
                <a:extLst>
                  <a:ext uri="{0D108BD9-81ED-4DB2-BD59-A6C34878D82A}">
                    <a16:rowId xmlns:a16="http://schemas.microsoft.com/office/drawing/2014/main" val="151532425"/>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Quebec</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35</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CEHQ</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r>
                        <a:rPr lang="en-US" sz="1000" kern="100" dirty="0" err="1">
                          <a:effectLst/>
                          <a:latin typeface="Arial" panose="020B0604020202020204" pitchFamily="34" charset="0"/>
                          <a:cs typeface="Arial" panose="020B0604020202020204" pitchFamily="34" charset="0"/>
                        </a:rPr>
                        <a:t>Mélanie</a:t>
                      </a:r>
                      <a:r>
                        <a:rPr lang="en-US" sz="1000" kern="100" dirty="0">
                          <a:effectLst/>
                          <a:latin typeface="Arial" panose="020B0604020202020204" pitchFamily="34" charset="0"/>
                          <a:cs typeface="Arial" panose="020B0604020202020204" pitchFamily="34" charset="0"/>
                        </a:rPr>
                        <a:t> </a:t>
                      </a:r>
                      <a:r>
                        <a:rPr lang="en-US" sz="1000" kern="100" dirty="0" err="1">
                          <a:effectLst/>
                          <a:latin typeface="Arial" panose="020B0604020202020204" pitchFamily="34" charset="0"/>
                          <a:cs typeface="Arial" panose="020B0604020202020204" pitchFamily="34" charset="0"/>
                        </a:rPr>
                        <a:t>Trudel</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38394103"/>
                  </a:ext>
                </a:extLst>
              </a:tr>
              <a:tr h="428758">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Canada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277</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SWOT passes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ECCC, CEHQ, Spence, HQ, UDES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0017722"/>
                  </a:ext>
                </a:extLst>
              </a:tr>
              <a:tr h="369433">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North America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589</a:t>
                      </a:r>
                      <a:r>
                        <a:rPr lang="en-US" sz="1000" strike="sngStrike" kern="100" dirty="0">
                          <a:effectLst/>
                          <a:latin typeface="Arial" panose="020B0604020202020204" pitchFamily="34" charset="0"/>
                          <a:cs typeface="Arial" panose="020B0604020202020204" pitchFamily="34" charset="0"/>
                        </a:rPr>
                        <a:t>590</a:t>
                      </a:r>
                      <a:endParaRPr lang="en-US" sz="1000" strike="sngStrike"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000" kern="100" dirty="0">
                          <a:effectLst/>
                          <a:latin typeface="Arial" panose="020B0604020202020204" pitchFamily="34" charset="0"/>
                          <a:cs typeface="Arial" panose="020B0604020202020204" pitchFamily="34" charset="0"/>
                        </a:rPr>
                        <a:t>15 min to daily</a:t>
                      </a:r>
                      <a:endParaRPr lang="en-US" sz="1000" strike="sngStrike" kern="100" dirty="0">
                        <a:effectLst/>
                        <a:latin typeface="Arial" panose="020B0604020202020204" pitchFamily="34" charset="0"/>
                        <a:cs typeface="Arial" panose="020B0604020202020204" pitchFamily="34" charset="0"/>
                      </a:endParaRPr>
                    </a:p>
                    <a:p>
                      <a:pPr marL="0" marR="0">
                        <a:lnSpc>
                          <a:spcPct val="115000"/>
                        </a:lnSpc>
                        <a:spcBef>
                          <a:spcPts val="0"/>
                        </a:spcBef>
                        <a:spcAft>
                          <a:spcPts val="0"/>
                        </a:spcAft>
                      </a:pPr>
                      <a:r>
                        <a:rPr lang="en-US" sz="1000" strike="sngStrike" kern="100" dirty="0">
                          <a:effectLst/>
                          <a:latin typeface="Arial" panose="020B0604020202020204" pitchFamily="34" charset="0"/>
                          <a:cs typeface="Arial" panose="020B0604020202020204" pitchFamily="34" charset="0"/>
                        </a:rPr>
                        <a:t>SWOT passes </a:t>
                      </a: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ECCC, Quebec, USBR, USGS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Merritt Harlan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Merritt updated all data with the best available temporal frequencies. I dropped one lake (PLD 7421035423) due to gauge data issues, but I will double check other lakes as well. </a:t>
                      </a:r>
                    </a:p>
                  </a:txBody>
                  <a:tcPr marL="58021" marR="58021" marT="0" marB="0" anchor="ctr"/>
                </a:tc>
                <a:extLst>
                  <a:ext uri="{0D108BD9-81ED-4DB2-BD59-A6C34878D82A}">
                    <a16:rowId xmlns:a16="http://schemas.microsoft.com/office/drawing/2014/main" val="4291620616"/>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China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38</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Multiple authorities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Chunqiao Song</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468641450"/>
                  </a:ext>
                </a:extLst>
              </a:tr>
              <a:tr h="652635">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West Africa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2</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Hourly or finer</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 situ measurement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Manuela Grippa;</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Félix Girard;</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Laurent Kergoat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69590228"/>
                  </a:ext>
                </a:extLst>
              </a:tr>
              <a:tr h="748244">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Amazon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6</a:t>
                      </a: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 situ measurement (Mamirauá Institute for Sustainable Development)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Ayan Fleischmann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364285413"/>
                  </a:ext>
                </a:extLst>
              </a:tr>
              <a:tr h="748244">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Ceará, Brazil</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8</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Every 30 min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In situ measurement (</a:t>
                      </a:r>
                      <a:r>
                        <a:rPr lang="en-US" sz="1000" kern="100" dirty="0" err="1">
                          <a:effectLst/>
                          <a:latin typeface="Arial" panose="020B0604020202020204" pitchFamily="34" charset="0"/>
                          <a:cs typeface="Arial" panose="020B0604020202020204" pitchFamily="34" charset="0"/>
                        </a:rPr>
                        <a:t>Funceme</a:t>
                      </a:r>
                      <a:r>
                        <a:rPr lang="en-US" sz="1000" kern="100" dirty="0">
                          <a:effectLst/>
                          <a:latin typeface="Arial" panose="020B0604020202020204" pitchFamily="34" charset="0"/>
                          <a:cs typeface="Arial" panose="020B0604020202020204" pitchFamily="34" charset="0"/>
                        </a:rPr>
                        <a:t>)</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Rafael Oliveira;</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Marielle Gosset;</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Eduardo Sávio Rodrigues Martins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75245267"/>
                  </a:ext>
                </a:extLst>
              </a:tr>
              <a:tr h="748244">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Other Brazil</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 43</a:t>
                      </a:r>
                      <a:r>
                        <a:rPr lang="en-US" sz="1000" strike="sngStrike" kern="100" dirty="0">
                          <a:effectLst/>
                          <a:latin typeface="Arial" panose="020B0604020202020204" pitchFamily="34" charset="0"/>
                          <a:ea typeface="DengXian" panose="02010600030101010101" pitchFamily="2" charset="-122"/>
                          <a:cs typeface="Arial" panose="020B0604020202020204" pitchFamily="34" charset="0"/>
                        </a:rPr>
                        <a:t>60</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Daily</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To confirm source</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Elyssa Collins; </a:t>
                      </a:r>
                    </a:p>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Augusto </a:t>
                      </a:r>
                      <a:r>
                        <a:rPr lang="en-US" sz="1000" kern="100" dirty="0" err="1">
                          <a:effectLst/>
                          <a:latin typeface="Arial" panose="020B0604020202020204" pitchFamily="34" charset="0"/>
                          <a:ea typeface="DengXian" panose="02010600030101010101" pitchFamily="2" charset="-122"/>
                          <a:cs typeface="Arial" panose="020B0604020202020204" pitchFamily="34" charset="0"/>
                        </a:rPr>
                        <a:t>Getirana</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Originally 60. I deleted 17 reservoirs with gauge data issues</a:t>
                      </a:r>
                    </a:p>
                  </a:txBody>
                  <a:tcPr marL="58021" marR="58021" marT="0" marB="0" anchor="ctr"/>
                </a:tc>
                <a:extLst>
                  <a:ext uri="{0D108BD9-81ED-4DB2-BD59-A6C34878D82A}">
                    <a16:rowId xmlns:a16="http://schemas.microsoft.com/office/drawing/2014/main" val="101891490"/>
                  </a:ext>
                </a:extLst>
              </a:tr>
              <a:tr h="428758">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India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304</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Monthly</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NWIC, APWRIMS, Gujarat, CWC</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Deep Shah; </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Huilin Gao</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931179867"/>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Total</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1302</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605864500"/>
                  </a:ext>
                </a:extLst>
              </a:tr>
              <a:tr h="558839">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Total unique (excluding duplicates)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1062</a:t>
                      </a:r>
                      <a:endParaRPr lang="en-US" sz="1000" strike="sngStrike"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 </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214890085"/>
                  </a:ext>
                </a:extLst>
              </a:tr>
            </a:tbl>
          </a:graphicData>
        </a:graphic>
      </p:graphicFrame>
      <p:sp>
        <p:nvSpPr>
          <p:cNvPr id="5" name="Rectangle 1">
            <a:extLst>
              <a:ext uri="{FF2B5EF4-FFF2-40B4-BE49-F238E27FC236}">
                <a16:creationId xmlns:a16="http://schemas.microsoft.com/office/drawing/2014/main" id="{CD2B85C9-22E9-9050-FB5E-BA4B9A3DF08C}"/>
              </a:ext>
            </a:extLst>
          </p:cNvPr>
          <p:cNvSpPr>
            <a:spLocks noChangeArrowheads="1"/>
          </p:cNvSpPr>
          <p:nvPr/>
        </p:nvSpPr>
        <p:spPr bwMode="auto">
          <a:xfrm>
            <a:off x="306388" y="0"/>
            <a:ext cx="111426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ptos" panose="020B0004020202020204" pitchFamily="34" charset="0"/>
                <a:ea typeface="DengXian" panose="02010600030101010101" pitchFamily="2" charset="-122"/>
                <a:cs typeface="Times New Roman" panose="02020603050405020304" pitchFamily="18" charset="0"/>
              </a:rPr>
              <a:t>Updated gauge data</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9740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background with black and white clouds&#10;&#10;AI-generated content may be incorrect.">
            <a:extLst>
              <a:ext uri="{FF2B5EF4-FFF2-40B4-BE49-F238E27FC236}">
                <a16:creationId xmlns:a16="http://schemas.microsoft.com/office/drawing/2014/main" id="{01C1FFCB-300C-164D-D87D-12982D1476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2659" y="2172400"/>
            <a:ext cx="5486682" cy="3657788"/>
          </a:xfrm>
        </p:spPr>
      </p:pic>
      <p:pic>
        <p:nvPicPr>
          <p:cNvPr id="8" name="Picture 7" descr="A graph with blue bars&#10;&#10;AI-generated content may be incorrect.">
            <a:extLst>
              <a:ext uri="{FF2B5EF4-FFF2-40B4-BE49-F238E27FC236}">
                <a16:creationId xmlns:a16="http://schemas.microsoft.com/office/drawing/2014/main" id="{C67182FE-67C4-9CBD-D98D-EE66AAC0C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623" y="709746"/>
            <a:ext cx="8393418" cy="5245886"/>
          </a:xfrm>
          <a:prstGeom prst="rect">
            <a:avLst/>
          </a:prstGeom>
        </p:spPr>
      </p:pic>
    </p:spTree>
    <p:extLst>
      <p:ext uri="{BB962C8B-B14F-4D97-AF65-F5344CB8AC3E}">
        <p14:creationId xmlns:p14="http://schemas.microsoft.com/office/powerpoint/2010/main" val="3050992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892DF-164E-497A-0AF2-9292FAA644B7}"/>
            </a:ext>
          </a:extLst>
        </p:cNvPr>
        <p:cNvGrpSpPr/>
        <p:nvPr/>
      </p:nvGrpSpPr>
      <p:grpSpPr>
        <a:xfrm>
          <a:off x="0" y="0"/>
          <a:ext cx="0" cy="0"/>
          <a:chOff x="0" y="0"/>
          <a:chExt cx="0" cy="0"/>
        </a:xfrm>
      </p:grpSpPr>
      <p:pic>
        <p:nvPicPr>
          <p:cNvPr id="3" name="Picture 2" descr="A graph with numbers and lines&#10;&#10;AI-generated content may be incorrect.">
            <a:extLst>
              <a:ext uri="{FF2B5EF4-FFF2-40B4-BE49-F238E27FC236}">
                <a16:creationId xmlns:a16="http://schemas.microsoft.com/office/drawing/2014/main" id="{7B76F097-B911-5113-566D-C3C6CAEB12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107" y="399894"/>
            <a:ext cx="11379785" cy="6058211"/>
          </a:xfrm>
          <a:prstGeom prst="rect">
            <a:avLst/>
          </a:prstGeom>
        </p:spPr>
      </p:pic>
    </p:spTree>
    <p:extLst>
      <p:ext uri="{BB962C8B-B14F-4D97-AF65-F5344CB8AC3E}">
        <p14:creationId xmlns:p14="http://schemas.microsoft.com/office/powerpoint/2010/main" val="2888703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ED0DFF2B-3770-A163-FCF9-336B676F2BAA}"/>
              </a:ext>
            </a:extLst>
          </p:cNvPr>
          <p:cNvPicPr>
            <a:picLocks noChangeAspect="1"/>
          </p:cNvPicPr>
          <p:nvPr/>
        </p:nvPicPr>
        <p:blipFill>
          <a:blip r:embed="rId2"/>
          <a:srcRect b="16060"/>
          <a:stretch>
            <a:fillRect/>
          </a:stretch>
        </p:blipFill>
        <p:spPr>
          <a:xfrm>
            <a:off x="20" y="1282"/>
            <a:ext cx="12191980" cy="6856718"/>
          </a:xfrm>
          <a:prstGeom prst="rect">
            <a:avLst/>
          </a:prstGeom>
        </p:spPr>
      </p:pic>
      <p:sp>
        <p:nvSpPr>
          <p:cNvPr id="2" name="Content Placeholder 2">
            <a:extLst>
              <a:ext uri="{FF2B5EF4-FFF2-40B4-BE49-F238E27FC236}">
                <a16:creationId xmlns:a16="http://schemas.microsoft.com/office/drawing/2014/main" id="{92D50471-5644-481E-1D7D-192121229AFC}"/>
              </a:ext>
            </a:extLst>
          </p:cNvPr>
          <p:cNvSpPr>
            <a:spLocks noGrp="1"/>
          </p:cNvSpPr>
          <p:nvPr>
            <p:ph idx="1"/>
          </p:nvPr>
        </p:nvSpPr>
        <p:spPr>
          <a:xfrm>
            <a:off x="4515852" y="5281863"/>
            <a:ext cx="7395411" cy="1417680"/>
          </a:xfrm>
          <a:solidFill>
            <a:schemeClr val="bg1">
              <a:lumMod val="85000"/>
            </a:schemeClr>
          </a:solidFill>
        </p:spPr>
        <p:txBody>
          <a:bodyPr>
            <a:normAutofit fontScale="85000" lnSpcReduction="10000"/>
          </a:bodyPr>
          <a:lstStyle/>
          <a:p>
            <a:pPr marL="0" indent="0">
              <a:buNone/>
            </a:pPr>
            <a:r>
              <a:rPr lang="en-US" sz="2000" dirty="0"/>
              <a:t>Low “</a:t>
            </a:r>
            <a:r>
              <a:rPr lang="en-US" sz="2000" dirty="0" err="1"/>
              <a:t>xtrk_dist</a:t>
            </a:r>
            <a:r>
              <a:rPr lang="en-US" sz="2000" dirty="0"/>
              <a:t>” values for the </a:t>
            </a:r>
            <a:r>
              <a:rPr lang="en-US" sz="2000" dirty="0" err="1"/>
              <a:t>LakeSP</a:t>
            </a:r>
            <a:r>
              <a:rPr lang="en-US" sz="2000" dirty="0"/>
              <a:t> product can be caused by one validly detected lake split into both swaths (such as the Three Gorges Reservoir), leading to the centroid of the lake falling within the track gap. This does not mean the lake detection is of poor quality. We suggest that for future </a:t>
            </a:r>
            <a:r>
              <a:rPr lang="en-US" sz="2000" dirty="0" err="1"/>
              <a:t>LakeSP</a:t>
            </a:r>
            <a:r>
              <a:rPr lang="en-US" sz="2000" dirty="0"/>
              <a:t> improvement, computing another </a:t>
            </a:r>
            <a:r>
              <a:rPr lang="en-US" sz="2000" dirty="0" err="1"/>
              <a:t>xtrk_dist</a:t>
            </a:r>
            <a:r>
              <a:rPr lang="en-US" sz="2000" dirty="0"/>
              <a:t> metric based on the absolute distances to the track, instead of the negative and positive distances. </a:t>
            </a:r>
          </a:p>
        </p:txBody>
      </p:sp>
    </p:spTree>
    <p:extLst>
      <p:ext uri="{BB962C8B-B14F-4D97-AF65-F5344CB8AC3E}">
        <p14:creationId xmlns:p14="http://schemas.microsoft.com/office/powerpoint/2010/main" val="1832666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BCA1-6840-ED48-17DE-AC71D6D3758C}"/>
              </a:ext>
            </a:extLst>
          </p:cNvPr>
          <p:cNvSpPr>
            <a:spLocks noGrp="1"/>
          </p:cNvSpPr>
          <p:nvPr>
            <p:ph type="title"/>
          </p:nvPr>
        </p:nvSpPr>
        <p:spPr/>
        <p:txBody>
          <a:bodyPr/>
          <a:lstStyle/>
          <a:p>
            <a:r>
              <a:rPr lang="en-US" dirty="0"/>
              <a:t>Update summary on 09/15/2025</a:t>
            </a:r>
          </a:p>
        </p:txBody>
      </p:sp>
      <p:sp>
        <p:nvSpPr>
          <p:cNvPr id="3" name="Content Placeholder 2">
            <a:extLst>
              <a:ext uri="{FF2B5EF4-FFF2-40B4-BE49-F238E27FC236}">
                <a16:creationId xmlns:a16="http://schemas.microsoft.com/office/drawing/2014/main" id="{3533C1E2-F3E5-1230-72D1-B81F5F381C7F}"/>
              </a:ext>
            </a:extLst>
          </p:cNvPr>
          <p:cNvSpPr>
            <a:spLocks noGrp="1"/>
          </p:cNvSpPr>
          <p:nvPr>
            <p:ph idx="1"/>
          </p:nvPr>
        </p:nvSpPr>
        <p:spPr/>
        <p:txBody>
          <a:bodyPr>
            <a:normAutofit fontScale="92500" lnSpcReduction="20000"/>
          </a:bodyPr>
          <a:lstStyle/>
          <a:p>
            <a:r>
              <a:rPr lang="en-US" dirty="0"/>
              <a:t>For clarity, I organized all major functions needed for executing the filter in a separate script: </a:t>
            </a:r>
            <a:r>
              <a:rPr lang="en-US" b="1" dirty="0">
                <a:highlight>
                  <a:srgbClr val="FFFF00"/>
                </a:highlight>
              </a:rPr>
              <a:t>customized_functions.py</a:t>
            </a:r>
          </a:p>
          <a:p>
            <a:r>
              <a:rPr lang="en-US" dirty="0"/>
              <a:t>The main script to execute the filter is: </a:t>
            </a:r>
            <a:r>
              <a:rPr lang="en-US" b="1" dirty="0">
                <a:highlight>
                  <a:srgbClr val="FFFF00"/>
                </a:highlight>
              </a:rPr>
              <a:t>Customized-LakeSP-filter-v9-08122025.py </a:t>
            </a:r>
          </a:p>
          <a:p>
            <a:r>
              <a:rPr lang="en-US" dirty="0"/>
              <a:t>Now after removing duplicated and problematic gauges, we have 1070 unique PLD lakes with gauge for validation (summarized in the table of the next slide). The full </a:t>
            </a:r>
            <a:r>
              <a:rPr lang="en-US" dirty="0">
                <a:highlight>
                  <a:srgbClr val="FFFF00"/>
                </a:highlight>
              </a:rPr>
              <a:t>gauge data </a:t>
            </a:r>
            <a:r>
              <a:rPr lang="en-US" dirty="0"/>
              <a:t>are given in the </a:t>
            </a:r>
            <a:r>
              <a:rPr lang="en-US" dirty="0">
                <a:hlinkClick r:id="rId2"/>
              </a:rPr>
              <a:t>Google Drive</a:t>
            </a:r>
            <a:r>
              <a:rPr lang="en-US" dirty="0"/>
              <a:t>, and I haven’t included the European gauge data yet. The Google Drive also contains a “</a:t>
            </a:r>
            <a:r>
              <a:rPr lang="en-US" dirty="0">
                <a:highlight>
                  <a:srgbClr val="FFFF00"/>
                </a:highlight>
              </a:rPr>
              <a:t>Plots</a:t>
            </a:r>
            <a:r>
              <a:rPr lang="en-US" dirty="0"/>
              <a:t>” folder that shows the validation plot for each of the lakes. </a:t>
            </a:r>
          </a:p>
          <a:p>
            <a:r>
              <a:rPr lang="en-US" dirty="0"/>
              <a:t>I also ran the filter through my school server on the entire 6 million PLD lakes with all available </a:t>
            </a:r>
            <a:r>
              <a:rPr lang="en-US" dirty="0" err="1"/>
              <a:t>LakeSP</a:t>
            </a:r>
            <a:r>
              <a:rPr lang="en-US" dirty="0"/>
              <a:t> records so far. It took about 10 hours to complete (overall quite efficient), and I added the WSE variability map at the end of the slides (sorry, I haven’t added the legend yet).    </a:t>
            </a:r>
          </a:p>
        </p:txBody>
      </p:sp>
    </p:spTree>
    <p:extLst>
      <p:ext uri="{BB962C8B-B14F-4D97-AF65-F5344CB8AC3E}">
        <p14:creationId xmlns:p14="http://schemas.microsoft.com/office/powerpoint/2010/main" val="245799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D0E6B-F4E2-6217-3923-EB6208C6E54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7BD1FB-4630-B85A-1F9A-C6AB1AA87108}"/>
              </a:ext>
            </a:extLst>
          </p:cNvPr>
          <p:cNvGraphicFramePr>
            <a:graphicFrameLocks noGrp="1"/>
          </p:cNvGraphicFramePr>
          <p:nvPr>
            <p:extLst>
              <p:ext uri="{D42A27DB-BD31-4B8C-83A1-F6EECF244321}">
                <p14:modId xmlns:p14="http://schemas.microsoft.com/office/powerpoint/2010/main" val="3176839828"/>
              </p:ext>
            </p:extLst>
          </p:nvPr>
        </p:nvGraphicFramePr>
        <p:xfrm>
          <a:off x="389163" y="501593"/>
          <a:ext cx="11059887" cy="6170523"/>
        </p:xfrm>
        <a:graphic>
          <a:graphicData uri="http://schemas.openxmlformats.org/drawingml/2006/table">
            <a:tbl>
              <a:tblPr firstRow="1" firstCol="1" bandRow="1">
                <a:tableStyleId>{5C22544A-7EE6-4342-B048-85BDC9FD1C3A}</a:tableStyleId>
              </a:tblPr>
              <a:tblGrid>
                <a:gridCol w="1186708">
                  <a:extLst>
                    <a:ext uri="{9D8B030D-6E8A-4147-A177-3AD203B41FA5}">
                      <a16:colId xmlns:a16="http://schemas.microsoft.com/office/drawing/2014/main" val="3297728776"/>
                    </a:ext>
                  </a:extLst>
                </a:gridCol>
                <a:gridCol w="778476">
                  <a:extLst>
                    <a:ext uri="{9D8B030D-6E8A-4147-A177-3AD203B41FA5}">
                      <a16:colId xmlns:a16="http://schemas.microsoft.com/office/drawing/2014/main" val="2559451681"/>
                    </a:ext>
                  </a:extLst>
                </a:gridCol>
                <a:gridCol w="1200885">
                  <a:extLst>
                    <a:ext uri="{9D8B030D-6E8A-4147-A177-3AD203B41FA5}">
                      <a16:colId xmlns:a16="http://schemas.microsoft.com/office/drawing/2014/main" val="4001635212"/>
                    </a:ext>
                  </a:extLst>
                </a:gridCol>
                <a:gridCol w="2321712">
                  <a:extLst>
                    <a:ext uri="{9D8B030D-6E8A-4147-A177-3AD203B41FA5}">
                      <a16:colId xmlns:a16="http://schemas.microsoft.com/office/drawing/2014/main" val="3123699057"/>
                    </a:ext>
                  </a:extLst>
                </a:gridCol>
                <a:gridCol w="2786053">
                  <a:extLst>
                    <a:ext uri="{9D8B030D-6E8A-4147-A177-3AD203B41FA5}">
                      <a16:colId xmlns:a16="http://schemas.microsoft.com/office/drawing/2014/main" val="2454561434"/>
                    </a:ext>
                  </a:extLst>
                </a:gridCol>
                <a:gridCol w="2786053">
                  <a:extLst>
                    <a:ext uri="{9D8B030D-6E8A-4147-A177-3AD203B41FA5}">
                      <a16:colId xmlns:a16="http://schemas.microsoft.com/office/drawing/2014/main" val="2829004577"/>
                    </a:ext>
                  </a:extLst>
                </a:gridCol>
              </a:tblGrid>
              <a:tr h="428758">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Region</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Count of PLD lakes</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Temporal frequency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Sources</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Data provider</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Comments</a:t>
                      </a:r>
                    </a:p>
                  </a:txBody>
                  <a:tcPr marL="58021" marR="58021" marT="0" marB="0" anchor="ctr"/>
                </a:tc>
                <a:extLst>
                  <a:ext uri="{0D108BD9-81ED-4DB2-BD59-A6C34878D82A}">
                    <a16:rowId xmlns:a16="http://schemas.microsoft.com/office/drawing/2014/main" val="151532425"/>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Quebec</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35</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CEHQ</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r>
                        <a:rPr lang="en-US" sz="1000" kern="100" dirty="0" err="1">
                          <a:effectLst/>
                          <a:latin typeface="Arial" panose="020B0604020202020204" pitchFamily="34" charset="0"/>
                          <a:cs typeface="Arial" panose="020B0604020202020204" pitchFamily="34" charset="0"/>
                        </a:rPr>
                        <a:t>Mélanie</a:t>
                      </a:r>
                      <a:r>
                        <a:rPr lang="en-US" sz="1000" kern="100" dirty="0">
                          <a:effectLst/>
                          <a:latin typeface="Arial" panose="020B0604020202020204" pitchFamily="34" charset="0"/>
                          <a:cs typeface="Arial" panose="020B0604020202020204" pitchFamily="34" charset="0"/>
                        </a:rPr>
                        <a:t> </a:t>
                      </a:r>
                      <a:r>
                        <a:rPr lang="en-US" sz="1000" kern="100" dirty="0" err="1">
                          <a:effectLst/>
                          <a:latin typeface="Arial" panose="020B0604020202020204" pitchFamily="34" charset="0"/>
                          <a:cs typeface="Arial" panose="020B0604020202020204" pitchFamily="34" charset="0"/>
                        </a:rPr>
                        <a:t>Trudel</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38394103"/>
                  </a:ext>
                </a:extLst>
              </a:tr>
              <a:tr h="428758">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Canada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277</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SWOT passes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ECCC, CEHQ, Spence, HQ, UDES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0017722"/>
                  </a:ext>
                </a:extLst>
              </a:tr>
              <a:tr h="369433">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North America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strike="noStrike" kern="100" dirty="0">
                          <a:effectLst/>
                          <a:latin typeface="Arial" panose="020B0604020202020204" pitchFamily="34" charset="0"/>
                          <a:ea typeface="DengXian" panose="02010600030101010101" pitchFamily="2" charset="-122"/>
                          <a:cs typeface="Arial" panose="020B0604020202020204" pitchFamily="34" charset="0"/>
                        </a:rPr>
                        <a:t>586</a:t>
                      </a:r>
                    </a:p>
                  </a:txBody>
                  <a:tcPr marL="58021" marR="58021"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000" kern="100" dirty="0">
                          <a:effectLst/>
                          <a:latin typeface="Arial" panose="020B0604020202020204" pitchFamily="34" charset="0"/>
                          <a:cs typeface="Arial" panose="020B0604020202020204" pitchFamily="34" charset="0"/>
                        </a:rPr>
                        <a:t>15 min to daily</a:t>
                      </a:r>
                      <a:endParaRPr lang="en-US" sz="1000" strike="sngStrike" kern="100" dirty="0">
                        <a:effectLst/>
                        <a:latin typeface="Arial" panose="020B0604020202020204" pitchFamily="34" charset="0"/>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ECCC, Quebec, USBR, USGS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Merritt Harlan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Merritt updated all data with the best available temporal frequencies. I dropped one lake (PLD 7421035423) due to gauge data issues, but I will double check other lakes as well. </a:t>
                      </a:r>
                    </a:p>
                  </a:txBody>
                  <a:tcPr marL="58021" marR="58021" marT="0" marB="0" anchor="ctr"/>
                </a:tc>
                <a:extLst>
                  <a:ext uri="{0D108BD9-81ED-4DB2-BD59-A6C34878D82A}">
                    <a16:rowId xmlns:a16="http://schemas.microsoft.com/office/drawing/2014/main" val="4291620616"/>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China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38</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Multiple authorities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Chunqiao Song</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468641450"/>
                  </a:ext>
                </a:extLst>
              </a:tr>
              <a:tr h="652635">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West Africa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2</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Hourly or finer</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 situ measurement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Manuela Grippa;</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Félix Girard;</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Laurent Kergoat</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69590228"/>
                  </a:ext>
                </a:extLst>
              </a:tr>
              <a:tr h="748244">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Amazon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6</a:t>
                      </a: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Daily</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In situ measurement (</a:t>
                      </a:r>
                      <a:r>
                        <a:rPr lang="en-US" sz="1000" kern="100" dirty="0" err="1">
                          <a:effectLst/>
                          <a:latin typeface="Arial" panose="020B0604020202020204" pitchFamily="34" charset="0"/>
                          <a:cs typeface="Arial" panose="020B0604020202020204" pitchFamily="34" charset="0"/>
                        </a:rPr>
                        <a:t>Mamirauá</a:t>
                      </a:r>
                      <a:r>
                        <a:rPr lang="en-US" sz="1000" kern="100" dirty="0">
                          <a:effectLst/>
                          <a:latin typeface="Arial" panose="020B0604020202020204" pitchFamily="34" charset="0"/>
                          <a:cs typeface="Arial" panose="020B0604020202020204" pitchFamily="34" charset="0"/>
                        </a:rPr>
                        <a:t> Institute for Sustainable Development)</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Ayan Fleischmann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364285413"/>
                  </a:ext>
                </a:extLst>
              </a:tr>
              <a:tr h="748244">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Ceará, Brazil</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8</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Every 30 min</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In situ measurement (</a:t>
                      </a:r>
                      <a:r>
                        <a:rPr lang="en-US" sz="1000" kern="100" dirty="0" err="1">
                          <a:effectLst/>
                          <a:latin typeface="Arial" panose="020B0604020202020204" pitchFamily="34" charset="0"/>
                          <a:cs typeface="Arial" panose="020B0604020202020204" pitchFamily="34" charset="0"/>
                        </a:rPr>
                        <a:t>Funceme</a:t>
                      </a:r>
                      <a:r>
                        <a:rPr lang="en-US" sz="1000" kern="100" dirty="0">
                          <a:effectLst/>
                          <a:latin typeface="Arial" panose="020B0604020202020204" pitchFamily="34" charset="0"/>
                          <a:cs typeface="Arial" panose="020B0604020202020204" pitchFamily="34" charset="0"/>
                        </a:rPr>
                        <a:t>)</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Rafael Oliveira;</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Marielle Gosset;</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Eduardo Sávio Rodrigues Martins</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75245267"/>
                  </a:ext>
                </a:extLst>
              </a:tr>
              <a:tr h="748244">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Other Brazil</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 </a:t>
                      </a:r>
                      <a:r>
                        <a:rPr lang="en-US" sz="1000" strike="noStrike" kern="100" dirty="0">
                          <a:effectLst/>
                          <a:latin typeface="Arial" panose="020B0604020202020204" pitchFamily="34" charset="0"/>
                          <a:ea typeface="DengXian" panose="02010600030101010101" pitchFamily="2" charset="-122"/>
                          <a:cs typeface="Arial" panose="020B0604020202020204" pitchFamily="34" charset="0"/>
                        </a:rPr>
                        <a:t>62</a:t>
                      </a:r>
                      <a:endParaRPr lang="en-US" sz="1000" strike="sngStrike"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Daily</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To confirm source</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Elyssa Collins; </a:t>
                      </a:r>
                    </a:p>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Augusto </a:t>
                      </a:r>
                      <a:r>
                        <a:rPr lang="en-US" sz="1000" kern="100" dirty="0" err="1">
                          <a:effectLst/>
                          <a:latin typeface="Arial" panose="020B0604020202020204" pitchFamily="34" charset="0"/>
                          <a:ea typeface="DengXian" panose="02010600030101010101" pitchFamily="2" charset="-122"/>
                          <a:cs typeface="Arial" panose="020B0604020202020204" pitchFamily="34" charset="0"/>
                        </a:rPr>
                        <a:t>Getirana</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Originally 62. I deleted 17 reservoirs with gauge data issues</a:t>
                      </a:r>
                    </a:p>
                  </a:txBody>
                  <a:tcPr marL="58021" marR="58021" marT="0" marB="0" anchor="ctr"/>
                </a:tc>
                <a:extLst>
                  <a:ext uri="{0D108BD9-81ED-4DB2-BD59-A6C34878D82A}">
                    <a16:rowId xmlns:a16="http://schemas.microsoft.com/office/drawing/2014/main" val="101891490"/>
                  </a:ext>
                </a:extLst>
              </a:tr>
              <a:tr h="428758">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India</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ea typeface="DengXian" panose="02010600030101010101" pitchFamily="2" charset="-122"/>
                          <a:cs typeface="Arial" panose="020B0604020202020204" pitchFamily="34" charset="0"/>
                        </a:rPr>
                        <a:t>296</a:t>
                      </a: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Monthly</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NWIC, APWRIMS, Gujarat, CWC</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Deep Shah; </a:t>
                      </a:r>
                    </a:p>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Huilin Gao</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931179867"/>
                  </a:ext>
                </a:extLst>
              </a:tr>
              <a:tr h="204882">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Total</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1310</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605864500"/>
                  </a:ext>
                </a:extLst>
              </a:tr>
              <a:tr h="558839">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Total unique (excluding duplicated and deleted)</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1070</a:t>
                      </a:r>
                      <a:endParaRPr lang="en-US" sz="1000" strike="sngStrike"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a:effectLst/>
                          <a:latin typeface="Arial" panose="020B0604020202020204" pitchFamily="34" charset="0"/>
                          <a:cs typeface="Arial" panose="020B0604020202020204" pitchFamily="34" charset="0"/>
                        </a:rPr>
                        <a:t> </a:t>
                      </a:r>
                      <a:endParaRPr lang="en-US" sz="10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000" kern="100" dirty="0">
                          <a:effectLst/>
                          <a:latin typeface="Arial" panose="020B0604020202020204" pitchFamily="34" charset="0"/>
                          <a:cs typeface="Arial" panose="020B0604020202020204" pitchFamily="34" charset="0"/>
                        </a:rPr>
                        <a:t> </a:t>
                      </a: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endParaRPr lang="en-US" sz="10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214890085"/>
                  </a:ext>
                </a:extLst>
              </a:tr>
            </a:tbl>
          </a:graphicData>
        </a:graphic>
      </p:graphicFrame>
      <p:sp>
        <p:nvSpPr>
          <p:cNvPr id="5" name="Rectangle 1">
            <a:extLst>
              <a:ext uri="{FF2B5EF4-FFF2-40B4-BE49-F238E27FC236}">
                <a16:creationId xmlns:a16="http://schemas.microsoft.com/office/drawing/2014/main" id="{357A38D7-357A-D350-5566-5F972D91EC4F}"/>
              </a:ext>
            </a:extLst>
          </p:cNvPr>
          <p:cNvSpPr>
            <a:spLocks noChangeArrowheads="1"/>
          </p:cNvSpPr>
          <p:nvPr/>
        </p:nvSpPr>
        <p:spPr bwMode="auto">
          <a:xfrm>
            <a:off x="306388" y="0"/>
            <a:ext cx="111426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ptos" panose="020B0004020202020204" pitchFamily="34" charset="0"/>
                <a:ea typeface="DengXian" panose="02010600030101010101" pitchFamily="2" charset="-122"/>
                <a:cs typeface="Times New Roman" panose="02020603050405020304" pitchFamily="18" charset="0"/>
              </a:rPr>
              <a:t>Updated gauge data</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359359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blue bars&#10;&#10;AI-generated content may be incorrect.">
            <a:extLst>
              <a:ext uri="{FF2B5EF4-FFF2-40B4-BE49-F238E27FC236}">
                <a16:creationId xmlns:a16="http://schemas.microsoft.com/office/drawing/2014/main" id="{0E5DD73B-C40E-F344-B536-846645527A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171" y="540743"/>
            <a:ext cx="8894829" cy="5559268"/>
          </a:xfrm>
          <a:prstGeom prst="rect">
            <a:avLst/>
          </a:prstGeom>
        </p:spPr>
      </p:pic>
      <p:sp>
        <p:nvSpPr>
          <p:cNvPr id="7" name="TextBox 6">
            <a:extLst>
              <a:ext uri="{FF2B5EF4-FFF2-40B4-BE49-F238E27FC236}">
                <a16:creationId xmlns:a16="http://schemas.microsoft.com/office/drawing/2014/main" id="{0181ABC6-EB4C-CD68-37F7-D2F597C46509}"/>
              </a:ext>
            </a:extLst>
          </p:cNvPr>
          <p:cNvSpPr txBox="1"/>
          <p:nvPr/>
        </p:nvSpPr>
        <p:spPr>
          <a:xfrm>
            <a:off x="858579" y="2413336"/>
            <a:ext cx="2895274" cy="2031325"/>
          </a:xfrm>
          <a:prstGeom prst="rect">
            <a:avLst/>
          </a:prstGeom>
          <a:noFill/>
        </p:spPr>
        <p:txBody>
          <a:bodyPr wrap="square">
            <a:spAutoFit/>
          </a:bodyPr>
          <a:lstStyle/>
          <a:p>
            <a:r>
              <a:rPr lang="en-US" dirty="0"/>
              <a:t>Feature        Importance</a:t>
            </a:r>
          </a:p>
          <a:p>
            <a:r>
              <a:rPr lang="en-US" dirty="0" err="1"/>
              <a:t>wse_std</a:t>
            </a:r>
            <a:r>
              <a:rPr lang="en-US" dirty="0"/>
              <a:t>        0.505106</a:t>
            </a:r>
          </a:p>
          <a:p>
            <a:r>
              <a:rPr lang="en-US" dirty="0" err="1"/>
              <a:t>wse_u</a:t>
            </a:r>
            <a:r>
              <a:rPr lang="en-US" dirty="0"/>
              <a:t>           0.240500</a:t>
            </a:r>
          </a:p>
          <a:p>
            <a:r>
              <a:rPr lang="en-US" dirty="0" err="1"/>
              <a:t>xtrk_dist</a:t>
            </a:r>
            <a:r>
              <a:rPr lang="en-US" dirty="0"/>
              <a:t>       0.177777</a:t>
            </a:r>
          </a:p>
          <a:p>
            <a:r>
              <a:rPr lang="en-US" dirty="0" err="1"/>
              <a:t>quality_f</a:t>
            </a:r>
            <a:r>
              <a:rPr lang="en-US" dirty="0"/>
              <a:t>       0.035842</a:t>
            </a:r>
          </a:p>
          <a:p>
            <a:r>
              <a:rPr lang="en-US" dirty="0" err="1"/>
              <a:t>ice_clim_f</a:t>
            </a:r>
            <a:r>
              <a:rPr lang="en-US" dirty="0"/>
              <a:t>     0.028451</a:t>
            </a:r>
          </a:p>
          <a:p>
            <a:r>
              <a:rPr lang="en-US" dirty="0" err="1"/>
              <a:t>xovr_cal_q</a:t>
            </a:r>
            <a:r>
              <a:rPr lang="en-US" dirty="0"/>
              <a:t>    0.012324</a:t>
            </a:r>
          </a:p>
        </p:txBody>
      </p:sp>
    </p:spTree>
    <p:extLst>
      <p:ext uri="{BB962C8B-B14F-4D97-AF65-F5344CB8AC3E}">
        <p14:creationId xmlns:p14="http://schemas.microsoft.com/office/powerpoint/2010/main" val="10563887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9A79-09B5-9E92-F703-3CC8527EB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B14DD-FD88-709A-9AC0-9B0BC1FBA11F}"/>
              </a:ext>
            </a:extLst>
          </p:cNvPr>
          <p:cNvSpPr>
            <a:spLocks noGrp="1"/>
          </p:cNvSpPr>
          <p:nvPr>
            <p:ph type="title"/>
          </p:nvPr>
        </p:nvSpPr>
        <p:spPr>
          <a:xfrm>
            <a:off x="838200" y="10912"/>
            <a:ext cx="10515600" cy="1325563"/>
          </a:xfrm>
        </p:spPr>
        <p:txBody>
          <a:bodyPr/>
          <a:lstStyle/>
          <a:p>
            <a:r>
              <a:rPr lang="en-US" dirty="0"/>
              <a:t>Conceptual procedure of the customized filter</a:t>
            </a:r>
          </a:p>
        </p:txBody>
      </p:sp>
      <p:sp>
        <p:nvSpPr>
          <p:cNvPr id="4" name="TextBox 3">
            <a:extLst>
              <a:ext uri="{FF2B5EF4-FFF2-40B4-BE49-F238E27FC236}">
                <a16:creationId xmlns:a16="http://schemas.microsoft.com/office/drawing/2014/main" id="{40C9FCB8-1C12-7856-CDDE-8C7E6CFE0CAD}"/>
              </a:ext>
            </a:extLst>
          </p:cNvPr>
          <p:cNvSpPr txBox="1"/>
          <p:nvPr/>
        </p:nvSpPr>
        <p:spPr>
          <a:xfrm>
            <a:off x="648813" y="1301170"/>
            <a:ext cx="24101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Raw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LakeSP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time series</a:t>
            </a:r>
          </a:p>
        </p:txBody>
      </p:sp>
      <p:sp>
        <p:nvSpPr>
          <p:cNvPr id="5" name="TextBox 4">
            <a:extLst>
              <a:ext uri="{FF2B5EF4-FFF2-40B4-BE49-F238E27FC236}">
                <a16:creationId xmlns:a16="http://schemas.microsoft.com/office/drawing/2014/main" id="{5F1EBD63-0A71-9327-EF62-E9408EED19B7}"/>
              </a:ext>
            </a:extLst>
          </p:cNvPr>
          <p:cNvSpPr txBox="1"/>
          <p:nvPr/>
        </p:nvSpPr>
        <p:spPr>
          <a:xfrm>
            <a:off x="3893218" y="939426"/>
            <a:ext cx="4235116" cy="646331"/>
          </a:xfrm>
          <a:prstGeom prst="rect">
            <a:avLst/>
          </a:prstGeom>
          <a:noFill/>
        </p:spPr>
        <p:txBody>
          <a:bodyPr wrap="square" rtlCol="0">
            <a:spAutoFit/>
          </a:bodyPr>
          <a:lstStyle/>
          <a:p>
            <a:pPr algn="ctr"/>
            <a:r>
              <a:rPr lang="en-US" dirty="0"/>
              <a:t>Apply high-quality CNES flags to subset a conservative baseline time series</a:t>
            </a:r>
          </a:p>
        </p:txBody>
      </p:sp>
      <p:sp>
        <p:nvSpPr>
          <p:cNvPr id="6" name="TextBox 5">
            <a:extLst>
              <a:ext uri="{FF2B5EF4-FFF2-40B4-BE49-F238E27FC236}">
                <a16:creationId xmlns:a16="http://schemas.microsoft.com/office/drawing/2014/main" id="{F1CD1D72-F63C-5F97-ECDE-26DAB6D8FFE1}"/>
              </a:ext>
            </a:extLst>
          </p:cNvPr>
          <p:cNvSpPr txBox="1"/>
          <p:nvPr/>
        </p:nvSpPr>
        <p:spPr>
          <a:xfrm>
            <a:off x="3058945" y="1828350"/>
            <a:ext cx="5275601" cy="646331"/>
          </a:xfrm>
          <a:prstGeom prst="rect">
            <a:avLst/>
          </a:prstGeom>
          <a:noFill/>
        </p:spPr>
        <p:txBody>
          <a:bodyPr wrap="square" rtlCol="0">
            <a:spAutoFit/>
          </a:bodyPr>
          <a:lstStyle/>
          <a:p>
            <a:pPr lvl="0" algn="ctr">
              <a:defRPr/>
            </a:pPr>
            <a:r>
              <a:rPr lang="en-US" dirty="0">
                <a:solidFill>
                  <a:prstClr val="black"/>
                </a:solidFill>
              </a:rPr>
              <a:t>Calibrate </a:t>
            </a:r>
            <a:r>
              <a:rPr lang="en-US" b="1" dirty="0">
                <a:solidFill>
                  <a:prstClr val="black"/>
                </a:solidFill>
              </a:rPr>
              <a:t>heuristic thresholds </a:t>
            </a:r>
            <a:r>
              <a:rPr lang="en-US" dirty="0">
                <a:solidFill>
                  <a:prstClr val="black"/>
                </a:solidFill>
              </a:rPr>
              <a:t>for </a:t>
            </a:r>
            <a:r>
              <a:rPr lang="en-US" dirty="0" err="1">
                <a:solidFill>
                  <a:prstClr val="black"/>
                </a:solidFill>
              </a:rPr>
              <a:t>wse_std</a:t>
            </a:r>
            <a:r>
              <a:rPr lang="en-US" dirty="0">
                <a:solidFill>
                  <a:prstClr val="black"/>
                </a:solidFill>
              </a:rPr>
              <a:t> and </a:t>
            </a:r>
            <a:r>
              <a:rPr lang="en-US" dirty="0" err="1">
                <a:solidFill>
                  <a:prstClr val="black"/>
                </a:solidFill>
              </a:rPr>
              <a:t>wse_u</a:t>
            </a:r>
            <a:r>
              <a:rPr lang="en-US" dirty="0">
                <a:solidFill>
                  <a:prstClr val="black"/>
                </a:solidFill>
              </a:rPr>
              <a:t> (</a:t>
            </a:r>
            <a:r>
              <a:rPr lang="en-US" dirty="0" err="1">
                <a:solidFill>
                  <a:prstClr val="black"/>
                </a:solidFill>
              </a:rPr>
              <a:t>xtrk_dist</a:t>
            </a:r>
            <a:r>
              <a:rPr lang="en-US" dirty="0">
                <a:solidFill>
                  <a:prstClr val="black"/>
                </a:solidFill>
              </a:rPr>
              <a:t> deprecated) based the conservative baseline</a:t>
            </a:r>
          </a:p>
        </p:txBody>
      </p:sp>
      <p:sp>
        <p:nvSpPr>
          <p:cNvPr id="7" name="TextBox 6">
            <a:extLst>
              <a:ext uri="{FF2B5EF4-FFF2-40B4-BE49-F238E27FC236}">
                <a16:creationId xmlns:a16="http://schemas.microsoft.com/office/drawing/2014/main" id="{0CB260E8-AF29-5CE2-6DC3-3E4BCF46FD73}"/>
              </a:ext>
            </a:extLst>
          </p:cNvPr>
          <p:cNvSpPr txBox="1"/>
          <p:nvPr/>
        </p:nvSpPr>
        <p:spPr>
          <a:xfrm>
            <a:off x="3793590" y="2714810"/>
            <a:ext cx="4447073" cy="646331"/>
          </a:xfrm>
          <a:prstGeom prst="rect">
            <a:avLst/>
          </a:prstGeom>
          <a:noFill/>
        </p:spPr>
        <p:txBody>
          <a:bodyPr wrap="square" rtlCol="0">
            <a:spAutoFit/>
          </a:bodyPr>
          <a:lstStyle/>
          <a:p>
            <a:pPr lvl="0" algn="ctr">
              <a:defRPr/>
            </a:pPr>
            <a:r>
              <a:rPr lang="en-US" dirty="0">
                <a:solidFill>
                  <a:prstClr val="black"/>
                </a:solidFill>
              </a:rPr>
              <a:t>Apply heuristic thresholds to retrieve a </a:t>
            </a:r>
            <a:r>
              <a:rPr lang="en-US" b="1" dirty="0">
                <a:solidFill>
                  <a:prstClr val="black"/>
                </a:solidFill>
              </a:rPr>
              <a:t>heuristic baseline </a:t>
            </a:r>
            <a:r>
              <a:rPr lang="en-US" dirty="0">
                <a:solidFill>
                  <a:prstClr val="black"/>
                </a:solidFill>
              </a:rPr>
              <a:t>time series</a:t>
            </a:r>
          </a:p>
        </p:txBody>
      </p:sp>
      <p:sp>
        <p:nvSpPr>
          <p:cNvPr id="8" name="TextBox 7">
            <a:extLst>
              <a:ext uri="{FF2B5EF4-FFF2-40B4-BE49-F238E27FC236}">
                <a16:creationId xmlns:a16="http://schemas.microsoft.com/office/drawing/2014/main" id="{40772C98-2F09-3183-1291-31A514626383}"/>
              </a:ext>
            </a:extLst>
          </p:cNvPr>
          <p:cNvSpPr txBox="1"/>
          <p:nvPr/>
        </p:nvSpPr>
        <p:spPr>
          <a:xfrm>
            <a:off x="9408513" y="1244844"/>
            <a:ext cx="228002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Built-in flexibility to be CRID, pass, and ice-condition adaptive</a:t>
            </a:r>
          </a:p>
        </p:txBody>
      </p:sp>
      <p:sp>
        <p:nvSpPr>
          <p:cNvPr id="14" name="TextBox 13">
            <a:extLst>
              <a:ext uri="{FF2B5EF4-FFF2-40B4-BE49-F238E27FC236}">
                <a16:creationId xmlns:a16="http://schemas.microsoft.com/office/drawing/2014/main" id="{115C29C0-F83B-A70C-FCD8-7FA5B945CEC3}"/>
              </a:ext>
            </a:extLst>
          </p:cNvPr>
          <p:cNvSpPr txBox="1"/>
          <p:nvPr/>
        </p:nvSpPr>
        <p:spPr>
          <a:xfrm>
            <a:off x="386183" y="4015034"/>
            <a:ext cx="2696504"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Option to re-introduce high-quality observations removed after </a:t>
            </a:r>
            <a:r>
              <a:rPr lang="en-US" sz="1600" i="1" dirty="0">
                <a:solidFill>
                  <a:prstClr val="black"/>
                </a:solidFill>
                <a:latin typeface="Calibri" panose="020F0502020204030204"/>
              </a:rPr>
              <a:t>first convergence</a:t>
            </a:r>
            <a:r>
              <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rPr>
              <a:t>, and apply a round-2 (less aggressive) iterative filtering</a:t>
            </a:r>
          </a:p>
        </p:txBody>
      </p:sp>
      <p:sp>
        <p:nvSpPr>
          <p:cNvPr id="16" name="TextBox 15">
            <a:extLst>
              <a:ext uri="{FF2B5EF4-FFF2-40B4-BE49-F238E27FC236}">
                <a16:creationId xmlns:a16="http://schemas.microsoft.com/office/drawing/2014/main" id="{9CCCADF0-542C-DBEF-4540-2F03E050DE06}"/>
              </a:ext>
            </a:extLst>
          </p:cNvPr>
          <p:cNvSpPr txBox="1"/>
          <p:nvPr/>
        </p:nvSpPr>
        <p:spPr>
          <a:xfrm>
            <a:off x="4134743" y="4487020"/>
            <a:ext cx="380631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iteration includes: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Low-pass </a:t>
            </a:r>
            <a:r>
              <a:rPr lang="en-US" dirty="0">
                <a:solidFill>
                  <a:prstClr val="black"/>
                </a:solidFill>
                <a:latin typeface="Calibri" panose="020F0502020204030204"/>
              </a:rPr>
              <a:t>outlier filter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Remove positive ice anomalies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Remove remaining extreme outliers</a:t>
            </a:r>
          </a:p>
        </p:txBody>
      </p:sp>
      <p:sp>
        <p:nvSpPr>
          <p:cNvPr id="17" name="TextBox 16">
            <a:extLst>
              <a:ext uri="{FF2B5EF4-FFF2-40B4-BE49-F238E27FC236}">
                <a16:creationId xmlns:a16="http://schemas.microsoft.com/office/drawing/2014/main" id="{D3042F78-1D2F-7BB1-0F78-227CAE9A4104}"/>
              </a:ext>
            </a:extLst>
          </p:cNvPr>
          <p:cNvSpPr txBox="1"/>
          <p:nvPr/>
        </p:nvSpPr>
        <p:spPr>
          <a:xfrm>
            <a:off x="9058228" y="5130942"/>
            <a:ext cx="287899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Cycle adjustment </a:t>
            </a:r>
            <a:r>
              <a:rPr lang="en-US" dirty="0">
                <a:solidFill>
                  <a:prstClr val="black"/>
                </a:solidFill>
                <a:latin typeface="Calibri" panose="020F0502020204030204"/>
              </a:rPr>
              <a:t>to reduce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WSE inconsistency due to multiple overpasses</a:t>
            </a:r>
          </a:p>
        </p:txBody>
      </p:sp>
      <p:cxnSp>
        <p:nvCxnSpPr>
          <p:cNvPr id="20" name="Connector: Elbow 19">
            <a:extLst>
              <a:ext uri="{FF2B5EF4-FFF2-40B4-BE49-F238E27FC236}">
                <a16:creationId xmlns:a16="http://schemas.microsoft.com/office/drawing/2014/main" id="{9C9CC016-B0B3-67A7-22BC-F0D257D168CD}"/>
              </a:ext>
            </a:extLst>
          </p:cNvPr>
          <p:cNvCxnSpPr>
            <a:cxnSpLocks/>
            <a:stCxn id="4" idx="3"/>
            <a:endCxn id="5" idx="1"/>
          </p:cNvCxnSpPr>
          <p:nvPr/>
        </p:nvCxnSpPr>
        <p:spPr>
          <a:xfrm flipV="1">
            <a:off x="3058945" y="1262592"/>
            <a:ext cx="834273" cy="2232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929687E7-F0F8-F58E-3C74-B6158BF80BDE}"/>
              </a:ext>
            </a:extLst>
          </p:cNvPr>
          <p:cNvCxnSpPr>
            <a:cxnSpLocks/>
            <a:stCxn id="5" idx="2"/>
            <a:endCxn id="6" idx="0"/>
          </p:cNvCxnSpPr>
          <p:nvPr/>
        </p:nvCxnSpPr>
        <p:spPr>
          <a:xfrm rot="5400000">
            <a:off x="5732465" y="1550038"/>
            <a:ext cx="242593" cy="31403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677E5034-6E93-A1F6-98C8-B7BDDAC22325}"/>
              </a:ext>
            </a:extLst>
          </p:cNvPr>
          <p:cNvCxnSpPr>
            <a:cxnSpLocks/>
            <a:stCxn id="8" idx="1"/>
            <a:endCxn id="6" idx="3"/>
          </p:cNvCxnSpPr>
          <p:nvPr/>
        </p:nvCxnSpPr>
        <p:spPr>
          <a:xfrm rot="10800000" flipV="1">
            <a:off x="8334547" y="1706508"/>
            <a:ext cx="1073967" cy="44500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EB4E1DE9-FF7B-5E5F-DC84-40BCB74CCA45}"/>
              </a:ext>
            </a:extLst>
          </p:cNvPr>
          <p:cNvCxnSpPr>
            <a:cxnSpLocks/>
            <a:stCxn id="6" idx="2"/>
            <a:endCxn id="7" idx="0"/>
          </p:cNvCxnSpPr>
          <p:nvPr/>
        </p:nvCxnSpPr>
        <p:spPr>
          <a:xfrm rot="16200000" flipH="1">
            <a:off x="5736872" y="2434554"/>
            <a:ext cx="240129" cy="3203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2F7147BB-518B-4E86-82CB-07400E6FFBB6}"/>
              </a:ext>
            </a:extLst>
          </p:cNvPr>
          <p:cNvCxnSpPr>
            <a:cxnSpLocks/>
            <a:stCxn id="14" idx="3"/>
            <a:endCxn id="60" idx="1"/>
          </p:cNvCxnSpPr>
          <p:nvPr/>
        </p:nvCxnSpPr>
        <p:spPr>
          <a:xfrm flipV="1">
            <a:off x="3082687" y="3855769"/>
            <a:ext cx="1220847" cy="82098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4FA2893E-55AA-CCE1-CC81-F5485A760E93}"/>
              </a:ext>
            </a:extLst>
          </p:cNvPr>
          <p:cNvSpPr txBox="1"/>
          <p:nvPr/>
        </p:nvSpPr>
        <p:spPr>
          <a:xfrm>
            <a:off x="9112702" y="6368198"/>
            <a:ext cx="27864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Final filtered SP time series</a:t>
            </a:r>
          </a:p>
        </p:txBody>
      </p:sp>
      <p:cxnSp>
        <p:nvCxnSpPr>
          <p:cNvPr id="191" name="Connector: Elbow 190">
            <a:extLst>
              <a:ext uri="{FF2B5EF4-FFF2-40B4-BE49-F238E27FC236}">
                <a16:creationId xmlns:a16="http://schemas.microsoft.com/office/drawing/2014/main" id="{C748B07E-7564-AB53-49EF-AD1A8F4B4927}"/>
              </a:ext>
            </a:extLst>
          </p:cNvPr>
          <p:cNvCxnSpPr>
            <a:cxnSpLocks/>
            <a:stCxn id="17" idx="2"/>
            <a:endCxn id="189" idx="0"/>
          </p:cNvCxnSpPr>
          <p:nvPr/>
        </p:nvCxnSpPr>
        <p:spPr>
          <a:xfrm rot="16200000" flipH="1">
            <a:off x="10344856" y="6207141"/>
            <a:ext cx="313926" cy="818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70E2DF11-A737-C34A-ECD6-30F0C3AEEF1D}"/>
              </a:ext>
            </a:extLst>
          </p:cNvPr>
          <p:cNvSpPr txBox="1"/>
          <p:nvPr/>
        </p:nvSpPr>
        <p:spPr>
          <a:xfrm>
            <a:off x="4303534" y="3671103"/>
            <a:ext cx="278642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Iterative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Low-pass filtering</a:t>
            </a:r>
          </a:p>
        </p:txBody>
      </p:sp>
      <p:cxnSp>
        <p:nvCxnSpPr>
          <p:cNvPr id="64" name="Connector: Elbow 63">
            <a:extLst>
              <a:ext uri="{FF2B5EF4-FFF2-40B4-BE49-F238E27FC236}">
                <a16:creationId xmlns:a16="http://schemas.microsoft.com/office/drawing/2014/main" id="{176B46BB-3BA0-1710-5D58-EFB31B483D50}"/>
              </a:ext>
            </a:extLst>
          </p:cNvPr>
          <p:cNvCxnSpPr>
            <a:cxnSpLocks/>
            <a:stCxn id="7" idx="2"/>
            <a:endCxn id="60" idx="0"/>
          </p:cNvCxnSpPr>
          <p:nvPr/>
        </p:nvCxnSpPr>
        <p:spPr>
          <a:xfrm rot="5400000">
            <a:off x="5701955" y="3355931"/>
            <a:ext cx="309962" cy="32038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F40FC416-BE73-A17E-F628-C65F010B3A14}"/>
              </a:ext>
            </a:extLst>
          </p:cNvPr>
          <p:cNvSpPr txBox="1"/>
          <p:nvPr/>
        </p:nvSpPr>
        <p:spPr>
          <a:xfrm>
            <a:off x="3352712" y="6026212"/>
            <a:ext cx="4688066"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Calibri" panose="020F0502020204030204"/>
              </a:rPr>
              <a:t>Criteria to ensure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time series remains representative: </a:t>
            </a:r>
            <a:r>
              <a:rPr lang="en-US" sz="1600" dirty="0">
                <a:solidFill>
                  <a:prstClr val="black"/>
                </a:solidFill>
                <a:latin typeface="Calibri" panose="020F0502020204030204"/>
              </a:rPr>
              <a:t>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prstClr val="black"/>
                </a:solidFill>
                <a:latin typeface="Calibri" panose="020F0502020204030204"/>
              </a:rPr>
              <a:t>Temporal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gaps, </a:t>
            </a:r>
            <a:r>
              <a:rPr lang="en-US" sz="1600" dirty="0">
                <a:solidFill>
                  <a:prstClr val="black"/>
                </a:solidFill>
                <a:latin typeface="Calibri" panose="020F0502020204030204"/>
              </a:rPr>
              <a:t>temporal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span, and/or frequency</a:t>
            </a:r>
          </a:p>
        </p:txBody>
      </p:sp>
      <p:cxnSp>
        <p:nvCxnSpPr>
          <p:cNvPr id="90" name="Connector: Elbow 89">
            <a:extLst>
              <a:ext uri="{FF2B5EF4-FFF2-40B4-BE49-F238E27FC236}">
                <a16:creationId xmlns:a16="http://schemas.microsoft.com/office/drawing/2014/main" id="{20EC336E-9D45-65C9-3CDE-87882808A6CD}"/>
              </a:ext>
            </a:extLst>
          </p:cNvPr>
          <p:cNvCxnSpPr>
            <a:cxnSpLocks/>
            <a:stCxn id="60" idx="2"/>
            <a:endCxn id="16" idx="0"/>
          </p:cNvCxnSpPr>
          <p:nvPr/>
        </p:nvCxnSpPr>
        <p:spPr>
          <a:xfrm rot="16200000" flipH="1">
            <a:off x="5644030" y="4093150"/>
            <a:ext cx="446585" cy="3411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2E6B5FAF-67F0-75D9-8BFC-CE4F2B57D510}"/>
              </a:ext>
            </a:extLst>
          </p:cNvPr>
          <p:cNvCxnSpPr>
            <a:cxnSpLocks/>
            <a:stCxn id="16" idx="2"/>
            <a:endCxn id="70" idx="0"/>
          </p:cNvCxnSpPr>
          <p:nvPr/>
        </p:nvCxnSpPr>
        <p:spPr>
          <a:xfrm rot="5400000">
            <a:off x="5697891" y="5686203"/>
            <a:ext cx="338863" cy="3411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60C05A84-5F25-E2F0-0E95-3D81E837F735}"/>
              </a:ext>
            </a:extLst>
          </p:cNvPr>
          <p:cNvSpPr txBox="1"/>
          <p:nvPr/>
        </p:nvSpPr>
        <p:spPr>
          <a:xfrm>
            <a:off x="7798134" y="4359984"/>
            <a:ext cx="161371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Iteration until convergence</a:t>
            </a:r>
          </a:p>
        </p:txBody>
      </p:sp>
      <p:sp>
        <p:nvSpPr>
          <p:cNvPr id="117" name="TextBox 116">
            <a:extLst>
              <a:ext uri="{FF2B5EF4-FFF2-40B4-BE49-F238E27FC236}">
                <a16:creationId xmlns:a16="http://schemas.microsoft.com/office/drawing/2014/main" id="{212F01D9-BC3E-1801-24F7-FC7C9B40E2ED}"/>
              </a:ext>
            </a:extLst>
          </p:cNvPr>
          <p:cNvSpPr txBox="1"/>
          <p:nvPr/>
        </p:nvSpPr>
        <p:spPr>
          <a:xfrm>
            <a:off x="9517375" y="2371634"/>
            <a:ext cx="17034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Other bound parameters</a:t>
            </a:r>
          </a:p>
        </p:txBody>
      </p:sp>
      <p:cxnSp>
        <p:nvCxnSpPr>
          <p:cNvPr id="118" name="Connector: Elbow 117">
            <a:extLst>
              <a:ext uri="{FF2B5EF4-FFF2-40B4-BE49-F238E27FC236}">
                <a16:creationId xmlns:a16="http://schemas.microsoft.com/office/drawing/2014/main" id="{F86199B1-744F-2C9E-FC78-4A734E369492}"/>
              </a:ext>
            </a:extLst>
          </p:cNvPr>
          <p:cNvCxnSpPr>
            <a:cxnSpLocks/>
            <a:stCxn id="117" idx="1"/>
            <a:endCxn id="7" idx="3"/>
          </p:cNvCxnSpPr>
          <p:nvPr/>
        </p:nvCxnSpPr>
        <p:spPr>
          <a:xfrm rot="10800000" flipV="1">
            <a:off x="8240663" y="2694800"/>
            <a:ext cx="1276712" cy="34317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74C7E038-8523-5184-B865-2F720ADBC180}"/>
              </a:ext>
            </a:extLst>
          </p:cNvPr>
          <p:cNvCxnSpPr>
            <a:cxnSpLocks/>
            <a:stCxn id="112" idx="0"/>
            <a:endCxn id="60" idx="3"/>
          </p:cNvCxnSpPr>
          <p:nvPr/>
        </p:nvCxnSpPr>
        <p:spPr>
          <a:xfrm rot="16200000" flipV="1">
            <a:off x="7595367" y="3350359"/>
            <a:ext cx="504215" cy="15150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7" name="Connector: Elbow 176">
            <a:extLst>
              <a:ext uri="{FF2B5EF4-FFF2-40B4-BE49-F238E27FC236}">
                <a16:creationId xmlns:a16="http://schemas.microsoft.com/office/drawing/2014/main" id="{A9A47030-A1F4-7E9A-C374-428EDA8E3D7E}"/>
              </a:ext>
            </a:extLst>
          </p:cNvPr>
          <p:cNvCxnSpPr>
            <a:cxnSpLocks/>
            <a:stCxn id="70" idx="3"/>
            <a:endCxn id="112" idx="2"/>
          </p:cNvCxnSpPr>
          <p:nvPr/>
        </p:nvCxnSpPr>
        <p:spPr>
          <a:xfrm flipV="1">
            <a:off x="8040778" y="5006315"/>
            <a:ext cx="564214" cy="1312285"/>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257" name="Connector: Elbow 256">
            <a:extLst>
              <a:ext uri="{FF2B5EF4-FFF2-40B4-BE49-F238E27FC236}">
                <a16:creationId xmlns:a16="http://schemas.microsoft.com/office/drawing/2014/main" id="{207436A0-605D-D9DD-6FBB-256297AA1B1C}"/>
              </a:ext>
            </a:extLst>
          </p:cNvPr>
          <p:cNvCxnSpPr>
            <a:cxnSpLocks/>
            <a:stCxn id="112" idx="3"/>
            <a:endCxn id="17" idx="0"/>
          </p:cNvCxnSpPr>
          <p:nvPr/>
        </p:nvCxnSpPr>
        <p:spPr>
          <a:xfrm>
            <a:off x="9411849" y="4683150"/>
            <a:ext cx="1085877" cy="4477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003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4B91-1382-E6E0-CF48-DFF5AFB4FBBB}"/>
              </a:ext>
            </a:extLst>
          </p:cNvPr>
          <p:cNvSpPr>
            <a:spLocks noGrp="1"/>
          </p:cNvSpPr>
          <p:nvPr>
            <p:ph type="title"/>
          </p:nvPr>
        </p:nvSpPr>
        <p:spPr/>
        <p:txBody>
          <a:bodyPr/>
          <a:lstStyle/>
          <a:p>
            <a:r>
              <a:rPr lang="en-US" dirty="0"/>
              <a:t>Additional filter hierarchy</a:t>
            </a:r>
          </a:p>
        </p:txBody>
      </p:sp>
      <p:sp>
        <p:nvSpPr>
          <p:cNvPr id="3" name="Content Placeholder 2">
            <a:extLst>
              <a:ext uri="{FF2B5EF4-FFF2-40B4-BE49-F238E27FC236}">
                <a16:creationId xmlns:a16="http://schemas.microsoft.com/office/drawing/2014/main" id="{C7E6510C-011C-F824-03BC-1EE5603DE223}"/>
              </a:ext>
            </a:extLst>
          </p:cNvPr>
          <p:cNvSpPr>
            <a:spLocks noGrp="1"/>
          </p:cNvSpPr>
          <p:nvPr>
            <p:ph idx="1"/>
          </p:nvPr>
        </p:nvSpPr>
        <p:spPr>
          <a:xfrm>
            <a:off x="838199" y="1698624"/>
            <a:ext cx="10892589" cy="5032375"/>
          </a:xfrm>
        </p:spPr>
        <p:txBody>
          <a:bodyPr>
            <a:normAutofit fontScale="92500" lnSpcReduction="20000"/>
          </a:bodyPr>
          <a:lstStyle/>
          <a:p>
            <a:r>
              <a:rPr lang="en-US" sz="2600" dirty="0"/>
              <a:t>For each lake, we first attempted to filter the SP time series in a strict standard, but this did not always lead to a successful execution (criteria too strict). If so, we made a second attempt with a lowered standard. Both attempts were based on our customized filtering scheme (heuristic thresholding + low-pass filtering). If both failed, however, the customized filter may not work for this lake, so we made a third attempt just using a simple Tukey IQR method. If this also failed, we left this lake time series unfiltered. This hierarchy is not reflected by the flowchart because this level of details may not be needed for conceptualization. </a:t>
            </a:r>
          </a:p>
          <a:p>
            <a:r>
              <a:rPr lang="en-US" dirty="0"/>
              <a:t>Definition of each attempt is given below: </a:t>
            </a:r>
          </a:p>
          <a:p>
            <a:pPr lvl="1"/>
            <a:r>
              <a:rPr lang="en-US" dirty="0"/>
              <a:t>1_strict:  Strict criteria applied to the customized filter, so that retained time series must be sufficiently long (e.g., 1 year) and must not contain major gaps (not longer than 3 months or 1 season)</a:t>
            </a:r>
          </a:p>
          <a:p>
            <a:pPr lvl="1"/>
            <a:r>
              <a:rPr lang="en-US" dirty="0"/>
              <a:t>2_lenient: Less strict criteria applied to the customized filter, so there is no constraint on temporal span or gap, but retained time series must contain at least 5 observations</a:t>
            </a:r>
          </a:p>
          <a:p>
            <a:pPr lvl="1"/>
            <a:r>
              <a:rPr lang="en-US" dirty="0"/>
              <a:t>3_tukey:   If attempt 1 or 2 still failed, apply only a Tukey (IQR) method on the baseline time series, and the retained time series must contain at least one observation.</a:t>
            </a:r>
          </a:p>
          <a:p>
            <a:pPr lvl="1"/>
            <a:r>
              <a:rPr lang="en-US" dirty="0"/>
              <a:t>4_none:    If none of the first three attempts was successful, this lake is left without any filtering.</a:t>
            </a:r>
          </a:p>
        </p:txBody>
      </p:sp>
    </p:spTree>
    <p:extLst>
      <p:ext uri="{BB962C8B-B14F-4D97-AF65-F5344CB8AC3E}">
        <p14:creationId xmlns:p14="http://schemas.microsoft.com/office/powerpoint/2010/main" val="256185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6490-8FE9-E135-DA0D-3E2E59B673CE}"/>
              </a:ext>
            </a:extLst>
          </p:cNvPr>
          <p:cNvSpPr>
            <a:spLocks noGrp="1"/>
          </p:cNvSpPr>
          <p:nvPr>
            <p:ph type="title"/>
          </p:nvPr>
        </p:nvSpPr>
        <p:spPr/>
        <p:txBody>
          <a:bodyPr/>
          <a:lstStyle/>
          <a:p>
            <a:r>
              <a:rPr lang="en-US" dirty="0"/>
              <a:t>Additional filter hierarchy</a:t>
            </a:r>
          </a:p>
        </p:txBody>
      </p:sp>
      <p:sp>
        <p:nvSpPr>
          <p:cNvPr id="3" name="Content Placeholder 2">
            <a:extLst>
              <a:ext uri="{FF2B5EF4-FFF2-40B4-BE49-F238E27FC236}">
                <a16:creationId xmlns:a16="http://schemas.microsoft.com/office/drawing/2014/main" id="{5B443D44-AB1A-633A-8718-EF74310BEC66}"/>
              </a:ext>
            </a:extLst>
          </p:cNvPr>
          <p:cNvSpPr>
            <a:spLocks noGrp="1"/>
          </p:cNvSpPr>
          <p:nvPr>
            <p:ph idx="1"/>
          </p:nvPr>
        </p:nvSpPr>
        <p:spPr/>
        <p:txBody>
          <a:bodyPr>
            <a:normAutofit fontScale="92500" lnSpcReduction="10000"/>
          </a:bodyPr>
          <a:lstStyle/>
          <a:p>
            <a:pPr marL="0" indent="0">
              <a:buNone/>
            </a:pPr>
            <a:r>
              <a:rPr lang="en-US" dirty="0"/>
              <a:t>Proportions (%) of the 1070 lakes that were eventually filtered by each of the attempts:</a:t>
            </a:r>
          </a:p>
          <a:p>
            <a:r>
              <a:rPr lang="en-US" b="1" dirty="0"/>
              <a:t>“1_strict” (attempt 1): 82.1% (hooray!) </a:t>
            </a:r>
          </a:p>
          <a:p>
            <a:r>
              <a:rPr lang="en-US" dirty="0"/>
              <a:t>“2_lenient” (attempt 2): 15.8%</a:t>
            </a:r>
          </a:p>
          <a:p>
            <a:r>
              <a:rPr lang="en-US" dirty="0"/>
              <a:t>“3_tukey IQR” (attempt 3): 0.5%</a:t>
            </a:r>
          </a:p>
          <a:p>
            <a:r>
              <a:rPr lang="en-US" dirty="0"/>
              <a:t>“4_none” (attempt 4): 0.7%</a:t>
            </a:r>
          </a:p>
          <a:p>
            <a:r>
              <a:rPr lang="en-US" dirty="0"/>
              <a:t>Lakes with no SWOT data at all (attempt 0): 0.8%</a:t>
            </a:r>
          </a:p>
          <a:p>
            <a:endParaRPr lang="en-US" dirty="0"/>
          </a:p>
          <a:p>
            <a:pPr marL="0" indent="0">
              <a:buNone/>
            </a:pPr>
            <a:r>
              <a:rPr lang="en-US" dirty="0"/>
              <a:t>The next slide shows the result only based on </a:t>
            </a:r>
            <a:r>
              <a:rPr lang="en-US" b="1" dirty="0"/>
              <a:t>the 890 (82.1%) lakes meeting 1_strict.    </a:t>
            </a:r>
          </a:p>
        </p:txBody>
      </p:sp>
    </p:spTree>
    <p:extLst>
      <p:ext uri="{BB962C8B-B14F-4D97-AF65-F5344CB8AC3E}">
        <p14:creationId xmlns:p14="http://schemas.microsoft.com/office/powerpoint/2010/main" val="35383831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lage of graphs and diagrams&#10;&#10;AI-generated content may be incorrect.">
            <a:extLst>
              <a:ext uri="{FF2B5EF4-FFF2-40B4-BE49-F238E27FC236}">
                <a16:creationId xmlns:a16="http://schemas.microsoft.com/office/drawing/2014/main" id="{9AFDDB0A-8AE2-1BD2-1AFC-E73133B06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366" y="-1"/>
            <a:ext cx="6858000" cy="6858000"/>
          </a:xfrm>
          <a:prstGeom prst="rect">
            <a:avLst/>
          </a:prstGeom>
        </p:spPr>
      </p:pic>
      <p:sp>
        <p:nvSpPr>
          <p:cNvPr id="2" name="TextBox 1">
            <a:extLst>
              <a:ext uri="{FF2B5EF4-FFF2-40B4-BE49-F238E27FC236}">
                <a16:creationId xmlns:a16="http://schemas.microsoft.com/office/drawing/2014/main" id="{FF0BE0CB-879A-FE31-E884-A34538E1494A}"/>
              </a:ext>
            </a:extLst>
          </p:cNvPr>
          <p:cNvSpPr txBox="1"/>
          <p:nvPr/>
        </p:nvSpPr>
        <p:spPr>
          <a:xfrm>
            <a:off x="7052367" y="213533"/>
            <a:ext cx="5027338"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Relative error (%) of seasonal WSE variability (std):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lang="en-US" dirty="0">
                <a:solidFill>
                  <a:prstClr val="black"/>
                </a:solidFill>
                <a:latin typeface="Calibri" panose="020F0502020204030204"/>
              </a:rPr>
              <a:t>68% (50%) of the validated lakes have errors less than </a:t>
            </a:r>
            <a:r>
              <a:rPr lang="en-US" b="1" dirty="0">
                <a:solidFill>
                  <a:srgbClr val="FF0000"/>
                </a:solidFill>
              </a:rPr>
              <a:t>23.4% (11.3%)</a:t>
            </a:r>
            <a:r>
              <a:rPr lang="en-US" b="1" dirty="0"/>
              <a:t>. </a:t>
            </a:r>
            <a:r>
              <a:rPr lang="en-US" dirty="0"/>
              <a:t>Yet in comparison, the statistics are only: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indent="-285750">
              <a:buFont typeface="Arial" panose="020B0604020202020204" pitchFamily="34" charset="0"/>
              <a:buChar char="•"/>
            </a:pPr>
            <a:r>
              <a:rPr lang="en-US" dirty="0"/>
              <a:t>337.1% (100.7%) if not applying any filter (gray)</a:t>
            </a:r>
          </a:p>
          <a:p>
            <a:pPr marL="285750" indent="-285750">
              <a:buFont typeface="Arial" panose="020B0604020202020204" pitchFamily="34" charset="0"/>
              <a:buChar char="•"/>
            </a:pPr>
            <a:r>
              <a:rPr lang="en-US" dirty="0"/>
              <a:t>48.7% (27.7) if filtered by CNES baseline1 (blue; see script for definition)</a:t>
            </a:r>
          </a:p>
          <a:p>
            <a:pPr marL="285750" indent="-285750">
              <a:buFont typeface="Arial" panose="020B0604020202020204" pitchFamily="34" charset="0"/>
              <a:buChar char="•"/>
            </a:pPr>
            <a:r>
              <a:rPr lang="en-US" dirty="0"/>
              <a:t>48.5% (19.2%) if filtered by CNES baseline2 (yellow; see script for definition)</a:t>
            </a:r>
          </a:p>
        </p:txBody>
      </p:sp>
      <p:sp>
        <p:nvSpPr>
          <p:cNvPr id="3" name="TextBox 2">
            <a:extLst>
              <a:ext uri="{FF2B5EF4-FFF2-40B4-BE49-F238E27FC236}">
                <a16:creationId xmlns:a16="http://schemas.microsoft.com/office/drawing/2014/main" id="{67284450-F2FB-E59C-9782-5D4BB5A37E47}"/>
              </a:ext>
            </a:extLst>
          </p:cNvPr>
          <p:cNvSpPr txBox="1"/>
          <p:nvPr/>
        </p:nvSpPr>
        <p:spPr>
          <a:xfrm>
            <a:off x="7052367" y="3662585"/>
            <a:ext cx="502733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Our customized filter also yields higher Spearman correlation and retention 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TextBox 5">
            <a:extLst>
              <a:ext uri="{FF2B5EF4-FFF2-40B4-BE49-F238E27FC236}">
                <a16:creationId xmlns:a16="http://schemas.microsoft.com/office/drawing/2014/main" id="{433F17A0-C78F-51BC-74E7-3D9FBAA88F0A}"/>
              </a:ext>
            </a:extLst>
          </p:cNvPr>
          <p:cNvSpPr txBox="1"/>
          <p:nvPr/>
        </p:nvSpPr>
        <p:spPr>
          <a:xfrm>
            <a:off x="7052366" y="4844794"/>
            <a:ext cx="4745933" cy="1754326"/>
          </a:xfrm>
          <a:prstGeom prst="rect">
            <a:avLst/>
          </a:prstGeom>
          <a:noFill/>
        </p:spPr>
        <p:txBody>
          <a:bodyPr wrap="square">
            <a:spAutoFit/>
          </a:bodyPr>
          <a:lstStyle/>
          <a:p>
            <a:pPr marL="0" indent="0">
              <a:buNone/>
            </a:pPr>
            <a:r>
              <a:rPr lang="en-US" dirty="0"/>
              <a:t>This result is based on the 890 (82.1%) lakes meeting 1_strict. Including another 170 (15.8%) lakes meeting 2_lenient will increase the retention rate to 98% but also raise the error from 23.4% (1-sigma) and 11.3% (median) to 26.4% and 12.4%.  </a:t>
            </a:r>
          </a:p>
        </p:txBody>
      </p:sp>
    </p:spTree>
    <p:extLst>
      <p:ext uri="{BB962C8B-B14F-4D97-AF65-F5344CB8AC3E}">
        <p14:creationId xmlns:p14="http://schemas.microsoft.com/office/powerpoint/2010/main" val="5573358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he world&#10;&#10;AI-generated content may be incorrect.">
            <a:extLst>
              <a:ext uri="{FF2B5EF4-FFF2-40B4-BE49-F238E27FC236}">
                <a16:creationId xmlns:a16="http://schemas.microsoft.com/office/drawing/2014/main" id="{B9C9A4A0-5AB5-134F-3877-2678054D2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0"/>
            <a:ext cx="8875059" cy="6858000"/>
          </a:xfrm>
          <a:prstGeom prst="rect">
            <a:avLst/>
          </a:prstGeom>
        </p:spPr>
      </p:pic>
      <p:sp>
        <p:nvSpPr>
          <p:cNvPr id="6" name="Content Placeholder 2">
            <a:extLst>
              <a:ext uri="{FF2B5EF4-FFF2-40B4-BE49-F238E27FC236}">
                <a16:creationId xmlns:a16="http://schemas.microsoft.com/office/drawing/2014/main" id="{B0060269-CE0C-2DFC-B963-95421740D4F5}"/>
              </a:ext>
            </a:extLst>
          </p:cNvPr>
          <p:cNvSpPr>
            <a:spLocks noGrp="1"/>
          </p:cNvSpPr>
          <p:nvPr>
            <p:ph idx="1"/>
          </p:nvPr>
        </p:nvSpPr>
        <p:spPr>
          <a:xfrm>
            <a:off x="994610" y="5727031"/>
            <a:ext cx="10515600" cy="967289"/>
          </a:xfrm>
        </p:spPr>
        <p:txBody>
          <a:bodyPr>
            <a:normAutofit/>
          </a:bodyPr>
          <a:lstStyle/>
          <a:p>
            <a:pPr marL="0" indent="0">
              <a:buNone/>
            </a:pPr>
            <a:r>
              <a:rPr lang="en-US" dirty="0"/>
              <a:t>Run the filter to the global prior lakes. Reservoir WSE variability (red) seems to prevail, as expected.  Sorry I will add the legend later.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73260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SQUE CLAIR / PRINT">
  <a:themeElements>
    <a:clrScheme name="CNES 2">
      <a:dk1>
        <a:srgbClr val="000000"/>
      </a:dk1>
      <a:lt1>
        <a:srgbClr val="FFFFFF"/>
      </a:lt1>
      <a:dk2>
        <a:srgbClr val="412FB3"/>
      </a:dk2>
      <a:lt2>
        <a:srgbClr val="00BCFF"/>
      </a:lt2>
      <a:accent1>
        <a:srgbClr val="412FB2"/>
      </a:accent1>
      <a:accent2>
        <a:srgbClr val="00BCFF"/>
      </a:accent2>
      <a:accent3>
        <a:srgbClr val="00B29C"/>
      </a:accent3>
      <a:accent4>
        <a:srgbClr val="B2EF78"/>
      </a:accent4>
      <a:accent5>
        <a:srgbClr val="FFB63A"/>
      </a:accent5>
      <a:accent6>
        <a:srgbClr val="ECECEC"/>
      </a:accent6>
      <a:hlink>
        <a:srgbClr val="B3B1B0"/>
      </a:hlink>
      <a:folHlink>
        <a:srgbClr val="ECEDE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12628</TotalTime>
  <Words>5752</Words>
  <Application>Microsoft Office PowerPoint</Application>
  <PresentationFormat>Widescreen</PresentationFormat>
  <Paragraphs>799</Paragraphs>
  <Slides>60</Slides>
  <Notes>31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60</vt:i4>
      </vt:variant>
    </vt:vector>
  </HeadingPairs>
  <TitlesOfParts>
    <vt:vector size="71" baseType="lpstr">
      <vt:lpstr>CNES Poster</vt:lpstr>
      <vt:lpstr>CNES Sans</vt:lpstr>
      <vt:lpstr>CNES Sans ExtraLight</vt:lpstr>
      <vt:lpstr>CNES Sans Light</vt:lpstr>
      <vt:lpstr>Aptos</vt:lpstr>
      <vt:lpstr>Arial</vt:lpstr>
      <vt:lpstr>Calibri</vt:lpstr>
      <vt:lpstr>Calibri Light</vt:lpstr>
      <vt:lpstr>Symbol</vt:lpstr>
      <vt:lpstr>Office Theme</vt:lpstr>
      <vt:lpstr>MASQUE CLAIR / PRINT</vt:lpstr>
      <vt:lpstr>LakeSP filtering</vt:lpstr>
      <vt:lpstr>LakeSP Filters</vt:lpstr>
      <vt:lpstr>Updated quality_f in PIC2/PID0</vt:lpstr>
      <vt:lpstr>lake WSE errors</vt:lpstr>
      <vt:lpstr>Three Gorges Reservoir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Three Gorges Reservoir</vt:lpstr>
      <vt:lpstr>Three Gorges Reservoir</vt:lpstr>
      <vt:lpstr>Three Gorges Reservoir</vt:lpstr>
      <vt:lpstr>PowerPoint Presentation</vt:lpstr>
      <vt:lpstr>Discussion</vt:lpstr>
      <vt:lpstr>Updates on 07/04/2025</vt:lpstr>
      <vt:lpstr>PowerPoint Presentation</vt:lpstr>
      <vt:lpstr>PowerPoint Presentation</vt:lpstr>
      <vt:lpstr>PowerPoint Presentation</vt:lpstr>
      <vt:lpstr>PowerPoint Presentation</vt:lpstr>
      <vt:lpstr>PowerPoint Presentation</vt:lpstr>
      <vt:lpstr>Updates on 07/13/2025</vt:lpstr>
      <vt:lpstr>PowerPoint Presentation</vt:lpstr>
      <vt:lpstr>Conceptual procedure of the customized filter</vt:lpstr>
      <vt:lpstr>PowerPoint Presentation</vt:lpstr>
      <vt:lpstr>PowerPoint Presentation</vt:lpstr>
      <vt:lpstr>To do list from the team: </vt:lpstr>
      <vt:lpstr>To do list from the team: </vt:lpstr>
      <vt:lpstr>To do list from the team: </vt:lpstr>
      <vt:lpstr>PowerPoint Presentation</vt:lpstr>
      <vt:lpstr>PowerPoint Presentation</vt:lpstr>
      <vt:lpstr>To do list from the team: </vt:lpstr>
      <vt:lpstr>Summary of updates on August 7, 2025</vt:lpstr>
      <vt:lpstr>PowerPoint Presentation</vt:lpstr>
      <vt:lpstr>PowerPoint Presentation</vt:lpstr>
      <vt:lpstr>PowerPoint Presentation</vt:lpstr>
      <vt:lpstr>PowerPoint Presentation</vt:lpstr>
      <vt:lpstr>PowerPoint Presentation</vt:lpstr>
      <vt:lpstr>Summary of updates on August 12, 2025</vt:lpstr>
      <vt:lpstr>PowerPoint Presentation</vt:lpstr>
      <vt:lpstr>PowerPoint Presentation</vt:lpstr>
      <vt:lpstr>PowerPoint Presentation</vt:lpstr>
      <vt:lpstr>PowerPoint Presentation</vt:lpstr>
      <vt:lpstr>LakeSP filtering</vt:lpstr>
      <vt:lpstr>Conceptual procedure of the customized filter</vt:lpstr>
      <vt:lpstr>PowerPoint Presentation</vt:lpstr>
      <vt:lpstr>PowerPoint Presentation</vt:lpstr>
      <vt:lpstr>PowerPoint Presentation</vt:lpstr>
      <vt:lpstr>PowerPoint Presentation</vt:lpstr>
      <vt:lpstr>Update summary on 09/15/2025</vt:lpstr>
      <vt:lpstr>PowerPoint Presentation</vt:lpstr>
      <vt:lpstr>PowerPoint Presentation</vt:lpstr>
      <vt:lpstr>Conceptual procedure of the customized filter</vt:lpstr>
      <vt:lpstr>Additional filter hierarchy</vt:lpstr>
      <vt:lpstr>Additional filter hierarchy</vt:lpstr>
      <vt:lpstr>PowerPoint Presentation</vt:lpstr>
      <vt:lpstr>PowerPoint Presentation</vt:lpstr>
    </vt:vector>
  </TitlesOfParts>
  <Company>University of Illinois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Jida</dc:creator>
  <cp:lastModifiedBy>Wang, Jida</cp:lastModifiedBy>
  <cp:revision>395</cp:revision>
  <dcterms:created xsi:type="dcterms:W3CDTF">2025-04-21T03:49:04Z</dcterms:created>
  <dcterms:modified xsi:type="dcterms:W3CDTF">2025-09-17T00:52:04Z</dcterms:modified>
</cp:coreProperties>
</file>